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25.xml" ContentType="application/vnd.openxmlformats-officedocument.presentationml.tags+xml"/>
  <Override PartName="/ppt/notesSlides/notesSlide29.xml" ContentType="application/vnd.openxmlformats-officedocument.presentationml.notesSlide+xml"/>
  <Override PartName="/ppt/tags/tag26.xml" ContentType="application/vnd.openxmlformats-officedocument.presentationml.tags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4" r:id="rId3"/>
    <p:sldMasterId id="2147483657" r:id="rId4"/>
    <p:sldMasterId id="2147483660" r:id="rId5"/>
  </p:sldMasterIdLst>
  <p:notesMasterIdLst>
    <p:notesMasterId r:id="rId36"/>
  </p:notesMasterIdLst>
  <p:handoutMasterIdLst>
    <p:handoutMasterId r:id="rId37"/>
  </p:handoutMasterIdLst>
  <p:sldIdLst>
    <p:sldId id="1110" r:id="rId6"/>
    <p:sldId id="1077" r:id="rId7"/>
    <p:sldId id="1111" r:id="rId8"/>
    <p:sldId id="1117" r:id="rId9"/>
    <p:sldId id="1118" r:id="rId10"/>
    <p:sldId id="1112" r:id="rId11"/>
    <p:sldId id="1119" r:id="rId12"/>
    <p:sldId id="1120" r:id="rId13"/>
    <p:sldId id="1121" r:id="rId14"/>
    <p:sldId id="1122" r:id="rId15"/>
    <p:sldId id="1114" r:id="rId16"/>
    <p:sldId id="1123" r:id="rId17"/>
    <p:sldId id="1125" r:id="rId18"/>
    <p:sldId id="1126" r:id="rId19"/>
    <p:sldId id="1127" r:id="rId20"/>
    <p:sldId id="1143" r:id="rId21"/>
    <p:sldId id="1128" r:id="rId22"/>
    <p:sldId id="1130" r:id="rId23"/>
    <p:sldId id="1142" r:id="rId24"/>
    <p:sldId id="1129" r:id="rId25"/>
    <p:sldId id="1134" r:id="rId26"/>
    <p:sldId id="1135" r:id="rId27"/>
    <p:sldId id="1138" r:id="rId28"/>
    <p:sldId id="1140" r:id="rId29"/>
    <p:sldId id="1141" r:id="rId30"/>
    <p:sldId id="1115" r:id="rId31"/>
    <p:sldId id="1133" r:id="rId32"/>
    <p:sldId id="1116" r:id="rId33"/>
    <p:sldId id="1131" r:id="rId34"/>
    <p:sldId id="1132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苟 艺醲" initials="苟" lastIdx="1" clrIdx="0">
    <p:extLst>
      <p:ext uri="{19B8F6BF-5375-455C-9EA6-DF929625EA0E}">
        <p15:presenceInfo xmlns:p15="http://schemas.microsoft.com/office/powerpoint/2012/main" userId="9c9c076d6679a23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0F0"/>
    <a:srgbClr val="3274B3"/>
    <a:srgbClr val="01B1F5"/>
    <a:srgbClr val="7A7A7A"/>
    <a:srgbClr val="3672AC"/>
    <a:srgbClr val="095A9A"/>
    <a:srgbClr val="0E72B5"/>
    <a:srgbClr val="FFFFCC"/>
    <a:srgbClr val="04AEF1"/>
    <a:srgbClr val="1DA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2" autoAdjust="0"/>
    <p:restoredTop sz="90059" autoAdjust="0"/>
  </p:normalViewPr>
  <p:slideViewPr>
    <p:cSldViewPr snapToGrid="0">
      <p:cViewPr varScale="1">
        <p:scale>
          <a:sx n="82" d="100"/>
          <a:sy n="82" d="100"/>
        </p:scale>
        <p:origin x="884" y="60"/>
      </p:cViewPr>
      <p:guideLst/>
    </p:cSldViewPr>
  </p:slideViewPr>
  <p:outlineViewPr>
    <p:cViewPr>
      <p:scale>
        <a:sx n="33" d="100"/>
        <a:sy n="33" d="100"/>
      </p:scale>
      <p:origin x="0" y="-21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误差 (mm)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53-4AE7-95E1-AC071397B023}"/>
              </c:ext>
            </c:extLst>
          </c:dPt>
          <c:dPt>
            <c:idx val="1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53-4AE7-95E1-AC071397B023}"/>
              </c:ext>
            </c:extLst>
          </c:dPt>
          <c:dPt>
            <c:idx val="2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C53-4AE7-95E1-AC071397B023}"/>
              </c:ext>
            </c:extLst>
          </c:dPt>
          <c:dPt>
            <c:idx val="3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C53-4AE7-95E1-AC071397B023}"/>
              </c:ext>
            </c:extLst>
          </c:dPt>
          <c:dPt>
            <c:idx val="4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C53-4AE7-95E1-AC071397B023}"/>
              </c:ext>
            </c:extLst>
          </c:dPt>
          <c:dPt>
            <c:idx val="5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C53-4AE7-95E1-AC071397B023}"/>
              </c:ext>
            </c:extLst>
          </c:dPt>
          <c:dPt>
            <c:idx val="6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C53-4AE7-95E1-AC071397B023}"/>
              </c:ext>
            </c:extLst>
          </c:dPt>
          <c:dPt>
            <c:idx val="7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C53-4AE7-95E1-AC071397B023}"/>
              </c:ext>
            </c:extLst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DC53-4AE7-95E1-AC071397B023}"/>
              </c:ext>
            </c:extLst>
          </c:dPt>
          <c:dPt>
            <c:idx val="9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DC53-4AE7-95E1-AC071397B023}"/>
              </c:ext>
            </c:extLst>
          </c:dPt>
          <c:dPt>
            <c:idx val="10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DC53-4AE7-95E1-AC071397B023}"/>
              </c:ext>
            </c:extLst>
          </c:dPt>
          <c:dPt>
            <c:idx val="11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DC53-4AE7-95E1-AC071397B023}"/>
              </c:ext>
            </c:extLst>
          </c:dPt>
          <c:dPt>
            <c:idx val="12"/>
            <c:invertIfNegative val="0"/>
            <c:bubble3D val="0"/>
            <c:spPr>
              <a:solidFill>
                <a:srgbClr val="C0392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DC53-4AE7-95E1-AC071397B023}"/>
              </c:ext>
            </c:extLst>
          </c:dPt>
          <c:dPt>
            <c:idx val="13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DC53-4AE7-95E1-AC071397B023}"/>
              </c:ext>
            </c:extLst>
          </c:dPt>
          <c:dPt>
            <c:idx val="14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DC53-4AE7-95E1-AC071397B023}"/>
              </c:ext>
            </c:extLst>
          </c:dPt>
          <c:dPt>
            <c:idx val="15"/>
            <c:invertIfNegative val="0"/>
            <c:bubble3D val="0"/>
            <c:spPr>
              <a:solidFill>
                <a:srgbClr val="C0392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DC53-4AE7-95E1-AC071397B023}"/>
              </c:ext>
            </c:extLst>
          </c:dPt>
          <c:dPt>
            <c:idx val="16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DC53-4AE7-95E1-AC071397B023}"/>
              </c:ext>
            </c:extLst>
          </c:dPt>
          <c:dPt>
            <c:idx val="17"/>
            <c:invertIfNegative val="0"/>
            <c:bubble3D val="0"/>
            <c:spPr>
              <a:solidFill>
                <a:srgbClr val="2980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DC53-4AE7-95E1-AC071397B023}"/>
              </c:ext>
            </c:extLst>
          </c:dPt>
          <c:cat>
            <c:strRef>
              <c:f>Sheet1!$A$2:$A$19</c:f>
              <c:strCache>
                <c:ptCount val="18"/>
                <c:pt idx="0">
                  <c:v>No.1</c:v>
                </c:pt>
                <c:pt idx="1">
                  <c:v>No.2</c:v>
                </c:pt>
                <c:pt idx="2">
                  <c:v>No.3</c:v>
                </c:pt>
                <c:pt idx="3">
                  <c:v>No.4</c:v>
                </c:pt>
                <c:pt idx="4">
                  <c:v>No.5</c:v>
                </c:pt>
                <c:pt idx="5">
                  <c:v>No.6</c:v>
                </c:pt>
                <c:pt idx="6">
                  <c:v>No.7</c:v>
                </c:pt>
                <c:pt idx="7">
                  <c:v>No.8</c:v>
                </c:pt>
                <c:pt idx="8">
                  <c:v>No.9</c:v>
                </c:pt>
                <c:pt idx="9">
                  <c:v>No.10</c:v>
                </c:pt>
                <c:pt idx="10">
                  <c:v>No.11</c:v>
                </c:pt>
                <c:pt idx="11">
                  <c:v>No.12</c:v>
                </c:pt>
                <c:pt idx="12">
                  <c:v>No.13</c:v>
                </c:pt>
                <c:pt idx="13">
                  <c:v>No.14</c:v>
                </c:pt>
                <c:pt idx="14">
                  <c:v>No.15</c:v>
                </c:pt>
                <c:pt idx="15">
                  <c:v>No.16</c:v>
                </c:pt>
                <c:pt idx="16">
                  <c:v>No.17</c:v>
                </c:pt>
                <c:pt idx="17">
                  <c:v>No.18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-0.01</c:v>
                </c:pt>
                <c:pt idx="1">
                  <c:v>-0.01</c:v>
                </c:pt>
                <c:pt idx="2">
                  <c:v>-0.21</c:v>
                </c:pt>
                <c:pt idx="3">
                  <c:v>-1.6</c:v>
                </c:pt>
                <c:pt idx="4">
                  <c:v>7.96</c:v>
                </c:pt>
                <c:pt idx="5">
                  <c:v>7.94</c:v>
                </c:pt>
                <c:pt idx="6">
                  <c:v>7.94</c:v>
                </c:pt>
                <c:pt idx="7">
                  <c:v>1.79</c:v>
                </c:pt>
                <c:pt idx="8">
                  <c:v>15</c:v>
                </c:pt>
                <c:pt idx="9">
                  <c:v>1.78</c:v>
                </c:pt>
                <c:pt idx="10">
                  <c:v>0.19</c:v>
                </c:pt>
                <c:pt idx="11">
                  <c:v>-1.6</c:v>
                </c:pt>
                <c:pt idx="12">
                  <c:v>-15</c:v>
                </c:pt>
                <c:pt idx="13">
                  <c:v>-7.97</c:v>
                </c:pt>
                <c:pt idx="14">
                  <c:v>-1.61</c:v>
                </c:pt>
                <c:pt idx="15">
                  <c:v>-15</c:v>
                </c:pt>
                <c:pt idx="16">
                  <c:v>-3.19</c:v>
                </c:pt>
                <c:pt idx="17">
                  <c:v>-3.19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DC53-4AE7-95E1-AC071397B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6085168"/>
        <c:axId val="326082288"/>
      </c:barChart>
      <c:catAx>
        <c:axId val="326085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6082288"/>
        <c:crosses val="autoZero"/>
        <c:auto val="1"/>
        <c:lblAlgn val="ctr"/>
        <c:lblOffset val="100"/>
        <c:noMultiLvlLbl val="0"/>
      </c:catAx>
      <c:valAx>
        <c:axId val="326082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误差值 </a:t>
                </a:r>
                <a:r>
                  <a:rPr lang="en-US" altLang="zh-CN"/>
                  <a:t>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6085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A7575F6-8EAF-F972-6BEA-C1C6F5F386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E253C4-B928-6F92-ECD2-36226620AA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AD3AE-8552-4CFB-882B-AF77652F1799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BDDF9D-F7DB-565B-1E55-2ADECEC692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33EA69-D06E-C82F-6442-D33ED56EBC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7C9A7-D1D2-4EC0-8DA4-4B5A68CA76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2146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1470A3D8-3143-4A6C-B283-CB249CF15D4D}" type="datetimeFigureOut">
              <a:rPr lang="zh-CN" altLang="en-US" smtClean="0"/>
              <a:pPr/>
              <a:t>2026/4/18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E2F71223-E911-4BC0-B595-0BA4F035749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C776-2F10-96A9-FBA4-5415032F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1CED78-EC94-A81A-6EAE-9838422CD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D93620-CD83-4075-2FFF-3D7FA2CB282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各位老师好，我是赵艺博，指导老师是杨志勃老师。今天我中期答辩的题目是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旋转叶片回波时频分析及参数识别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28150C-C613-0DFE-FA67-9D7BA5C7E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3719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本次汇报将从研究背景、硬件选型、算法设计与结果、未来计划四个方面展开。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16DA63-7761-F658-8B62-E6D177256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016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首先进入课题研究背景。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AB7B91-4B1C-99A8-E358-B109D311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5915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3039F-436B-AA46-395F-8EDBD3C2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B17427-AFF2-8E01-0E31-979927DF9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67DCF5-AF61-F661-857B-6382F6D9FD9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旋转叶片广泛存在于直升机、无人机等目标中。其运动会产生微多普勒效应，这是探测和识别目标的重要特征。本课题旨在利用连续波毫米波雷达，对高频旋转叶片的转速、半径等参数进行精确测量。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FA8122-008F-11C9-8FE6-4344C430E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5208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EA7E4-59E0-F56A-8361-A14405B3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FB80B2-F502-F5F9-11C6-FC56376C2E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98992F-73DE-C2AC-1D69-24D1C0A84E7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相比于接触式或激光测量，微波雷达具有穿透性强、不受烟尘影响、灵敏度高且成本低廉等优点，非常适合恶劣工业环境下的振动监测。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8BCFE-8A96-5253-2613-87C12E690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3816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A289-B284-7B62-61B2-0DC97301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12F8F0B4-DE52-7D24-85F3-BE64D3E824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35BB0135-A9A7-F889-E90F-69BC6C3E8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第二部分，硬件选型与试验台搭建。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8ACDC2-6C34-AFC8-1BC2-B4A6E3F34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8879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C933-E91D-A5B8-67A9-52534106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79D86F-CC64-37C8-42D4-075017930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4D1C51-4D6B-01AC-2930-BA1F0542988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对比脉冲、调频连续波（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FMCW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）和连续波（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雷达虽然没有直接测距能力，但其相位灵敏度最高，相干性好，能捕捉瞬时“闪烁”信号，因此本研究选择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作为主要信号形式。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D37AE6-F86B-80DC-774A-497318265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6223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9E050-3E5D-9E69-44C1-AF090DD6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4EB030-5C00-E3A5-7FEA-37D1A0A008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DCDE98-281B-FFBD-61E8-CB034CB9B61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实验采用了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Indie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120GHz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雷达芯片（高采样率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100kHz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77GHz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芯片作为对比，验证算法在不同频段下的通用性。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2B4354-6869-F046-388D-EDC175F88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9491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E467-075D-2D60-1C0E-FA272D43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B423B1-F90F-1561-7346-4A1BE7433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E3AA55-4F5A-B82A-2663-6415893535D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 搭建了两组数据集。一组是竖直放置的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FMCW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数据，另一组是水平放置、间隙可调的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120GHz 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CDF85-447A-8E4F-1AD1-719B602BD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7027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44EB-BB6F-675B-05DE-059EEC25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42ECBD-1897-0152-3A72-3D8BB2B6FF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65F415-39A7-0BDC-3252-6CB5CA934DD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这是我们的实验装置，包含旋转叶片、无刷电机、变频控制器、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MCU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控制器、采集器以及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120GHz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收发一体雷达板。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1E4B29-51C7-F0C8-1234-87531446D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3150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BFF3-8A40-4DC1-F793-7E64E1BB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F1568DEF-1722-A216-5300-4BB77C32D3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68340F62-33BF-7B4E-A3D3-1E0E5C76B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下面介绍最核心的算法流程与结果。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25A8D6-15BF-0CDD-AF47-603581CE1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253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E3C0-1C92-4737-4823-769CCFA70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A14C49-33FD-0495-C839-EFCEC801F7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750D5-67BC-59B2-61A5-324E48DD054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 我们建立了近场回波模型。将叶片回波细分为叶盘、叶根、侧面和叶顶四个分量。特别是针对侧面滑动分布散射中心和槽口效应进行了精细建模，为后续算法提供理论支撑。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1B26C9-6FCB-BE4B-574D-BDF2C6019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6199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95305-5F99-60FB-11CB-21707B69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C29AAC-85F3-2FE0-B27F-9FF7B77EC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83FF13-2F3A-E6B0-DF6E-64E24FBB3B1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 我们建立了近场回波模型。将叶片回波细分为叶盘、叶根、侧面和叶顶四个分量。特别是针对侧面滑动分布散射中心和槽口效应进行了精细建模，为后续算法提供理论支撑。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F8C2AF-869E-D22B-D8C3-FF46712E0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7361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3611E-677A-C5E1-844B-858410F1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BF7264-4738-B561-4883-6B61F24C1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E2FBD7-B2B2-D911-818C-194FACDA04A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考虑到多叶片旋转时的相互遮挡，我们引入了步进函数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H(x)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来修正回波模型，这比简单的线性叠加更符合物理实际。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F1C633-0F6D-1E31-923C-AFB6A398E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7012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AE73-BAB9-3796-FB70-43A84BCC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F95545-D9EE-1D61-C12A-95AB252D8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CF66B1-7E85-849D-B00F-9C5E8B6A1DA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 这是数据处理总架构。原始数据经过预处理后，分别进行频域分析（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FFT+SCEP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）和时频分析（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STFT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EMD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SST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脊线提取），最后进行参数反演。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34314A-742F-122D-FEC2-4D0CBB022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89397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6D7D0-084E-E197-123F-B42E77D36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C0678B-19E9-54C9-9F73-E091C48854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D59FFF-13F6-204D-84FD-12CA25AB334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重点介绍预处理算法。针对直流偏移（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DC Offset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IQ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不均衡，我们采用了信号微分预处理、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DH-GSO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正交化和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SCF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圆拟合算法，显著提升了基带信号的质量。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5C153F-CD47-A660-D17F-ADBC8E5E0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8127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77C6E-884F-722E-0CF0-19CC4B14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B7FCA6-E5AC-1AAD-BB49-15955F1837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53BE2D-8145-BA15-04D0-1FCAEAF7E3C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我们展示两组代表性数据：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77GHz FMCW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100rpm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120GHz 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1000rpm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5934AE-0EDD-5F26-23B3-7D80A4C2C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5266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9006-7DAA-36FC-6EDD-1522F1F82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231133-8FB1-52B6-B4A7-573077184F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B3A83B-E675-F75D-EBA7-F5CF30B3163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在频域，我们利用谐波间隔估计转速。通过寻找贝塞尔函数衰减形成的临界频率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fc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，反演叶片半径。实验显示半径估计误差在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以内，转速误差仅为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2.7‰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7D4E6-AFEE-11EF-BBCC-782F91119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4362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41F7-7443-8101-62F2-684DA0B2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39BAC2-B34A-1DF4-6087-43A03221F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B5BB88-7435-885F-D9D5-22AB7F70BDB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在频域，我们利用谐波间隔估计转速。通过寻找贝塞尔函数衰减形成的临界频率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fc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，反演叶片半径。实验显示半径估计误差在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以内，转速误差仅为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2.7‰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F3BD7E-2A9C-C674-B942-EAFD9F240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1872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0DAFB-82CA-8754-E01C-CAB5D69C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68B37A-0E9E-5B54-1CB6-CD500ED79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66D24-7669-A871-1324-F6A38895622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 针对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数据，原始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STFT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频谱较杂乱，通过经验模态分解（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EMD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）提取第一分量，可以清晰看到代表叶片侧面反射的脉冲闪烁，转速误差仅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EE0428-C5E0-E01E-5A09-F81E99E5E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67488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B878-208C-3BBF-3C7F-4B237577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798CEF-E7DD-0791-0C26-A3BA31A3C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E733A0-7EFE-786E-3F8D-B9A6C454120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引入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MUSIC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算法提升分辨率，结合同步压缩变换（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SST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）提取高精度脊线，使能量集中在正弦条纹上。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6211C5-D6DB-4D40-D3BA-671F7B47F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9725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C9B82-8919-AA72-DDE7-0C166EF1E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D6306A-D50E-8741-7648-9870C2DC5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DCB977-C21A-0CA6-E658-CDA817083F7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基于脊线进行正负平均和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SG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滤波。结果显示，闪烁周期、转速和半径的测量值与理论值高度吻合，半径误差缩减至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1.1mm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左右。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46F77F-9F00-26DE-B6E3-614AEA9A6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46409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F68D8-84FB-2D18-D3B0-5DA9AF039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D6A9A0-F4DB-4496-41BF-45DD0C6797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2ECDDA-E24B-BCC6-2D77-67CC492922A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同样的逻辑应用在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FMCW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数据上，依然能够实现稳定的脊线提取和参数反演，证明了算法的鲁棒性。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A6605-C204-0765-18F6-AC12E0E6B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4818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7060-9B96-63AE-B515-973F016B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3CBE4E-4B38-71DF-582F-75895B146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DA1467-F87B-5682-98A8-F7B7995D30F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同样的逻辑应用在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FMCW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数据上，依然能够实现稳定的脊线提取和参数反演，证明了算法的鲁棒性。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0CC06-D196-EDF5-2EA3-CF42C9582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47269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742EC-31A9-B404-C4A7-310C45039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72CF06-F320-E50F-844D-D1EFDA237C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AEE9C4-7BA3-20B9-9E64-F843E37CD5B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仿真数据的结果进一步验证了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EMD-MUSIC-SST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这一套组合拳在处理理想回波时的完美表现。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6877EE-EC51-07CD-A084-A9DE21538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23778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63A1-5929-0B29-4823-6D81576D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306B7220-1277-A9CB-4F8F-FD1A02E8C8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B0717FD5-99D2-468E-B0C4-7F0877D03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最后是项目进展与计划。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F736E9-6C82-7E43-14FD-331EA8206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8353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6E44-0CA8-5EC5-4CC3-07AAAAAA8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C181A0F8-FDCB-CC6D-5B92-3D9C7BE7AA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91A7E826-D7B1-B8FD-F318-C61833A34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目前文献调研、硬件搭建、理论建模已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100%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完成，信号处理完成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80%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。接下来的工作将重点完善参数拟合算法的精度，特别是距离提取部分的鲁棒性，确保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月保质保量完成毕业论文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F20C50-BD20-8E34-3135-4ECBDDBCB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86198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17F5D-046A-FDD2-A626-710EB951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F74D4A10-2E27-1B6F-6A72-E7EC13A9C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21C163E9-3793-FBD1-09D2-0A7BAA020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附录部分包含相关图纸和文献。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6DEF51-8204-7C75-0B44-C8D947811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45751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01BB-B065-8AA1-AEA2-778BE434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A2B7C0-5839-379A-F14A-4BF35E2438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2E3D6D-8A1D-D819-8B8C-423C410AF67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展示了实验装置的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装配图以及相关的外文文献翻译工作。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8F592-9533-6149-DBEF-BFF14439E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40535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F034-DD79-520F-729A-66B452AF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55700E-AFA1-BB50-B95F-014F46E1A0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3A632F-9805-8D81-2E56-4CDC7D71AD3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展示了实验装置的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装配图以及相关的外文文献翻译工作。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CABDC7-2869-D17E-7D55-4916163D4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71223-E911-4BC0-B595-0BA4F035749C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454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jp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97CF8B-9330-283C-8671-004631408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8DFAF1-FD19-4C30-9DF4-688508705D9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D1E5EF-863B-342B-D882-2C1D44AC4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8DFAF1-FD19-4C30-9DF4-688508705D9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7AF6FDF-64C1-4E59-B393-63DDFFA435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680" y="1"/>
            <a:ext cx="7914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3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90" y="6356749"/>
            <a:ext cx="2742447" cy="3642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413" y="6356749"/>
            <a:ext cx="4115176" cy="3642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1167" y="6356749"/>
            <a:ext cx="2742447" cy="364275"/>
          </a:xfrm>
          <a:prstGeom prst="rect">
            <a:avLst/>
          </a:prstGeom>
        </p:spPr>
        <p:txBody>
          <a:bodyPr/>
          <a:lstStyle/>
          <a:p>
            <a:fld id="{67A9C527-F89A-46FD-BA76-134344B817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F29198ED-D39F-9329-C2AF-A829BDDB11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C1FF3CB-F33C-031E-A305-E5D4D27BF6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072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80565172-3C05-4BA4-AE9D-895CAC74FFC6}"/>
              </a:ext>
            </a:extLst>
          </p:cNvPr>
          <p:cNvGrpSpPr/>
          <p:nvPr userDrawn="1"/>
        </p:nvGrpSpPr>
        <p:grpSpPr>
          <a:xfrm>
            <a:off x="272279" y="87003"/>
            <a:ext cx="533711" cy="785772"/>
            <a:chOff x="4973638" y="933450"/>
            <a:chExt cx="2244725" cy="4991100"/>
          </a:xfrm>
        </p:grpSpPr>
        <p:sp>
          <p:nvSpPr>
            <p:cNvPr id="3" name="íṧḻîďè">
              <a:extLst>
                <a:ext uri="{FF2B5EF4-FFF2-40B4-BE49-F238E27FC236}">
                  <a16:creationId xmlns:a16="http://schemas.microsoft.com/office/drawing/2014/main" id="{AE40DDB8-3730-482A-98CC-BFDAFDBC3483}"/>
                </a:ext>
              </a:extLst>
            </p:cNvPr>
            <p:cNvSpPr/>
            <p:nvPr/>
          </p:nvSpPr>
          <p:spPr bwMode="auto">
            <a:xfrm>
              <a:off x="5694363" y="2841625"/>
              <a:ext cx="409575" cy="954088"/>
            </a:xfrm>
            <a:custGeom>
              <a:avLst/>
              <a:gdLst>
                <a:gd name="T0" fmla="*/ 43 w 55"/>
                <a:gd name="T1" fmla="*/ 120 h 129"/>
                <a:gd name="T2" fmla="*/ 55 w 55"/>
                <a:gd name="T3" fmla="*/ 2 h 129"/>
                <a:gd name="T4" fmla="*/ 53 w 55"/>
                <a:gd name="T5" fmla="*/ 0 h 129"/>
                <a:gd name="T6" fmla="*/ 27 w 55"/>
                <a:gd name="T7" fmla="*/ 0 h 129"/>
                <a:gd name="T8" fmla="*/ 2 w 55"/>
                <a:gd name="T9" fmla="*/ 0 h 129"/>
                <a:gd name="T10" fmla="*/ 0 w 55"/>
                <a:gd name="T11" fmla="*/ 2 h 129"/>
                <a:gd name="T12" fmla="*/ 12 w 55"/>
                <a:gd name="T13" fmla="*/ 120 h 129"/>
                <a:gd name="T14" fmla="*/ 12 w 55"/>
                <a:gd name="T15" fmla="*/ 121 h 129"/>
                <a:gd name="T16" fmla="*/ 21 w 55"/>
                <a:gd name="T17" fmla="*/ 128 h 129"/>
                <a:gd name="T18" fmla="*/ 33 w 55"/>
                <a:gd name="T19" fmla="*/ 128 h 129"/>
                <a:gd name="T20" fmla="*/ 43 w 55"/>
                <a:gd name="T21" fmla="*/ 121 h 129"/>
                <a:gd name="T22" fmla="*/ 43 w 55"/>
                <a:gd name="T23" fmla="*/ 121 h 129"/>
                <a:gd name="T24" fmla="*/ 43 w 55"/>
                <a:gd name="T25" fmla="*/ 12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" h="129">
                  <a:moveTo>
                    <a:pt x="43" y="120"/>
                  </a:moveTo>
                  <a:cubicBezTo>
                    <a:pt x="54" y="78"/>
                    <a:pt x="55" y="15"/>
                    <a:pt x="55" y="2"/>
                  </a:cubicBezTo>
                  <a:cubicBezTo>
                    <a:pt x="55" y="1"/>
                    <a:pt x="54" y="0"/>
                    <a:pt x="53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5"/>
                    <a:pt x="1" y="78"/>
                    <a:pt x="12" y="120"/>
                  </a:cubicBezTo>
                  <a:cubicBezTo>
                    <a:pt x="12" y="121"/>
                    <a:pt x="12" y="121"/>
                    <a:pt x="12" y="121"/>
                  </a:cubicBezTo>
                  <a:cubicBezTo>
                    <a:pt x="13" y="124"/>
                    <a:pt x="16" y="126"/>
                    <a:pt x="21" y="128"/>
                  </a:cubicBezTo>
                  <a:cubicBezTo>
                    <a:pt x="25" y="129"/>
                    <a:pt x="29" y="129"/>
                    <a:pt x="33" y="128"/>
                  </a:cubicBezTo>
                  <a:cubicBezTo>
                    <a:pt x="39" y="126"/>
                    <a:pt x="41" y="124"/>
                    <a:pt x="43" y="121"/>
                  </a:cubicBezTo>
                  <a:cubicBezTo>
                    <a:pt x="43" y="121"/>
                    <a:pt x="43" y="121"/>
                    <a:pt x="43" y="121"/>
                  </a:cubicBezTo>
                  <a:cubicBezTo>
                    <a:pt x="43" y="121"/>
                    <a:pt x="43" y="121"/>
                    <a:pt x="43" y="120"/>
                  </a:cubicBezTo>
                  <a:close/>
                </a:path>
              </a:pathLst>
            </a:cu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" name="íşļíďe">
              <a:extLst>
                <a:ext uri="{FF2B5EF4-FFF2-40B4-BE49-F238E27FC236}">
                  <a16:creationId xmlns:a16="http://schemas.microsoft.com/office/drawing/2014/main" id="{9B9F53A1-AFA9-411B-B1F9-43A463BDEB43}"/>
                </a:ext>
              </a:extLst>
            </p:cNvPr>
            <p:cNvSpPr/>
            <p:nvPr/>
          </p:nvSpPr>
          <p:spPr bwMode="auto">
            <a:xfrm>
              <a:off x="5672138" y="2825750"/>
              <a:ext cx="454025" cy="984250"/>
            </a:xfrm>
            <a:custGeom>
              <a:avLst/>
              <a:gdLst>
                <a:gd name="T0" fmla="*/ 30 w 61"/>
                <a:gd name="T1" fmla="*/ 133 h 133"/>
                <a:gd name="T2" fmla="*/ 24 w 61"/>
                <a:gd name="T3" fmla="*/ 132 h 133"/>
                <a:gd name="T4" fmla="*/ 13 w 61"/>
                <a:gd name="T5" fmla="*/ 124 h 133"/>
                <a:gd name="T6" fmla="*/ 13 w 61"/>
                <a:gd name="T7" fmla="*/ 123 h 133"/>
                <a:gd name="T8" fmla="*/ 0 w 61"/>
                <a:gd name="T9" fmla="*/ 4 h 133"/>
                <a:gd name="T10" fmla="*/ 2 w 61"/>
                <a:gd name="T11" fmla="*/ 1 h 133"/>
                <a:gd name="T12" fmla="*/ 5 w 61"/>
                <a:gd name="T13" fmla="*/ 0 h 133"/>
                <a:gd name="T14" fmla="*/ 56 w 61"/>
                <a:gd name="T15" fmla="*/ 0 h 133"/>
                <a:gd name="T16" fmla="*/ 59 w 61"/>
                <a:gd name="T17" fmla="*/ 1 h 133"/>
                <a:gd name="T18" fmla="*/ 61 w 61"/>
                <a:gd name="T19" fmla="*/ 5 h 133"/>
                <a:gd name="T20" fmla="*/ 48 w 61"/>
                <a:gd name="T21" fmla="*/ 123 h 133"/>
                <a:gd name="T22" fmla="*/ 48 w 61"/>
                <a:gd name="T23" fmla="*/ 124 h 133"/>
                <a:gd name="T24" fmla="*/ 48 w 61"/>
                <a:gd name="T25" fmla="*/ 124 h 133"/>
                <a:gd name="T26" fmla="*/ 37 w 61"/>
                <a:gd name="T27" fmla="*/ 132 h 133"/>
                <a:gd name="T28" fmla="*/ 30 w 61"/>
                <a:gd name="T29" fmla="*/ 133 h 133"/>
                <a:gd name="T30" fmla="*/ 5 w 61"/>
                <a:gd name="T31" fmla="*/ 5 h 133"/>
                <a:gd name="T32" fmla="*/ 17 w 61"/>
                <a:gd name="T33" fmla="*/ 122 h 133"/>
                <a:gd name="T34" fmla="*/ 18 w 61"/>
                <a:gd name="T35" fmla="*/ 123 h 133"/>
                <a:gd name="T36" fmla="*/ 25 w 61"/>
                <a:gd name="T37" fmla="*/ 127 h 133"/>
                <a:gd name="T38" fmla="*/ 36 w 61"/>
                <a:gd name="T39" fmla="*/ 127 h 133"/>
                <a:gd name="T40" fmla="*/ 43 w 61"/>
                <a:gd name="T41" fmla="*/ 123 h 133"/>
                <a:gd name="T42" fmla="*/ 44 w 61"/>
                <a:gd name="T43" fmla="*/ 122 h 133"/>
                <a:gd name="T44" fmla="*/ 56 w 61"/>
                <a:gd name="T45" fmla="*/ 4 h 133"/>
                <a:gd name="T46" fmla="*/ 5 w 61"/>
                <a:gd name="T47" fmla="*/ 5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1" h="133">
                  <a:moveTo>
                    <a:pt x="30" y="133"/>
                  </a:moveTo>
                  <a:cubicBezTo>
                    <a:pt x="28" y="133"/>
                    <a:pt x="26" y="133"/>
                    <a:pt x="24" y="132"/>
                  </a:cubicBezTo>
                  <a:cubicBezTo>
                    <a:pt x="18" y="131"/>
                    <a:pt x="15" y="128"/>
                    <a:pt x="13" y="124"/>
                  </a:cubicBezTo>
                  <a:cubicBezTo>
                    <a:pt x="13" y="124"/>
                    <a:pt x="13" y="123"/>
                    <a:pt x="13" y="123"/>
                  </a:cubicBezTo>
                  <a:cubicBezTo>
                    <a:pt x="1" y="80"/>
                    <a:pt x="0" y="17"/>
                    <a:pt x="0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60" y="2"/>
                    <a:pt x="61" y="3"/>
                    <a:pt x="61" y="5"/>
                  </a:cubicBezTo>
                  <a:cubicBezTo>
                    <a:pt x="61" y="17"/>
                    <a:pt x="59" y="80"/>
                    <a:pt x="48" y="123"/>
                  </a:cubicBezTo>
                  <a:cubicBezTo>
                    <a:pt x="48" y="123"/>
                    <a:pt x="48" y="124"/>
                    <a:pt x="48" y="124"/>
                  </a:cubicBezTo>
                  <a:cubicBezTo>
                    <a:pt x="48" y="124"/>
                    <a:pt x="48" y="124"/>
                    <a:pt x="48" y="124"/>
                  </a:cubicBezTo>
                  <a:cubicBezTo>
                    <a:pt x="46" y="128"/>
                    <a:pt x="42" y="131"/>
                    <a:pt x="37" y="132"/>
                  </a:cubicBezTo>
                  <a:cubicBezTo>
                    <a:pt x="35" y="133"/>
                    <a:pt x="33" y="133"/>
                    <a:pt x="30" y="133"/>
                  </a:cubicBezTo>
                  <a:close/>
                  <a:moveTo>
                    <a:pt x="5" y="5"/>
                  </a:moveTo>
                  <a:cubicBezTo>
                    <a:pt x="5" y="17"/>
                    <a:pt x="6" y="80"/>
                    <a:pt x="17" y="122"/>
                  </a:cubicBezTo>
                  <a:cubicBezTo>
                    <a:pt x="17" y="122"/>
                    <a:pt x="18" y="123"/>
                    <a:pt x="18" y="123"/>
                  </a:cubicBezTo>
                  <a:cubicBezTo>
                    <a:pt x="18" y="125"/>
                    <a:pt x="21" y="126"/>
                    <a:pt x="25" y="127"/>
                  </a:cubicBezTo>
                  <a:cubicBezTo>
                    <a:pt x="29" y="128"/>
                    <a:pt x="32" y="128"/>
                    <a:pt x="36" y="127"/>
                  </a:cubicBezTo>
                  <a:cubicBezTo>
                    <a:pt x="40" y="126"/>
                    <a:pt x="42" y="125"/>
                    <a:pt x="43" y="123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55" y="80"/>
                    <a:pt x="56" y="17"/>
                    <a:pt x="56" y="4"/>
                  </a:cubicBezTo>
                  <a:lnTo>
                    <a:pt x="5" y="5"/>
                  </a:ln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îš1îḑe">
              <a:extLst>
                <a:ext uri="{FF2B5EF4-FFF2-40B4-BE49-F238E27FC236}">
                  <a16:creationId xmlns:a16="http://schemas.microsoft.com/office/drawing/2014/main" id="{2BEC5C9D-6656-435E-BEA6-C0B94A268B87}"/>
                </a:ext>
              </a:extLst>
            </p:cNvPr>
            <p:cNvSpPr/>
            <p:nvPr/>
          </p:nvSpPr>
          <p:spPr bwMode="auto">
            <a:xfrm>
              <a:off x="5910263" y="2841625"/>
              <a:ext cx="193675" cy="946150"/>
            </a:xfrm>
            <a:custGeom>
              <a:avLst/>
              <a:gdLst>
                <a:gd name="T0" fmla="*/ 24 w 26"/>
                <a:gd name="T1" fmla="*/ 0 h 128"/>
                <a:gd name="T2" fmla="*/ 4 w 26"/>
                <a:gd name="T3" fmla="*/ 0 h 128"/>
                <a:gd name="T4" fmla="*/ 1 w 26"/>
                <a:gd name="T5" fmla="*/ 3 h 128"/>
                <a:gd name="T6" fmla="*/ 0 w 26"/>
                <a:gd name="T7" fmla="*/ 128 h 128"/>
                <a:gd name="T8" fmla="*/ 4 w 26"/>
                <a:gd name="T9" fmla="*/ 128 h 128"/>
                <a:gd name="T10" fmla="*/ 14 w 26"/>
                <a:gd name="T11" fmla="*/ 122 h 128"/>
                <a:gd name="T12" fmla="*/ 14 w 26"/>
                <a:gd name="T13" fmla="*/ 121 h 128"/>
                <a:gd name="T14" fmla="*/ 14 w 26"/>
                <a:gd name="T15" fmla="*/ 121 h 128"/>
                <a:gd name="T16" fmla="*/ 26 w 26"/>
                <a:gd name="T17" fmla="*/ 3 h 128"/>
                <a:gd name="T18" fmla="*/ 24 w 26"/>
                <a:gd name="T1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128">
                  <a:moveTo>
                    <a:pt x="2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1" y="3"/>
                    <a:pt x="1" y="3"/>
                  </a:cubicBezTo>
                  <a:cubicBezTo>
                    <a:pt x="1" y="3"/>
                    <a:pt x="3" y="78"/>
                    <a:pt x="0" y="128"/>
                  </a:cubicBezTo>
                  <a:cubicBezTo>
                    <a:pt x="2" y="128"/>
                    <a:pt x="3" y="128"/>
                    <a:pt x="4" y="128"/>
                  </a:cubicBezTo>
                  <a:cubicBezTo>
                    <a:pt x="10" y="126"/>
                    <a:pt x="12" y="124"/>
                    <a:pt x="14" y="122"/>
                  </a:cubicBezTo>
                  <a:cubicBezTo>
                    <a:pt x="14" y="121"/>
                    <a:pt x="14" y="121"/>
                    <a:pt x="14" y="121"/>
                  </a:cubicBezTo>
                  <a:cubicBezTo>
                    <a:pt x="14" y="121"/>
                    <a:pt x="14" y="121"/>
                    <a:pt x="14" y="121"/>
                  </a:cubicBezTo>
                  <a:cubicBezTo>
                    <a:pt x="25" y="78"/>
                    <a:pt x="26" y="15"/>
                    <a:pt x="26" y="3"/>
                  </a:cubicBezTo>
                  <a:cubicBezTo>
                    <a:pt x="26" y="1"/>
                    <a:pt x="25" y="0"/>
                    <a:pt x="24" y="0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" name="îşḷíḋê">
              <a:extLst>
                <a:ext uri="{FF2B5EF4-FFF2-40B4-BE49-F238E27FC236}">
                  <a16:creationId xmlns:a16="http://schemas.microsoft.com/office/drawing/2014/main" id="{A5CF35D3-49F3-45E9-A639-5AD305F9C9E3}"/>
                </a:ext>
              </a:extLst>
            </p:cNvPr>
            <p:cNvSpPr/>
            <p:nvPr/>
          </p:nvSpPr>
          <p:spPr bwMode="auto">
            <a:xfrm>
              <a:off x="5672138" y="2708275"/>
              <a:ext cx="454025" cy="266700"/>
            </a:xfrm>
            <a:custGeom>
              <a:avLst/>
              <a:gdLst>
                <a:gd name="T0" fmla="*/ 50 w 61"/>
                <a:gd name="T1" fmla="*/ 7 h 36"/>
                <a:gd name="T2" fmla="*/ 50 w 61"/>
                <a:gd name="T3" fmla="*/ 30 h 36"/>
                <a:gd name="T4" fmla="*/ 11 w 61"/>
                <a:gd name="T5" fmla="*/ 30 h 36"/>
                <a:gd name="T6" fmla="*/ 11 w 61"/>
                <a:gd name="T7" fmla="*/ 7 h 36"/>
                <a:gd name="T8" fmla="*/ 50 w 61"/>
                <a:gd name="T9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6">
                  <a:moveTo>
                    <a:pt x="50" y="7"/>
                  </a:moveTo>
                  <a:cubicBezTo>
                    <a:pt x="61" y="13"/>
                    <a:pt x="61" y="23"/>
                    <a:pt x="50" y="30"/>
                  </a:cubicBezTo>
                  <a:cubicBezTo>
                    <a:pt x="39" y="36"/>
                    <a:pt x="22" y="36"/>
                    <a:pt x="11" y="30"/>
                  </a:cubicBezTo>
                  <a:cubicBezTo>
                    <a:pt x="0" y="23"/>
                    <a:pt x="0" y="13"/>
                    <a:pt x="11" y="7"/>
                  </a:cubicBezTo>
                  <a:cubicBezTo>
                    <a:pt x="22" y="0"/>
                    <a:pt x="39" y="0"/>
                    <a:pt x="5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" name="íṥ1îďe">
              <a:extLst>
                <a:ext uri="{FF2B5EF4-FFF2-40B4-BE49-F238E27FC236}">
                  <a16:creationId xmlns:a16="http://schemas.microsoft.com/office/drawing/2014/main" id="{341C5150-76B6-4ADB-9B30-649BDED4A979}"/>
                </a:ext>
              </a:extLst>
            </p:cNvPr>
            <p:cNvSpPr/>
            <p:nvPr/>
          </p:nvSpPr>
          <p:spPr bwMode="auto">
            <a:xfrm>
              <a:off x="5672138" y="2693988"/>
              <a:ext cx="454025" cy="287338"/>
            </a:xfrm>
            <a:custGeom>
              <a:avLst/>
              <a:gdLst>
                <a:gd name="T0" fmla="*/ 30 w 61"/>
                <a:gd name="T1" fmla="*/ 39 h 39"/>
                <a:gd name="T2" fmla="*/ 10 w 61"/>
                <a:gd name="T3" fmla="*/ 34 h 39"/>
                <a:gd name="T4" fmla="*/ 0 w 61"/>
                <a:gd name="T5" fmla="*/ 20 h 39"/>
                <a:gd name="T6" fmla="*/ 10 w 61"/>
                <a:gd name="T7" fmla="*/ 7 h 39"/>
                <a:gd name="T8" fmla="*/ 51 w 61"/>
                <a:gd name="T9" fmla="*/ 7 h 39"/>
                <a:gd name="T10" fmla="*/ 61 w 61"/>
                <a:gd name="T11" fmla="*/ 20 h 39"/>
                <a:gd name="T12" fmla="*/ 51 w 61"/>
                <a:gd name="T13" fmla="*/ 34 h 39"/>
                <a:gd name="T14" fmla="*/ 30 w 61"/>
                <a:gd name="T15" fmla="*/ 39 h 39"/>
                <a:gd name="T16" fmla="*/ 30 w 61"/>
                <a:gd name="T17" fmla="*/ 6 h 39"/>
                <a:gd name="T18" fmla="*/ 12 w 61"/>
                <a:gd name="T19" fmla="*/ 11 h 39"/>
                <a:gd name="T20" fmla="*/ 5 w 61"/>
                <a:gd name="T21" fmla="*/ 20 h 39"/>
                <a:gd name="T22" fmla="*/ 12 w 61"/>
                <a:gd name="T23" fmla="*/ 29 h 39"/>
                <a:gd name="T24" fmla="*/ 49 w 61"/>
                <a:gd name="T25" fmla="*/ 29 h 39"/>
                <a:gd name="T26" fmla="*/ 56 w 61"/>
                <a:gd name="T27" fmla="*/ 20 h 39"/>
                <a:gd name="T28" fmla="*/ 49 w 61"/>
                <a:gd name="T29" fmla="*/ 11 h 39"/>
                <a:gd name="T30" fmla="*/ 30 w 61"/>
                <a:gd name="T31" fmla="*/ 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" h="39">
                  <a:moveTo>
                    <a:pt x="30" y="39"/>
                  </a:moveTo>
                  <a:cubicBezTo>
                    <a:pt x="23" y="39"/>
                    <a:pt x="15" y="37"/>
                    <a:pt x="10" y="34"/>
                  </a:cubicBezTo>
                  <a:cubicBezTo>
                    <a:pt x="4" y="30"/>
                    <a:pt x="0" y="25"/>
                    <a:pt x="0" y="20"/>
                  </a:cubicBezTo>
                  <a:cubicBezTo>
                    <a:pt x="0" y="15"/>
                    <a:pt x="4" y="10"/>
                    <a:pt x="10" y="7"/>
                  </a:cubicBezTo>
                  <a:cubicBezTo>
                    <a:pt x="21" y="0"/>
                    <a:pt x="40" y="0"/>
                    <a:pt x="51" y="7"/>
                  </a:cubicBezTo>
                  <a:cubicBezTo>
                    <a:pt x="57" y="10"/>
                    <a:pt x="61" y="15"/>
                    <a:pt x="61" y="20"/>
                  </a:cubicBezTo>
                  <a:cubicBezTo>
                    <a:pt x="61" y="25"/>
                    <a:pt x="57" y="30"/>
                    <a:pt x="51" y="34"/>
                  </a:cubicBezTo>
                  <a:cubicBezTo>
                    <a:pt x="45" y="37"/>
                    <a:pt x="38" y="39"/>
                    <a:pt x="30" y="39"/>
                  </a:cubicBezTo>
                  <a:close/>
                  <a:moveTo>
                    <a:pt x="30" y="6"/>
                  </a:moveTo>
                  <a:cubicBezTo>
                    <a:pt x="24" y="6"/>
                    <a:pt x="17" y="8"/>
                    <a:pt x="12" y="11"/>
                  </a:cubicBezTo>
                  <a:cubicBezTo>
                    <a:pt x="7" y="13"/>
                    <a:pt x="5" y="17"/>
                    <a:pt x="5" y="20"/>
                  </a:cubicBezTo>
                  <a:cubicBezTo>
                    <a:pt x="5" y="24"/>
                    <a:pt x="7" y="27"/>
                    <a:pt x="12" y="29"/>
                  </a:cubicBezTo>
                  <a:cubicBezTo>
                    <a:pt x="22" y="35"/>
                    <a:pt x="39" y="35"/>
                    <a:pt x="49" y="29"/>
                  </a:cubicBezTo>
                  <a:cubicBezTo>
                    <a:pt x="53" y="27"/>
                    <a:pt x="56" y="24"/>
                    <a:pt x="56" y="20"/>
                  </a:cubicBezTo>
                  <a:cubicBezTo>
                    <a:pt x="56" y="17"/>
                    <a:pt x="53" y="13"/>
                    <a:pt x="49" y="11"/>
                  </a:cubicBezTo>
                  <a:cubicBezTo>
                    <a:pt x="44" y="8"/>
                    <a:pt x="37" y="6"/>
                    <a:pt x="30" y="6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" name="îṩļídê">
              <a:extLst>
                <a:ext uri="{FF2B5EF4-FFF2-40B4-BE49-F238E27FC236}">
                  <a16:creationId xmlns:a16="http://schemas.microsoft.com/office/drawing/2014/main" id="{5829A923-3CD5-4E37-985E-62E4BA05F3E8}"/>
                </a:ext>
              </a:extLst>
            </p:cNvPr>
            <p:cNvSpPr/>
            <p:nvPr/>
          </p:nvSpPr>
          <p:spPr bwMode="auto">
            <a:xfrm>
              <a:off x="5754688" y="2760663"/>
              <a:ext cx="288925" cy="161925"/>
            </a:xfrm>
            <a:custGeom>
              <a:avLst/>
              <a:gdLst>
                <a:gd name="T0" fmla="*/ 32 w 39"/>
                <a:gd name="T1" fmla="*/ 4 h 22"/>
                <a:gd name="T2" fmla="*/ 32 w 39"/>
                <a:gd name="T3" fmla="*/ 18 h 22"/>
                <a:gd name="T4" fmla="*/ 7 w 39"/>
                <a:gd name="T5" fmla="*/ 18 h 22"/>
                <a:gd name="T6" fmla="*/ 7 w 39"/>
                <a:gd name="T7" fmla="*/ 4 h 22"/>
                <a:gd name="T8" fmla="*/ 32 w 39"/>
                <a:gd name="T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22">
                  <a:moveTo>
                    <a:pt x="32" y="4"/>
                  </a:moveTo>
                  <a:cubicBezTo>
                    <a:pt x="39" y="8"/>
                    <a:pt x="39" y="14"/>
                    <a:pt x="32" y="18"/>
                  </a:cubicBezTo>
                  <a:cubicBezTo>
                    <a:pt x="25" y="22"/>
                    <a:pt x="14" y="22"/>
                    <a:pt x="7" y="18"/>
                  </a:cubicBezTo>
                  <a:cubicBezTo>
                    <a:pt x="0" y="14"/>
                    <a:pt x="0" y="8"/>
                    <a:pt x="7" y="4"/>
                  </a:cubicBezTo>
                  <a:cubicBezTo>
                    <a:pt x="14" y="0"/>
                    <a:pt x="25" y="0"/>
                    <a:pt x="32" y="4"/>
                  </a:cubicBezTo>
                  <a:close/>
                </a:path>
              </a:pathLst>
            </a:cu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íşľiḓê">
              <a:extLst>
                <a:ext uri="{FF2B5EF4-FFF2-40B4-BE49-F238E27FC236}">
                  <a16:creationId xmlns:a16="http://schemas.microsoft.com/office/drawing/2014/main" id="{4DB832F2-A945-4CFB-94B1-7BCADF0FE3E1}"/>
                </a:ext>
              </a:extLst>
            </p:cNvPr>
            <p:cNvSpPr/>
            <p:nvPr/>
          </p:nvSpPr>
          <p:spPr bwMode="auto">
            <a:xfrm>
              <a:off x="5746750" y="2738438"/>
              <a:ext cx="296863" cy="198438"/>
            </a:xfrm>
            <a:custGeom>
              <a:avLst/>
              <a:gdLst>
                <a:gd name="T0" fmla="*/ 20 w 40"/>
                <a:gd name="T1" fmla="*/ 27 h 27"/>
                <a:gd name="T2" fmla="*/ 7 w 40"/>
                <a:gd name="T3" fmla="*/ 23 h 27"/>
                <a:gd name="T4" fmla="*/ 0 w 40"/>
                <a:gd name="T5" fmla="*/ 14 h 27"/>
                <a:gd name="T6" fmla="*/ 7 w 40"/>
                <a:gd name="T7" fmla="*/ 5 h 27"/>
                <a:gd name="T8" fmla="*/ 34 w 40"/>
                <a:gd name="T9" fmla="*/ 5 h 27"/>
                <a:gd name="T10" fmla="*/ 34 w 40"/>
                <a:gd name="T11" fmla="*/ 5 h 27"/>
                <a:gd name="T12" fmla="*/ 40 w 40"/>
                <a:gd name="T13" fmla="*/ 14 h 27"/>
                <a:gd name="T14" fmla="*/ 34 w 40"/>
                <a:gd name="T15" fmla="*/ 23 h 27"/>
                <a:gd name="T16" fmla="*/ 20 w 40"/>
                <a:gd name="T17" fmla="*/ 27 h 27"/>
                <a:gd name="T18" fmla="*/ 20 w 40"/>
                <a:gd name="T19" fmla="*/ 6 h 27"/>
                <a:gd name="T20" fmla="*/ 9 w 40"/>
                <a:gd name="T21" fmla="*/ 9 h 27"/>
                <a:gd name="T22" fmla="*/ 5 w 40"/>
                <a:gd name="T23" fmla="*/ 14 h 27"/>
                <a:gd name="T24" fmla="*/ 9 w 40"/>
                <a:gd name="T25" fmla="*/ 19 h 27"/>
                <a:gd name="T26" fmla="*/ 32 w 40"/>
                <a:gd name="T27" fmla="*/ 19 h 27"/>
                <a:gd name="T28" fmla="*/ 36 w 40"/>
                <a:gd name="T29" fmla="*/ 14 h 27"/>
                <a:gd name="T30" fmla="*/ 32 w 40"/>
                <a:gd name="T31" fmla="*/ 9 h 27"/>
                <a:gd name="T32" fmla="*/ 20 w 40"/>
                <a:gd name="T33" fmla="*/ 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" h="27">
                  <a:moveTo>
                    <a:pt x="20" y="27"/>
                  </a:moveTo>
                  <a:cubicBezTo>
                    <a:pt x="16" y="27"/>
                    <a:pt x="11" y="26"/>
                    <a:pt x="7" y="23"/>
                  </a:cubicBezTo>
                  <a:cubicBezTo>
                    <a:pt x="3" y="21"/>
                    <a:pt x="0" y="18"/>
                    <a:pt x="0" y="14"/>
                  </a:cubicBezTo>
                  <a:cubicBezTo>
                    <a:pt x="0" y="11"/>
                    <a:pt x="3" y="7"/>
                    <a:pt x="7" y="5"/>
                  </a:cubicBezTo>
                  <a:cubicBezTo>
                    <a:pt x="14" y="0"/>
                    <a:pt x="26" y="1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8" y="7"/>
                    <a:pt x="40" y="11"/>
                    <a:pt x="40" y="14"/>
                  </a:cubicBezTo>
                  <a:cubicBezTo>
                    <a:pt x="40" y="18"/>
                    <a:pt x="38" y="21"/>
                    <a:pt x="34" y="23"/>
                  </a:cubicBezTo>
                  <a:cubicBezTo>
                    <a:pt x="30" y="26"/>
                    <a:pt x="25" y="27"/>
                    <a:pt x="20" y="27"/>
                  </a:cubicBezTo>
                  <a:close/>
                  <a:moveTo>
                    <a:pt x="20" y="6"/>
                  </a:moveTo>
                  <a:cubicBezTo>
                    <a:pt x="16" y="6"/>
                    <a:pt x="12" y="7"/>
                    <a:pt x="9" y="9"/>
                  </a:cubicBezTo>
                  <a:cubicBezTo>
                    <a:pt x="7" y="10"/>
                    <a:pt x="5" y="12"/>
                    <a:pt x="5" y="14"/>
                  </a:cubicBezTo>
                  <a:cubicBezTo>
                    <a:pt x="5" y="16"/>
                    <a:pt x="7" y="18"/>
                    <a:pt x="9" y="19"/>
                  </a:cubicBezTo>
                  <a:cubicBezTo>
                    <a:pt x="15" y="23"/>
                    <a:pt x="26" y="23"/>
                    <a:pt x="32" y="19"/>
                  </a:cubicBezTo>
                  <a:cubicBezTo>
                    <a:pt x="34" y="18"/>
                    <a:pt x="36" y="16"/>
                    <a:pt x="36" y="14"/>
                  </a:cubicBezTo>
                  <a:cubicBezTo>
                    <a:pt x="36" y="12"/>
                    <a:pt x="34" y="10"/>
                    <a:pt x="32" y="9"/>
                  </a:cubicBezTo>
                  <a:cubicBezTo>
                    <a:pt x="29" y="7"/>
                    <a:pt x="25" y="6"/>
                    <a:pt x="20" y="6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ïślîdê">
              <a:extLst>
                <a:ext uri="{FF2B5EF4-FFF2-40B4-BE49-F238E27FC236}">
                  <a16:creationId xmlns:a16="http://schemas.microsoft.com/office/drawing/2014/main" id="{EB3B50AD-BCA3-4CDD-B344-1A6B21E36CA5}"/>
                </a:ext>
              </a:extLst>
            </p:cNvPr>
            <p:cNvSpPr/>
            <p:nvPr/>
          </p:nvSpPr>
          <p:spPr bwMode="auto">
            <a:xfrm>
              <a:off x="5754688" y="2767013"/>
              <a:ext cx="141288" cy="147638"/>
            </a:xfrm>
            <a:custGeom>
              <a:avLst/>
              <a:gdLst>
                <a:gd name="T0" fmla="*/ 19 w 19"/>
                <a:gd name="T1" fmla="*/ 0 h 20"/>
                <a:gd name="T2" fmla="*/ 7 w 19"/>
                <a:gd name="T3" fmla="*/ 3 h 20"/>
                <a:gd name="T4" fmla="*/ 7 w 19"/>
                <a:gd name="T5" fmla="*/ 17 h 20"/>
                <a:gd name="T6" fmla="*/ 19 w 19"/>
                <a:gd name="T7" fmla="*/ 20 h 20"/>
                <a:gd name="T8" fmla="*/ 19 w 1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0">
                  <a:moveTo>
                    <a:pt x="19" y="0"/>
                  </a:moveTo>
                  <a:cubicBezTo>
                    <a:pt x="15" y="0"/>
                    <a:pt x="10" y="1"/>
                    <a:pt x="7" y="3"/>
                  </a:cubicBezTo>
                  <a:cubicBezTo>
                    <a:pt x="0" y="7"/>
                    <a:pt x="0" y="13"/>
                    <a:pt x="7" y="17"/>
                  </a:cubicBezTo>
                  <a:cubicBezTo>
                    <a:pt x="10" y="19"/>
                    <a:pt x="15" y="20"/>
                    <a:pt x="19" y="20"/>
                  </a:cubicBezTo>
                  <a:cubicBezTo>
                    <a:pt x="19" y="13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" name="íśľíḋé">
              <a:extLst>
                <a:ext uri="{FF2B5EF4-FFF2-40B4-BE49-F238E27FC236}">
                  <a16:creationId xmlns:a16="http://schemas.microsoft.com/office/drawing/2014/main" id="{C9F065A0-4FE8-4E7F-AB3C-7ED6CCF4FFE1}"/>
                </a:ext>
              </a:extLst>
            </p:cNvPr>
            <p:cNvSpPr/>
            <p:nvPr/>
          </p:nvSpPr>
          <p:spPr bwMode="auto">
            <a:xfrm>
              <a:off x="5746750" y="2936875"/>
              <a:ext cx="104775" cy="842963"/>
            </a:xfrm>
            <a:custGeom>
              <a:avLst/>
              <a:gdLst>
                <a:gd name="T0" fmla="*/ 9 w 14"/>
                <a:gd name="T1" fmla="*/ 114 h 114"/>
                <a:gd name="T2" fmla="*/ 0 w 14"/>
                <a:gd name="T3" fmla="*/ 0 h 114"/>
                <a:gd name="T4" fmla="*/ 5 w 14"/>
                <a:gd name="T5" fmla="*/ 0 h 114"/>
                <a:gd name="T6" fmla="*/ 14 w 14"/>
                <a:gd name="T7" fmla="*/ 113 h 114"/>
                <a:gd name="T8" fmla="*/ 9 w 14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4">
                  <a:moveTo>
                    <a:pt x="9" y="114"/>
                  </a:moveTo>
                  <a:cubicBezTo>
                    <a:pt x="0" y="59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59"/>
                    <a:pt x="14" y="113"/>
                  </a:cubicBezTo>
                  <a:lnTo>
                    <a:pt x="9" y="114"/>
                  </a:ln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" name="iSļiḋè">
              <a:extLst>
                <a:ext uri="{FF2B5EF4-FFF2-40B4-BE49-F238E27FC236}">
                  <a16:creationId xmlns:a16="http://schemas.microsoft.com/office/drawing/2014/main" id="{E38CB79A-0BD4-41AB-BFBF-A595F673DDFB}"/>
                </a:ext>
              </a:extLst>
            </p:cNvPr>
            <p:cNvSpPr/>
            <p:nvPr/>
          </p:nvSpPr>
          <p:spPr bwMode="auto">
            <a:xfrm>
              <a:off x="5948363" y="2774950"/>
              <a:ext cx="36513" cy="133350"/>
            </a:xfrm>
            <a:custGeom>
              <a:avLst/>
              <a:gdLst>
                <a:gd name="T0" fmla="*/ 5 w 5"/>
                <a:gd name="T1" fmla="*/ 18 h 18"/>
                <a:gd name="T2" fmla="*/ 0 w 5"/>
                <a:gd name="T3" fmla="*/ 18 h 18"/>
                <a:gd name="T4" fmla="*/ 0 w 5"/>
                <a:gd name="T5" fmla="*/ 0 h 18"/>
                <a:gd name="T6" fmla="*/ 5 w 5"/>
                <a:gd name="T7" fmla="*/ 0 h 18"/>
                <a:gd name="T8" fmla="*/ 5 w 5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8">
                  <a:moveTo>
                    <a:pt x="5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1"/>
                    <a:pt x="0" y="1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1"/>
                    <a:pt x="5" y="11"/>
                    <a:pt x="5" y="18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" name="iṧ1íďè">
              <a:extLst>
                <a:ext uri="{FF2B5EF4-FFF2-40B4-BE49-F238E27FC236}">
                  <a16:creationId xmlns:a16="http://schemas.microsoft.com/office/drawing/2014/main" id="{080DD2E5-BA2F-4D16-A426-2374A0678C8C}"/>
                </a:ext>
              </a:extLst>
            </p:cNvPr>
            <p:cNvSpPr/>
            <p:nvPr/>
          </p:nvSpPr>
          <p:spPr bwMode="auto">
            <a:xfrm>
              <a:off x="5464175" y="1473200"/>
              <a:ext cx="401638" cy="1308100"/>
            </a:xfrm>
            <a:custGeom>
              <a:avLst/>
              <a:gdLst>
                <a:gd name="T0" fmla="*/ 4 w 54"/>
                <a:gd name="T1" fmla="*/ 0 h 177"/>
                <a:gd name="T2" fmla="*/ 6 w 54"/>
                <a:gd name="T3" fmla="*/ 3 h 177"/>
                <a:gd name="T4" fmla="*/ 54 w 54"/>
                <a:gd name="T5" fmla="*/ 159 h 177"/>
                <a:gd name="T6" fmla="*/ 54 w 54"/>
                <a:gd name="T7" fmla="*/ 177 h 177"/>
                <a:gd name="T8" fmla="*/ 43 w 54"/>
                <a:gd name="T9" fmla="*/ 160 h 177"/>
                <a:gd name="T10" fmla="*/ 4 w 54"/>
                <a:gd name="T11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77">
                  <a:moveTo>
                    <a:pt x="4" y="0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37" y="49"/>
                    <a:pt x="54" y="103"/>
                    <a:pt x="54" y="159"/>
                  </a:cubicBezTo>
                  <a:cubicBezTo>
                    <a:pt x="54" y="177"/>
                    <a:pt x="54" y="177"/>
                    <a:pt x="54" y="177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14" y="112"/>
                    <a:pt x="0" y="56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î$ḷídé">
              <a:extLst>
                <a:ext uri="{FF2B5EF4-FFF2-40B4-BE49-F238E27FC236}">
                  <a16:creationId xmlns:a16="http://schemas.microsoft.com/office/drawing/2014/main" id="{D7D667A0-273A-42A3-97D9-ED30AD7249A6}"/>
                </a:ext>
              </a:extLst>
            </p:cNvPr>
            <p:cNvSpPr/>
            <p:nvPr/>
          </p:nvSpPr>
          <p:spPr bwMode="auto">
            <a:xfrm>
              <a:off x="5449888" y="1420813"/>
              <a:ext cx="430213" cy="1427163"/>
            </a:xfrm>
            <a:custGeom>
              <a:avLst/>
              <a:gdLst>
                <a:gd name="T0" fmla="*/ 58 w 58"/>
                <a:gd name="T1" fmla="*/ 193 h 193"/>
                <a:gd name="T2" fmla="*/ 43 w 58"/>
                <a:gd name="T3" fmla="*/ 168 h 193"/>
                <a:gd name="T4" fmla="*/ 4 w 58"/>
                <a:gd name="T5" fmla="*/ 7 h 193"/>
                <a:gd name="T6" fmla="*/ 4 w 58"/>
                <a:gd name="T7" fmla="*/ 0 h 193"/>
                <a:gd name="T8" fmla="*/ 10 w 58"/>
                <a:gd name="T9" fmla="*/ 9 h 193"/>
                <a:gd name="T10" fmla="*/ 58 w 58"/>
                <a:gd name="T11" fmla="*/ 166 h 193"/>
                <a:gd name="T12" fmla="*/ 58 w 58"/>
                <a:gd name="T13" fmla="*/ 193 h 193"/>
                <a:gd name="T14" fmla="*/ 8 w 58"/>
                <a:gd name="T15" fmla="*/ 15 h 193"/>
                <a:gd name="T16" fmla="*/ 47 w 58"/>
                <a:gd name="T17" fmla="*/ 166 h 193"/>
                <a:gd name="T18" fmla="*/ 53 w 58"/>
                <a:gd name="T19" fmla="*/ 176 h 193"/>
                <a:gd name="T20" fmla="*/ 53 w 58"/>
                <a:gd name="T21" fmla="*/ 166 h 193"/>
                <a:gd name="T22" fmla="*/ 8 w 58"/>
                <a:gd name="T23" fmla="*/ 1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193">
                  <a:moveTo>
                    <a:pt x="58" y="193"/>
                  </a:moveTo>
                  <a:cubicBezTo>
                    <a:pt x="43" y="168"/>
                    <a:pt x="43" y="168"/>
                    <a:pt x="43" y="168"/>
                  </a:cubicBezTo>
                  <a:cubicBezTo>
                    <a:pt x="14" y="120"/>
                    <a:pt x="0" y="64"/>
                    <a:pt x="4" y="7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2" y="55"/>
                    <a:pt x="58" y="110"/>
                    <a:pt x="58" y="166"/>
                  </a:cubicBezTo>
                  <a:lnTo>
                    <a:pt x="58" y="193"/>
                  </a:lnTo>
                  <a:close/>
                  <a:moveTo>
                    <a:pt x="8" y="15"/>
                  </a:moveTo>
                  <a:cubicBezTo>
                    <a:pt x="6" y="68"/>
                    <a:pt x="19" y="120"/>
                    <a:pt x="47" y="166"/>
                  </a:cubicBezTo>
                  <a:cubicBezTo>
                    <a:pt x="53" y="176"/>
                    <a:pt x="53" y="176"/>
                    <a:pt x="53" y="176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4" y="112"/>
                    <a:pt x="38" y="60"/>
                    <a:pt x="8" y="15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îŝ1ïḑê">
              <a:extLst>
                <a:ext uri="{FF2B5EF4-FFF2-40B4-BE49-F238E27FC236}">
                  <a16:creationId xmlns:a16="http://schemas.microsoft.com/office/drawing/2014/main" id="{82B58D66-B05D-4F10-A60B-FA2A9E8AE126}"/>
                </a:ext>
              </a:extLst>
            </p:cNvPr>
            <p:cNvSpPr/>
            <p:nvPr/>
          </p:nvSpPr>
          <p:spPr bwMode="auto">
            <a:xfrm>
              <a:off x="5524500" y="1628775"/>
              <a:ext cx="355600" cy="1160463"/>
            </a:xfrm>
            <a:custGeom>
              <a:avLst/>
              <a:gdLst>
                <a:gd name="T0" fmla="*/ 201 w 224"/>
                <a:gd name="T1" fmla="*/ 731 h 731"/>
                <a:gd name="T2" fmla="*/ 0 w 224"/>
                <a:gd name="T3" fmla="*/ 4 h 731"/>
                <a:gd name="T4" fmla="*/ 18 w 224"/>
                <a:gd name="T5" fmla="*/ 0 h 731"/>
                <a:gd name="T6" fmla="*/ 224 w 224"/>
                <a:gd name="T7" fmla="*/ 726 h 731"/>
                <a:gd name="T8" fmla="*/ 201 w 224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4" h="731">
                  <a:moveTo>
                    <a:pt x="201" y="731"/>
                  </a:moveTo>
                  <a:lnTo>
                    <a:pt x="0" y="4"/>
                  </a:lnTo>
                  <a:lnTo>
                    <a:pt x="18" y="0"/>
                  </a:lnTo>
                  <a:lnTo>
                    <a:pt x="224" y="726"/>
                  </a:lnTo>
                  <a:lnTo>
                    <a:pt x="201" y="731"/>
                  </a:ln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îšľíḍé">
              <a:extLst>
                <a:ext uri="{FF2B5EF4-FFF2-40B4-BE49-F238E27FC236}">
                  <a16:creationId xmlns:a16="http://schemas.microsoft.com/office/drawing/2014/main" id="{6B15A1BD-1F1D-43EA-91AB-365A992E0EB7}"/>
                </a:ext>
              </a:extLst>
            </p:cNvPr>
            <p:cNvSpPr/>
            <p:nvPr/>
          </p:nvSpPr>
          <p:spPr bwMode="auto">
            <a:xfrm>
              <a:off x="5762625" y="2124075"/>
              <a:ext cx="111125" cy="354013"/>
            </a:xfrm>
            <a:custGeom>
              <a:avLst/>
              <a:gdLst>
                <a:gd name="T0" fmla="*/ 4 w 15"/>
                <a:gd name="T1" fmla="*/ 48 h 48"/>
                <a:gd name="T2" fmla="*/ 0 w 15"/>
                <a:gd name="T3" fmla="*/ 46 h 48"/>
                <a:gd name="T4" fmla="*/ 2 w 15"/>
                <a:gd name="T5" fmla="*/ 1 h 48"/>
                <a:gd name="T6" fmla="*/ 7 w 15"/>
                <a:gd name="T7" fmla="*/ 0 h 48"/>
                <a:gd name="T8" fmla="*/ 4 w 15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8">
                  <a:moveTo>
                    <a:pt x="4" y="48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10" y="30"/>
                    <a:pt x="3" y="1"/>
                    <a:pt x="2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"/>
                    <a:pt x="15" y="31"/>
                    <a:pt x="4" y="48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7" name="ïśliḋe">
              <a:extLst>
                <a:ext uri="{FF2B5EF4-FFF2-40B4-BE49-F238E27FC236}">
                  <a16:creationId xmlns:a16="http://schemas.microsoft.com/office/drawing/2014/main" id="{9F0B9139-79D8-40B7-BCE5-0F5260467C22}"/>
                </a:ext>
              </a:extLst>
            </p:cNvPr>
            <p:cNvSpPr/>
            <p:nvPr/>
          </p:nvSpPr>
          <p:spPr bwMode="auto">
            <a:xfrm>
              <a:off x="5494338" y="1776413"/>
              <a:ext cx="185738" cy="311150"/>
            </a:xfrm>
            <a:custGeom>
              <a:avLst/>
              <a:gdLst>
                <a:gd name="T0" fmla="*/ 21 w 25"/>
                <a:gd name="T1" fmla="*/ 42 h 42"/>
                <a:gd name="T2" fmla="*/ 0 w 25"/>
                <a:gd name="T3" fmla="*/ 6 h 42"/>
                <a:gd name="T4" fmla="*/ 1 w 25"/>
                <a:gd name="T5" fmla="*/ 4 h 42"/>
                <a:gd name="T6" fmla="*/ 0 w 25"/>
                <a:gd name="T7" fmla="*/ 1 h 42"/>
                <a:gd name="T8" fmla="*/ 25 w 25"/>
                <a:gd name="T9" fmla="*/ 41 h 42"/>
                <a:gd name="T10" fmla="*/ 21 w 25"/>
                <a:gd name="T1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2">
                  <a:moveTo>
                    <a:pt x="21" y="42"/>
                  </a:moveTo>
                  <a:cubicBezTo>
                    <a:pt x="16" y="22"/>
                    <a:pt x="2" y="7"/>
                    <a:pt x="0" y="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20" y="21"/>
                    <a:pt x="25" y="41"/>
                  </a:cubicBezTo>
                  <a:lnTo>
                    <a:pt x="21" y="42"/>
                  </a:ln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iśḷiďe">
              <a:extLst>
                <a:ext uri="{FF2B5EF4-FFF2-40B4-BE49-F238E27FC236}">
                  <a16:creationId xmlns:a16="http://schemas.microsoft.com/office/drawing/2014/main" id="{B81F6E08-A280-4DE4-B5FD-F901580F4588}"/>
                </a:ext>
              </a:extLst>
            </p:cNvPr>
            <p:cNvSpPr/>
            <p:nvPr/>
          </p:nvSpPr>
          <p:spPr bwMode="auto">
            <a:xfrm>
              <a:off x="5680075" y="985838"/>
              <a:ext cx="415925" cy="1855788"/>
            </a:xfrm>
            <a:custGeom>
              <a:avLst/>
              <a:gdLst>
                <a:gd name="T0" fmla="*/ 28 w 56"/>
                <a:gd name="T1" fmla="*/ 0 h 251"/>
                <a:gd name="T2" fmla="*/ 29 w 56"/>
                <a:gd name="T3" fmla="*/ 4 h 251"/>
                <a:gd name="T4" fmla="*/ 35 w 56"/>
                <a:gd name="T5" fmla="*/ 228 h 251"/>
                <a:gd name="T6" fmla="*/ 28 w 56"/>
                <a:gd name="T7" fmla="*/ 251 h 251"/>
                <a:gd name="T8" fmla="*/ 21 w 56"/>
                <a:gd name="T9" fmla="*/ 225 h 251"/>
                <a:gd name="T10" fmla="*/ 28 w 56"/>
                <a:gd name="T11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251">
                  <a:moveTo>
                    <a:pt x="28" y="0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54" y="76"/>
                    <a:pt x="56" y="154"/>
                    <a:pt x="35" y="228"/>
                  </a:cubicBezTo>
                  <a:cubicBezTo>
                    <a:pt x="28" y="251"/>
                    <a:pt x="28" y="251"/>
                    <a:pt x="28" y="251"/>
                  </a:cubicBezTo>
                  <a:cubicBezTo>
                    <a:pt x="21" y="225"/>
                    <a:pt x="21" y="225"/>
                    <a:pt x="21" y="225"/>
                  </a:cubicBezTo>
                  <a:cubicBezTo>
                    <a:pt x="0" y="151"/>
                    <a:pt x="2" y="72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ïṥľïdê">
              <a:extLst>
                <a:ext uri="{FF2B5EF4-FFF2-40B4-BE49-F238E27FC236}">
                  <a16:creationId xmlns:a16="http://schemas.microsoft.com/office/drawing/2014/main" id="{0E513D6F-1011-4EA0-9C5E-CB84D61A8AF6}"/>
                </a:ext>
              </a:extLst>
            </p:cNvPr>
            <p:cNvSpPr/>
            <p:nvPr/>
          </p:nvSpPr>
          <p:spPr bwMode="auto">
            <a:xfrm>
              <a:off x="5657850" y="933450"/>
              <a:ext cx="452438" cy="1974850"/>
            </a:xfrm>
            <a:custGeom>
              <a:avLst/>
              <a:gdLst>
                <a:gd name="T0" fmla="*/ 31 w 61"/>
                <a:gd name="T1" fmla="*/ 267 h 267"/>
                <a:gd name="T2" fmla="*/ 21 w 61"/>
                <a:gd name="T3" fmla="*/ 233 h 267"/>
                <a:gd name="T4" fmla="*/ 29 w 61"/>
                <a:gd name="T5" fmla="*/ 6 h 267"/>
                <a:gd name="T6" fmla="*/ 31 w 61"/>
                <a:gd name="T7" fmla="*/ 0 h 267"/>
                <a:gd name="T8" fmla="*/ 34 w 61"/>
                <a:gd name="T9" fmla="*/ 10 h 267"/>
                <a:gd name="T10" fmla="*/ 40 w 61"/>
                <a:gd name="T11" fmla="*/ 235 h 267"/>
                <a:gd name="T12" fmla="*/ 31 w 61"/>
                <a:gd name="T13" fmla="*/ 267 h 267"/>
                <a:gd name="T14" fmla="*/ 31 w 61"/>
                <a:gd name="T15" fmla="*/ 14 h 267"/>
                <a:gd name="T16" fmla="*/ 26 w 61"/>
                <a:gd name="T17" fmla="*/ 231 h 267"/>
                <a:gd name="T18" fmla="*/ 31 w 61"/>
                <a:gd name="T19" fmla="*/ 250 h 267"/>
                <a:gd name="T20" fmla="*/ 35 w 61"/>
                <a:gd name="T21" fmla="*/ 234 h 267"/>
                <a:gd name="T22" fmla="*/ 31 w 61"/>
                <a:gd name="T23" fmla="*/ 14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1" h="267">
                  <a:moveTo>
                    <a:pt x="31" y="267"/>
                  </a:moveTo>
                  <a:cubicBezTo>
                    <a:pt x="21" y="233"/>
                    <a:pt x="21" y="233"/>
                    <a:pt x="21" y="233"/>
                  </a:cubicBezTo>
                  <a:cubicBezTo>
                    <a:pt x="0" y="158"/>
                    <a:pt x="3" y="79"/>
                    <a:pt x="29" y="6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59" y="83"/>
                    <a:pt x="61" y="161"/>
                    <a:pt x="40" y="235"/>
                  </a:cubicBezTo>
                  <a:lnTo>
                    <a:pt x="31" y="267"/>
                  </a:lnTo>
                  <a:close/>
                  <a:moveTo>
                    <a:pt x="31" y="14"/>
                  </a:moveTo>
                  <a:cubicBezTo>
                    <a:pt x="8" y="85"/>
                    <a:pt x="6" y="160"/>
                    <a:pt x="26" y="231"/>
                  </a:cubicBezTo>
                  <a:cubicBezTo>
                    <a:pt x="31" y="250"/>
                    <a:pt x="31" y="250"/>
                    <a:pt x="31" y="250"/>
                  </a:cubicBezTo>
                  <a:cubicBezTo>
                    <a:pt x="35" y="234"/>
                    <a:pt x="35" y="234"/>
                    <a:pt x="35" y="234"/>
                  </a:cubicBezTo>
                  <a:cubicBezTo>
                    <a:pt x="56" y="162"/>
                    <a:pt x="55" y="86"/>
                    <a:pt x="31" y="14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ïSlïḓè">
              <a:extLst>
                <a:ext uri="{FF2B5EF4-FFF2-40B4-BE49-F238E27FC236}">
                  <a16:creationId xmlns:a16="http://schemas.microsoft.com/office/drawing/2014/main" id="{A141649A-D54E-444F-8BAB-FD4E782A0D15}"/>
                </a:ext>
              </a:extLst>
            </p:cNvPr>
            <p:cNvSpPr/>
            <p:nvPr/>
          </p:nvSpPr>
          <p:spPr bwMode="auto">
            <a:xfrm>
              <a:off x="5873750" y="1206500"/>
              <a:ext cx="28575" cy="1635125"/>
            </a:xfrm>
            <a:prstGeom prst="rect">
              <a:avLst/>
            </a:pr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íśļîḑè">
              <a:extLst>
                <a:ext uri="{FF2B5EF4-FFF2-40B4-BE49-F238E27FC236}">
                  <a16:creationId xmlns:a16="http://schemas.microsoft.com/office/drawing/2014/main" id="{DA1EC57E-8FC1-486E-9A9A-2E884BE5FA9A}"/>
                </a:ext>
              </a:extLst>
            </p:cNvPr>
            <p:cNvSpPr/>
            <p:nvPr/>
          </p:nvSpPr>
          <p:spPr bwMode="auto">
            <a:xfrm>
              <a:off x="5873750" y="1954213"/>
              <a:ext cx="192088" cy="458788"/>
            </a:xfrm>
            <a:custGeom>
              <a:avLst/>
              <a:gdLst>
                <a:gd name="T0" fmla="*/ 4 w 26"/>
                <a:gd name="T1" fmla="*/ 62 h 62"/>
                <a:gd name="T2" fmla="*/ 0 w 26"/>
                <a:gd name="T3" fmla="*/ 59 h 62"/>
                <a:gd name="T4" fmla="*/ 21 w 26"/>
                <a:gd name="T5" fmla="*/ 0 h 62"/>
                <a:gd name="T6" fmla="*/ 26 w 26"/>
                <a:gd name="T7" fmla="*/ 0 h 62"/>
                <a:gd name="T8" fmla="*/ 4 w 2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62">
                  <a:moveTo>
                    <a:pt x="4" y="62"/>
                  </a:moveTo>
                  <a:cubicBezTo>
                    <a:pt x="0" y="59"/>
                    <a:pt x="0" y="59"/>
                    <a:pt x="0" y="59"/>
                  </a:cubicBezTo>
                  <a:cubicBezTo>
                    <a:pt x="20" y="41"/>
                    <a:pt x="21" y="0"/>
                    <a:pt x="2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2"/>
                    <a:pt x="25" y="43"/>
                    <a:pt x="4" y="62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2" name="ïṧľîḑé">
              <a:extLst>
                <a:ext uri="{FF2B5EF4-FFF2-40B4-BE49-F238E27FC236}">
                  <a16:creationId xmlns:a16="http://schemas.microsoft.com/office/drawing/2014/main" id="{7774FC2E-F99C-4CC9-949E-5931E0B944D7}"/>
                </a:ext>
              </a:extLst>
            </p:cNvPr>
            <p:cNvSpPr/>
            <p:nvPr/>
          </p:nvSpPr>
          <p:spPr bwMode="auto">
            <a:xfrm>
              <a:off x="5754688" y="1420813"/>
              <a:ext cx="147638" cy="436563"/>
            </a:xfrm>
            <a:custGeom>
              <a:avLst/>
              <a:gdLst>
                <a:gd name="T0" fmla="*/ 16 w 20"/>
                <a:gd name="T1" fmla="*/ 59 h 59"/>
                <a:gd name="T2" fmla="*/ 0 w 20"/>
                <a:gd name="T3" fmla="*/ 0 h 59"/>
                <a:gd name="T4" fmla="*/ 5 w 20"/>
                <a:gd name="T5" fmla="*/ 0 h 59"/>
                <a:gd name="T6" fmla="*/ 20 w 20"/>
                <a:gd name="T7" fmla="*/ 57 h 59"/>
                <a:gd name="T8" fmla="*/ 16 w 20"/>
                <a:gd name="T9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59">
                  <a:moveTo>
                    <a:pt x="16" y="59"/>
                  </a:moveTo>
                  <a:cubicBezTo>
                    <a:pt x="15" y="58"/>
                    <a:pt x="1" y="36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35"/>
                    <a:pt x="20" y="57"/>
                    <a:pt x="20" y="57"/>
                  </a:cubicBezTo>
                  <a:lnTo>
                    <a:pt x="16" y="59"/>
                  </a:ln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3" name="iṩḻïdê">
              <a:extLst>
                <a:ext uri="{FF2B5EF4-FFF2-40B4-BE49-F238E27FC236}">
                  <a16:creationId xmlns:a16="http://schemas.microsoft.com/office/drawing/2014/main" id="{0E4CB6CF-DDEA-4BA5-BF12-AFC22224C81E}"/>
                </a:ext>
              </a:extLst>
            </p:cNvPr>
            <p:cNvSpPr/>
            <p:nvPr/>
          </p:nvSpPr>
          <p:spPr bwMode="auto">
            <a:xfrm>
              <a:off x="5576888" y="3498850"/>
              <a:ext cx="1492250" cy="1574800"/>
            </a:xfrm>
            <a:custGeom>
              <a:avLst/>
              <a:gdLst>
                <a:gd name="T0" fmla="*/ 200 w 201"/>
                <a:gd name="T1" fmla="*/ 49 h 213"/>
                <a:gd name="T2" fmla="*/ 191 w 201"/>
                <a:gd name="T3" fmla="*/ 50 h 213"/>
                <a:gd name="T4" fmla="*/ 190 w 201"/>
                <a:gd name="T5" fmla="*/ 49 h 213"/>
                <a:gd name="T6" fmla="*/ 112 w 201"/>
                <a:gd name="T7" fmla="*/ 4 h 213"/>
                <a:gd name="T8" fmla="*/ 88 w 201"/>
                <a:gd name="T9" fmla="*/ 3 h 213"/>
                <a:gd name="T10" fmla="*/ 17 w 201"/>
                <a:gd name="T11" fmla="*/ 44 h 213"/>
                <a:gd name="T12" fmla="*/ 16 w 201"/>
                <a:gd name="T13" fmla="*/ 45 h 213"/>
                <a:gd name="T14" fmla="*/ 2 w 201"/>
                <a:gd name="T15" fmla="*/ 46 h 213"/>
                <a:gd name="T16" fmla="*/ 1 w 201"/>
                <a:gd name="T17" fmla="*/ 47 h 213"/>
                <a:gd name="T18" fmla="*/ 1 w 201"/>
                <a:gd name="T19" fmla="*/ 152 h 213"/>
                <a:gd name="T20" fmla="*/ 6 w 201"/>
                <a:gd name="T21" fmla="*/ 160 h 213"/>
                <a:gd name="T22" fmla="*/ 90 w 201"/>
                <a:gd name="T23" fmla="*/ 209 h 213"/>
                <a:gd name="T24" fmla="*/ 114 w 201"/>
                <a:gd name="T25" fmla="*/ 210 h 213"/>
                <a:gd name="T26" fmla="*/ 197 w 201"/>
                <a:gd name="T27" fmla="*/ 161 h 213"/>
                <a:gd name="T28" fmla="*/ 201 w 201"/>
                <a:gd name="T29" fmla="*/ 156 h 213"/>
                <a:gd name="T30" fmla="*/ 201 w 201"/>
                <a:gd name="T31" fmla="*/ 156 h 213"/>
                <a:gd name="T32" fmla="*/ 201 w 201"/>
                <a:gd name="T33" fmla="*/ 50 h 213"/>
                <a:gd name="T34" fmla="*/ 200 w 201"/>
                <a:gd name="T35" fmla="*/ 4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1" h="213">
                  <a:moveTo>
                    <a:pt x="200" y="49"/>
                  </a:moveTo>
                  <a:cubicBezTo>
                    <a:pt x="191" y="50"/>
                    <a:pt x="191" y="50"/>
                    <a:pt x="191" y="50"/>
                  </a:cubicBezTo>
                  <a:cubicBezTo>
                    <a:pt x="191" y="50"/>
                    <a:pt x="190" y="50"/>
                    <a:pt x="190" y="49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05" y="0"/>
                    <a:pt x="94" y="0"/>
                    <a:pt x="88" y="3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7" y="44"/>
                    <a:pt x="17" y="45"/>
                    <a:pt x="16" y="45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1" y="46"/>
                    <a:pt x="1" y="47"/>
                    <a:pt x="1" y="47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0" y="155"/>
                    <a:pt x="2" y="158"/>
                    <a:pt x="6" y="160"/>
                  </a:cubicBezTo>
                  <a:cubicBezTo>
                    <a:pt x="90" y="209"/>
                    <a:pt x="90" y="209"/>
                    <a:pt x="90" y="209"/>
                  </a:cubicBezTo>
                  <a:cubicBezTo>
                    <a:pt x="97" y="213"/>
                    <a:pt x="108" y="213"/>
                    <a:pt x="114" y="210"/>
                  </a:cubicBezTo>
                  <a:cubicBezTo>
                    <a:pt x="197" y="161"/>
                    <a:pt x="197" y="161"/>
                    <a:pt x="197" y="161"/>
                  </a:cubicBezTo>
                  <a:cubicBezTo>
                    <a:pt x="200" y="160"/>
                    <a:pt x="201" y="158"/>
                    <a:pt x="201" y="156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1" y="50"/>
                    <a:pt x="201" y="50"/>
                    <a:pt x="201" y="50"/>
                  </a:cubicBezTo>
                  <a:cubicBezTo>
                    <a:pt x="201" y="49"/>
                    <a:pt x="201" y="49"/>
                    <a:pt x="200" y="49"/>
                  </a:cubicBezTo>
                  <a:close/>
                </a:path>
              </a:pathLst>
            </a:cu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ïṥḷide">
              <a:extLst>
                <a:ext uri="{FF2B5EF4-FFF2-40B4-BE49-F238E27FC236}">
                  <a16:creationId xmlns:a16="http://schemas.microsoft.com/office/drawing/2014/main" id="{3812D67D-0689-4D92-BDA2-5196E677D992}"/>
                </a:ext>
              </a:extLst>
            </p:cNvPr>
            <p:cNvSpPr/>
            <p:nvPr/>
          </p:nvSpPr>
          <p:spPr bwMode="auto">
            <a:xfrm>
              <a:off x="5561013" y="3476625"/>
              <a:ext cx="1530350" cy="1604963"/>
            </a:xfrm>
            <a:custGeom>
              <a:avLst/>
              <a:gdLst>
                <a:gd name="T0" fmla="*/ 105 w 206"/>
                <a:gd name="T1" fmla="*/ 217 h 217"/>
                <a:gd name="T2" fmla="*/ 91 w 206"/>
                <a:gd name="T3" fmla="*/ 214 h 217"/>
                <a:gd name="T4" fmla="*/ 7 w 206"/>
                <a:gd name="T5" fmla="*/ 165 h 217"/>
                <a:gd name="T6" fmla="*/ 0 w 206"/>
                <a:gd name="T7" fmla="*/ 155 h 217"/>
                <a:gd name="T8" fmla="*/ 0 w 206"/>
                <a:gd name="T9" fmla="*/ 50 h 217"/>
                <a:gd name="T10" fmla="*/ 3 w 206"/>
                <a:gd name="T11" fmla="*/ 47 h 217"/>
                <a:gd name="T12" fmla="*/ 18 w 206"/>
                <a:gd name="T13" fmla="*/ 45 h 217"/>
                <a:gd name="T14" fmla="*/ 89 w 206"/>
                <a:gd name="T15" fmla="*/ 4 h 217"/>
                <a:gd name="T16" fmla="*/ 115 w 206"/>
                <a:gd name="T17" fmla="*/ 5 h 217"/>
                <a:gd name="T18" fmla="*/ 193 w 206"/>
                <a:gd name="T19" fmla="*/ 50 h 217"/>
                <a:gd name="T20" fmla="*/ 202 w 206"/>
                <a:gd name="T21" fmla="*/ 49 h 217"/>
                <a:gd name="T22" fmla="*/ 205 w 206"/>
                <a:gd name="T23" fmla="*/ 50 h 217"/>
                <a:gd name="T24" fmla="*/ 206 w 206"/>
                <a:gd name="T25" fmla="*/ 53 h 217"/>
                <a:gd name="T26" fmla="*/ 206 w 206"/>
                <a:gd name="T27" fmla="*/ 159 h 217"/>
                <a:gd name="T28" fmla="*/ 200 w 206"/>
                <a:gd name="T29" fmla="*/ 166 h 217"/>
                <a:gd name="T30" fmla="*/ 117 w 206"/>
                <a:gd name="T31" fmla="*/ 215 h 217"/>
                <a:gd name="T32" fmla="*/ 105 w 206"/>
                <a:gd name="T33" fmla="*/ 217 h 217"/>
                <a:gd name="T34" fmla="*/ 5 w 206"/>
                <a:gd name="T35" fmla="*/ 51 h 217"/>
                <a:gd name="T36" fmla="*/ 5 w 206"/>
                <a:gd name="T37" fmla="*/ 155 h 217"/>
                <a:gd name="T38" fmla="*/ 10 w 206"/>
                <a:gd name="T39" fmla="*/ 161 h 217"/>
                <a:gd name="T40" fmla="*/ 93 w 206"/>
                <a:gd name="T41" fmla="*/ 210 h 217"/>
                <a:gd name="T42" fmla="*/ 115 w 206"/>
                <a:gd name="T43" fmla="*/ 211 h 217"/>
                <a:gd name="T44" fmla="*/ 198 w 206"/>
                <a:gd name="T45" fmla="*/ 162 h 217"/>
                <a:gd name="T46" fmla="*/ 201 w 206"/>
                <a:gd name="T47" fmla="*/ 159 h 217"/>
                <a:gd name="T48" fmla="*/ 201 w 206"/>
                <a:gd name="T49" fmla="*/ 159 h 217"/>
                <a:gd name="T50" fmla="*/ 201 w 206"/>
                <a:gd name="T51" fmla="*/ 54 h 217"/>
                <a:gd name="T52" fmla="*/ 193 w 206"/>
                <a:gd name="T53" fmla="*/ 55 h 217"/>
                <a:gd name="T54" fmla="*/ 191 w 206"/>
                <a:gd name="T55" fmla="*/ 54 h 217"/>
                <a:gd name="T56" fmla="*/ 113 w 206"/>
                <a:gd name="T57" fmla="*/ 9 h 217"/>
                <a:gd name="T58" fmla="*/ 91 w 206"/>
                <a:gd name="T59" fmla="*/ 8 h 217"/>
                <a:gd name="T60" fmla="*/ 20 w 206"/>
                <a:gd name="T61" fmla="*/ 49 h 217"/>
                <a:gd name="T62" fmla="*/ 19 w 206"/>
                <a:gd name="T63" fmla="*/ 50 h 217"/>
                <a:gd name="T64" fmla="*/ 5 w 206"/>
                <a:gd name="T65" fmla="*/ 5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6" h="217">
                  <a:moveTo>
                    <a:pt x="105" y="217"/>
                  </a:moveTo>
                  <a:cubicBezTo>
                    <a:pt x="100" y="217"/>
                    <a:pt x="95" y="216"/>
                    <a:pt x="91" y="214"/>
                  </a:cubicBezTo>
                  <a:cubicBezTo>
                    <a:pt x="7" y="165"/>
                    <a:pt x="7" y="165"/>
                    <a:pt x="7" y="165"/>
                  </a:cubicBezTo>
                  <a:cubicBezTo>
                    <a:pt x="2" y="163"/>
                    <a:pt x="0" y="159"/>
                    <a:pt x="0" y="15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2" y="47"/>
                    <a:pt x="3" y="47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6" y="0"/>
                    <a:pt x="107" y="1"/>
                    <a:pt x="115" y="5"/>
                  </a:cubicBezTo>
                  <a:cubicBezTo>
                    <a:pt x="193" y="50"/>
                    <a:pt x="193" y="50"/>
                    <a:pt x="193" y="50"/>
                  </a:cubicBezTo>
                  <a:cubicBezTo>
                    <a:pt x="202" y="49"/>
                    <a:pt x="202" y="49"/>
                    <a:pt x="202" y="49"/>
                  </a:cubicBezTo>
                  <a:cubicBezTo>
                    <a:pt x="203" y="49"/>
                    <a:pt x="204" y="50"/>
                    <a:pt x="205" y="50"/>
                  </a:cubicBezTo>
                  <a:cubicBezTo>
                    <a:pt x="205" y="51"/>
                    <a:pt x="206" y="52"/>
                    <a:pt x="206" y="53"/>
                  </a:cubicBezTo>
                  <a:cubicBezTo>
                    <a:pt x="206" y="159"/>
                    <a:pt x="206" y="159"/>
                    <a:pt x="206" y="159"/>
                  </a:cubicBezTo>
                  <a:cubicBezTo>
                    <a:pt x="205" y="162"/>
                    <a:pt x="204" y="164"/>
                    <a:pt x="200" y="166"/>
                  </a:cubicBezTo>
                  <a:cubicBezTo>
                    <a:pt x="117" y="215"/>
                    <a:pt x="117" y="215"/>
                    <a:pt x="117" y="215"/>
                  </a:cubicBezTo>
                  <a:cubicBezTo>
                    <a:pt x="114" y="217"/>
                    <a:pt x="110" y="217"/>
                    <a:pt x="105" y="217"/>
                  </a:cubicBezTo>
                  <a:close/>
                  <a:moveTo>
                    <a:pt x="5" y="51"/>
                  </a:moveTo>
                  <a:cubicBezTo>
                    <a:pt x="5" y="155"/>
                    <a:pt x="5" y="155"/>
                    <a:pt x="5" y="155"/>
                  </a:cubicBezTo>
                  <a:cubicBezTo>
                    <a:pt x="5" y="157"/>
                    <a:pt x="6" y="160"/>
                    <a:pt x="10" y="161"/>
                  </a:cubicBezTo>
                  <a:cubicBezTo>
                    <a:pt x="93" y="210"/>
                    <a:pt x="93" y="210"/>
                    <a:pt x="93" y="210"/>
                  </a:cubicBezTo>
                  <a:cubicBezTo>
                    <a:pt x="99" y="213"/>
                    <a:pt x="109" y="214"/>
                    <a:pt x="115" y="211"/>
                  </a:cubicBezTo>
                  <a:cubicBezTo>
                    <a:pt x="198" y="162"/>
                    <a:pt x="198" y="162"/>
                    <a:pt x="198" y="162"/>
                  </a:cubicBezTo>
                  <a:cubicBezTo>
                    <a:pt x="200" y="161"/>
                    <a:pt x="201" y="160"/>
                    <a:pt x="201" y="159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1" y="54"/>
                    <a:pt x="201" y="54"/>
                    <a:pt x="201" y="54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2" y="55"/>
                    <a:pt x="192" y="55"/>
                    <a:pt x="191" y="54"/>
                  </a:cubicBezTo>
                  <a:cubicBezTo>
                    <a:pt x="113" y="9"/>
                    <a:pt x="113" y="9"/>
                    <a:pt x="113" y="9"/>
                  </a:cubicBezTo>
                  <a:cubicBezTo>
                    <a:pt x="106" y="6"/>
                    <a:pt x="97" y="5"/>
                    <a:pt x="91" y="8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50"/>
                    <a:pt x="19" y="50"/>
                    <a:pt x="19" y="50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5" name="íŝḷîḍè">
              <a:extLst>
                <a:ext uri="{FF2B5EF4-FFF2-40B4-BE49-F238E27FC236}">
                  <a16:creationId xmlns:a16="http://schemas.microsoft.com/office/drawing/2014/main" id="{4E30FE4B-1957-4232-A771-7D7E5ACD1E1F}"/>
                </a:ext>
              </a:extLst>
            </p:cNvPr>
            <p:cNvSpPr/>
            <p:nvPr/>
          </p:nvSpPr>
          <p:spPr bwMode="auto">
            <a:xfrm>
              <a:off x="6229350" y="3498850"/>
              <a:ext cx="839788" cy="1568450"/>
            </a:xfrm>
            <a:custGeom>
              <a:avLst/>
              <a:gdLst>
                <a:gd name="T0" fmla="*/ 112 w 113"/>
                <a:gd name="T1" fmla="*/ 49 h 212"/>
                <a:gd name="T2" fmla="*/ 103 w 113"/>
                <a:gd name="T3" fmla="*/ 50 h 212"/>
                <a:gd name="T4" fmla="*/ 102 w 113"/>
                <a:gd name="T5" fmla="*/ 49 h 212"/>
                <a:gd name="T6" fmla="*/ 24 w 113"/>
                <a:gd name="T7" fmla="*/ 4 h 212"/>
                <a:gd name="T8" fmla="*/ 0 w 113"/>
                <a:gd name="T9" fmla="*/ 3 h 212"/>
                <a:gd name="T10" fmla="*/ 16 w 113"/>
                <a:gd name="T11" fmla="*/ 71 h 212"/>
                <a:gd name="T12" fmla="*/ 15 w 113"/>
                <a:gd name="T13" fmla="*/ 212 h 212"/>
                <a:gd name="T14" fmla="*/ 26 w 113"/>
                <a:gd name="T15" fmla="*/ 210 h 212"/>
                <a:gd name="T16" fmla="*/ 109 w 113"/>
                <a:gd name="T17" fmla="*/ 161 h 212"/>
                <a:gd name="T18" fmla="*/ 113 w 113"/>
                <a:gd name="T19" fmla="*/ 156 h 212"/>
                <a:gd name="T20" fmla="*/ 113 w 113"/>
                <a:gd name="T21" fmla="*/ 156 h 212"/>
                <a:gd name="T22" fmla="*/ 113 w 113"/>
                <a:gd name="T23" fmla="*/ 50 h 212"/>
                <a:gd name="T24" fmla="*/ 112 w 113"/>
                <a:gd name="T25" fmla="*/ 49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3" h="212">
                  <a:moveTo>
                    <a:pt x="112" y="49"/>
                  </a:move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2" y="50"/>
                    <a:pt x="102" y="49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17" y="0"/>
                    <a:pt x="6" y="0"/>
                    <a:pt x="0" y="3"/>
                  </a:cubicBezTo>
                  <a:cubicBezTo>
                    <a:pt x="16" y="71"/>
                    <a:pt x="16" y="71"/>
                    <a:pt x="16" y="71"/>
                  </a:cubicBezTo>
                  <a:cubicBezTo>
                    <a:pt x="15" y="212"/>
                    <a:pt x="15" y="212"/>
                    <a:pt x="15" y="212"/>
                  </a:cubicBezTo>
                  <a:cubicBezTo>
                    <a:pt x="19" y="212"/>
                    <a:pt x="23" y="211"/>
                    <a:pt x="26" y="210"/>
                  </a:cubicBezTo>
                  <a:cubicBezTo>
                    <a:pt x="109" y="161"/>
                    <a:pt x="109" y="161"/>
                    <a:pt x="109" y="161"/>
                  </a:cubicBezTo>
                  <a:cubicBezTo>
                    <a:pt x="112" y="160"/>
                    <a:pt x="113" y="158"/>
                    <a:pt x="113" y="156"/>
                  </a:cubicBezTo>
                  <a:cubicBezTo>
                    <a:pt x="113" y="156"/>
                    <a:pt x="113" y="156"/>
                    <a:pt x="113" y="156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9"/>
                    <a:pt x="113" y="49"/>
                    <a:pt x="112" y="49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6" name="íşļïḑê">
              <a:extLst>
                <a:ext uri="{FF2B5EF4-FFF2-40B4-BE49-F238E27FC236}">
                  <a16:creationId xmlns:a16="http://schemas.microsoft.com/office/drawing/2014/main" id="{D690230F-054C-451C-BAD6-A5A19505695D}"/>
                </a:ext>
              </a:extLst>
            </p:cNvPr>
            <p:cNvSpPr/>
            <p:nvPr/>
          </p:nvSpPr>
          <p:spPr bwMode="auto">
            <a:xfrm>
              <a:off x="5561013" y="3417888"/>
              <a:ext cx="1524000" cy="873125"/>
            </a:xfrm>
            <a:custGeom>
              <a:avLst/>
              <a:gdLst>
                <a:gd name="T0" fmla="*/ 199 w 205"/>
                <a:gd name="T1" fmla="*/ 67 h 118"/>
                <a:gd name="T2" fmla="*/ 116 w 205"/>
                <a:gd name="T3" fmla="*/ 115 h 118"/>
                <a:gd name="T4" fmla="*/ 92 w 205"/>
                <a:gd name="T5" fmla="*/ 114 h 118"/>
                <a:gd name="T6" fmla="*/ 8 w 205"/>
                <a:gd name="T7" fmla="*/ 66 h 118"/>
                <a:gd name="T8" fmla="*/ 7 w 205"/>
                <a:gd name="T9" fmla="*/ 52 h 118"/>
                <a:gd name="T10" fmla="*/ 90 w 205"/>
                <a:gd name="T11" fmla="*/ 3 h 118"/>
                <a:gd name="T12" fmla="*/ 114 w 205"/>
                <a:gd name="T13" fmla="*/ 4 h 118"/>
                <a:gd name="T14" fmla="*/ 198 w 205"/>
                <a:gd name="T15" fmla="*/ 53 h 118"/>
                <a:gd name="T16" fmla="*/ 199 w 205"/>
                <a:gd name="T17" fmla="*/ 6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5" h="118">
                  <a:moveTo>
                    <a:pt x="199" y="67"/>
                  </a:moveTo>
                  <a:cubicBezTo>
                    <a:pt x="116" y="115"/>
                    <a:pt x="116" y="115"/>
                    <a:pt x="116" y="115"/>
                  </a:cubicBezTo>
                  <a:cubicBezTo>
                    <a:pt x="110" y="118"/>
                    <a:pt x="99" y="118"/>
                    <a:pt x="92" y="114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1" y="62"/>
                    <a:pt x="0" y="55"/>
                    <a:pt x="7" y="52"/>
                  </a:cubicBezTo>
                  <a:cubicBezTo>
                    <a:pt x="90" y="3"/>
                    <a:pt x="90" y="3"/>
                    <a:pt x="90" y="3"/>
                  </a:cubicBezTo>
                  <a:cubicBezTo>
                    <a:pt x="96" y="0"/>
                    <a:pt x="107" y="0"/>
                    <a:pt x="114" y="4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205" y="57"/>
                    <a:pt x="205" y="63"/>
                    <a:pt x="199" y="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7" name="îṣḷíde">
              <a:extLst>
                <a:ext uri="{FF2B5EF4-FFF2-40B4-BE49-F238E27FC236}">
                  <a16:creationId xmlns:a16="http://schemas.microsoft.com/office/drawing/2014/main" id="{C8667FF3-A477-4F36-9221-5CFB5F38FDE3}"/>
                </a:ext>
              </a:extLst>
            </p:cNvPr>
            <p:cNvSpPr/>
            <p:nvPr/>
          </p:nvSpPr>
          <p:spPr bwMode="auto">
            <a:xfrm>
              <a:off x="5561013" y="3395663"/>
              <a:ext cx="1530350" cy="909638"/>
            </a:xfrm>
            <a:custGeom>
              <a:avLst/>
              <a:gdLst>
                <a:gd name="T0" fmla="*/ 105 w 206"/>
                <a:gd name="T1" fmla="*/ 123 h 123"/>
                <a:gd name="T2" fmla="*/ 91 w 206"/>
                <a:gd name="T3" fmla="*/ 119 h 123"/>
                <a:gd name="T4" fmla="*/ 7 w 206"/>
                <a:gd name="T5" fmla="*/ 71 h 123"/>
                <a:gd name="T6" fmla="*/ 0 w 206"/>
                <a:gd name="T7" fmla="*/ 61 h 123"/>
                <a:gd name="T8" fmla="*/ 5 w 206"/>
                <a:gd name="T9" fmla="*/ 53 h 123"/>
                <a:gd name="T10" fmla="*/ 89 w 206"/>
                <a:gd name="T11" fmla="*/ 4 h 123"/>
                <a:gd name="T12" fmla="*/ 115 w 206"/>
                <a:gd name="T13" fmla="*/ 5 h 123"/>
                <a:gd name="T14" fmla="*/ 199 w 206"/>
                <a:gd name="T15" fmla="*/ 54 h 123"/>
                <a:gd name="T16" fmla="*/ 206 w 206"/>
                <a:gd name="T17" fmla="*/ 64 h 123"/>
                <a:gd name="T18" fmla="*/ 200 w 206"/>
                <a:gd name="T19" fmla="*/ 72 h 123"/>
                <a:gd name="T20" fmla="*/ 117 w 206"/>
                <a:gd name="T21" fmla="*/ 120 h 123"/>
                <a:gd name="T22" fmla="*/ 105 w 206"/>
                <a:gd name="T23" fmla="*/ 123 h 123"/>
                <a:gd name="T24" fmla="*/ 100 w 206"/>
                <a:gd name="T25" fmla="*/ 6 h 123"/>
                <a:gd name="T26" fmla="*/ 91 w 206"/>
                <a:gd name="T27" fmla="*/ 9 h 123"/>
                <a:gd name="T28" fmla="*/ 8 w 206"/>
                <a:gd name="T29" fmla="*/ 57 h 123"/>
                <a:gd name="T30" fmla="*/ 5 w 206"/>
                <a:gd name="T31" fmla="*/ 61 h 123"/>
                <a:gd name="T32" fmla="*/ 10 w 206"/>
                <a:gd name="T33" fmla="*/ 67 h 123"/>
                <a:gd name="T34" fmla="*/ 93 w 206"/>
                <a:gd name="T35" fmla="*/ 115 h 123"/>
                <a:gd name="T36" fmla="*/ 115 w 206"/>
                <a:gd name="T37" fmla="*/ 116 h 123"/>
                <a:gd name="T38" fmla="*/ 198 w 206"/>
                <a:gd name="T39" fmla="*/ 68 h 123"/>
                <a:gd name="T40" fmla="*/ 201 w 206"/>
                <a:gd name="T41" fmla="*/ 64 h 123"/>
                <a:gd name="T42" fmla="*/ 196 w 206"/>
                <a:gd name="T43" fmla="*/ 58 h 123"/>
                <a:gd name="T44" fmla="*/ 113 w 206"/>
                <a:gd name="T45" fmla="*/ 10 h 123"/>
                <a:gd name="T46" fmla="*/ 100 w 206"/>
                <a:gd name="T47" fmla="*/ 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6" h="123">
                  <a:moveTo>
                    <a:pt x="105" y="123"/>
                  </a:moveTo>
                  <a:cubicBezTo>
                    <a:pt x="100" y="123"/>
                    <a:pt x="95" y="121"/>
                    <a:pt x="91" y="119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3" y="68"/>
                    <a:pt x="0" y="64"/>
                    <a:pt x="0" y="61"/>
                  </a:cubicBezTo>
                  <a:cubicBezTo>
                    <a:pt x="0" y="58"/>
                    <a:pt x="2" y="55"/>
                    <a:pt x="5" y="53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6" y="0"/>
                    <a:pt x="107" y="1"/>
                    <a:pt x="115" y="5"/>
                  </a:cubicBezTo>
                  <a:cubicBezTo>
                    <a:pt x="199" y="54"/>
                    <a:pt x="199" y="54"/>
                    <a:pt x="199" y="54"/>
                  </a:cubicBezTo>
                  <a:cubicBezTo>
                    <a:pt x="203" y="56"/>
                    <a:pt x="206" y="60"/>
                    <a:pt x="206" y="64"/>
                  </a:cubicBezTo>
                  <a:cubicBezTo>
                    <a:pt x="206" y="67"/>
                    <a:pt x="204" y="70"/>
                    <a:pt x="200" y="72"/>
                  </a:cubicBezTo>
                  <a:cubicBezTo>
                    <a:pt x="117" y="120"/>
                    <a:pt x="117" y="120"/>
                    <a:pt x="117" y="120"/>
                  </a:cubicBezTo>
                  <a:cubicBezTo>
                    <a:pt x="114" y="122"/>
                    <a:pt x="110" y="123"/>
                    <a:pt x="105" y="123"/>
                  </a:cubicBezTo>
                  <a:close/>
                  <a:moveTo>
                    <a:pt x="100" y="6"/>
                  </a:moveTo>
                  <a:cubicBezTo>
                    <a:pt x="97" y="6"/>
                    <a:pt x="94" y="7"/>
                    <a:pt x="91" y="9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6" y="58"/>
                    <a:pt x="5" y="59"/>
                    <a:pt x="5" y="61"/>
                  </a:cubicBezTo>
                  <a:cubicBezTo>
                    <a:pt x="5" y="63"/>
                    <a:pt x="7" y="65"/>
                    <a:pt x="10" y="67"/>
                  </a:cubicBezTo>
                  <a:cubicBezTo>
                    <a:pt x="93" y="115"/>
                    <a:pt x="93" y="115"/>
                    <a:pt x="93" y="115"/>
                  </a:cubicBezTo>
                  <a:cubicBezTo>
                    <a:pt x="99" y="119"/>
                    <a:pt x="109" y="119"/>
                    <a:pt x="115" y="116"/>
                  </a:cubicBezTo>
                  <a:cubicBezTo>
                    <a:pt x="198" y="68"/>
                    <a:pt x="198" y="68"/>
                    <a:pt x="198" y="68"/>
                  </a:cubicBezTo>
                  <a:cubicBezTo>
                    <a:pt x="199" y="67"/>
                    <a:pt x="201" y="66"/>
                    <a:pt x="201" y="64"/>
                  </a:cubicBezTo>
                  <a:cubicBezTo>
                    <a:pt x="201" y="62"/>
                    <a:pt x="199" y="60"/>
                    <a:pt x="196" y="58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09" y="8"/>
                    <a:pt x="105" y="6"/>
                    <a:pt x="100" y="6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8" name="î$ḻïḓé">
              <a:extLst>
                <a:ext uri="{FF2B5EF4-FFF2-40B4-BE49-F238E27FC236}">
                  <a16:creationId xmlns:a16="http://schemas.microsoft.com/office/drawing/2014/main" id="{6FE75001-0A1D-4031-BC07-3E9832617BA5}"/>
                </a:ext>
              </a:extLst>
            </p:cNvPr>
            <p:cNvSpPr/>
            <p:nvPr/>
          </p:nvSpPr>
          <p:spPr bwMode="auto">
            <a:xfrm>
              <a:off x="6415088" y="4283075"/>
              <a:ext cx="30163" cy="746125"/>
            </a:xfrm>
            <a:prstGeom prst="rect">
              <a:avLst/>
            </a:pr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9" name="ï$ḻíďe">
              <a:extLst>
                <a:ext uri="{FF2B5EF4-FFF2-40B4-BE49-F238E27FC236}">
                  <a16:creationId xmlns:a16="http://schemas.microsoft.com/office/drawing/2014/main" id="{42B3959D-FB02-4B42-822F-9CD024ADF536}"/>
                </a:ext>
              </a:extLst>
            </p:cNvPr>
            <p:cNvSpPr/>
            <p:nvPr/>
          </p:nvSpPr>
          <p:spPr bwMode="auto">
            <a:xfrm>
              <a:off x="6972300" y="3971925"/>
              <a:ext cx="22225" cy="747713"/>
            </a:xfrm>
            <a:prstGeom prst="rect">
              <a:avLst/>
            </a:pr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0" name="îślídê">
              <a:extLst>
                <a:ext uri="{FF2B5EF4-FFF2-40B4-BE49-F238E27FC236}">
                  <a16:creationId xmlns:a16="http://schemas.microsoft.com/office/drawing/2014/main" id="{FF4DBBEF-EB9D-4A98-9694-3FE735F072F9}"/>
                </a:ext>
              </a:extLst>
            </p:cNvPr>
            <p:cNvSpPr/>
            <p:nvPr/>
          </p:nvSpPr>
          <p:spPr bwMode="auto">
            <a:xfrm>
              <a:off x="5710238" y="3965575"/>
              <a:ext cx="36513" cy="782638"/>
            </a:xfrm>
            <a:prstGeom prst="rect">
              <a:avLst/>
            </a:pr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1" name="îśľiḋé">
              <a:extLst>
                <a:ext uri="{FF2B5EF4-FFF2-40B4-BE49-F238E27FC236}">
                  <a16:creationId xmlns:a16="http://schemas.microsoft.com/office/drawing/2014/main" id="{28C8FF12-EFE9-4802-99D0-8B249BCB9CF0}"/>
                </a:ext>
              </a:extLst>
            </p:cNvPr>
            <p:cNvSpPr/>
            <p:nvPr/>
          </p:nvSpPr>
          <p:spPr bwMode="auto">
            <a:xfrm>
              <a:off x="6200775" y="4246563"/>
              <a:ext cx="36513" cy="782638"/>
            </a:xfrm>
            <a:prstGeom prst="rect">
              <a:avLst/>
            </a:pr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2" name="i$ḻïḋè">
              <a:extLst>
                <a:ext uri="{FF2B5EF4-FFF2-40B4-BE49-F238E27FC236}">
                  <a16:creationId xmlns:a16="http://schemas.microsoft.com/office/drawing/2014/main" id="{448E3DD1-FC71-4306-BF88-FDC7E4835B39}"/>
                </a:ext>
              </a:extLst>
            </p:cNvPr>
            <p:cNvSpPr/>
            <p:nvPr/>
          </p:nvSpPr>
          <p:spPr bwMode="auto">
            <a:xfrm>
              <a:off x="5449888" y="3062288"/>
              <a:ext cx="1752600" cy="1331913"/>
            </a:xfrm>
            <a:custGeom>
              <a:avLst/>
              <a:gdLst>
                <a:gd name="T0" fmla="*/ 234 w 236"/>
                <a:gd name="T1" fmla="*/ 58 h 180"/>
                <a:gd name="T2" fmla="*/ 224 w 236"/>
                <a:gd name="T3" fmla="*/ 59 h 180"/>
                <a:gd name="T4" fmla="*/ 223 w 236"/>
                <a:gd name="T5" fmla="*/ 58 h 180"/>
                <a:gd name="T6" fmla="*/ 131 w 236"/>
                <a:gd name="T7" fmla="*/ 5 h 180"/>
                <a:gd name="T8" fmla="*/ 103 w 236"/>
                <a:gd name="T9" fmla="*/ 4 h 180"/>
                <a:gd name="T10" fmla="*/ 19 w 236"/>
                <a:gd name="T11" fmla="*/ 52 h 180"/>
                <a:gd name="T12" fmla="*/ 19 w 236"/>
                <a:gd name="T13" fmla="*/ 53 h 180"/>
                <a:gd name="T14" fmla="*/ 1 w 236"/>
                <a:gd name="T15" fmla="*/ 55 h 180"/>
                <a:gd name="T16" fmla="*/ 0 w 236"/>
                <a:gd name="T17" fmla="*/ 56 h 180"/>
                <a:gd name="T18" fmla="*/ 0 w 236"/>
                <a:gd name="T19" fmla="*/ 108 h 180"/>
                <a:gd name="T20" fmla="*/ 7 w 236"/>
                <a:gd name="T21" fmla="*/ 118 h 180"/>
                <a:gd name="T22" fmla="*/ 105 w 236"/>
                <a:gd name="T23" fmla="*/ 175 h 180"/>
                <a:gd name="T24" fmla="*/ 133 w 236"/>
                <a:gd name="T25" fmla="*/ 176 h 180"/>
                <a:gd name="T26" fmla="*/ 231 w 236"/>
                <a:gd name="T27" fmla="*/ 119 h 180"/>
                <a:gd name="T28" fmla="*/ 236 w 236"/>
                <a:gd name="T29" fmla="*/ 113 h 180"/>
                <a:gd name="T30" fmla="*/ 236 w 236"/>
                <a:gd name="T31" fmla="*/ 112 h 180"/>
                <a:gd name="T32" fmla="*/ 236 w 236"/>
                <a:gd name="T33" fmla="*/ 59 h 180"/>
                <a:gd name="T34" fmla="*/ 234 w 236"/>
                <a:gd name="T35" fmla="*/ 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6" h="180">
                  <a:moveTo>
                    <a:pt x="234" y="58"/>
                  </a:moveTo>
                  <a:cubicBezTo>
                    <a:pt x="224" y="59"/>
                    <a:pt x="224" y="59"/>
                    <a:pt x="224" y="59"/>
                  </a:cubicBezTo>
                  <a:cubicBezTo>
                    <a:pt x="223" y="59"/>
                    <a:pt x="223" y="59"/>
                    <a:pt x="223" y="58"/>
                  </a:cubicBezTo>
                  <a:cubicBezTo>
                    <a:pt x="131" y="5"/>
                    <a:pt x="131" y="5"/>
                    <a:pt x="131" y="5"/>
                  </a:cubicBezTo>
                  <a:cubicBezTo>
                    <a:pt x="123" y="0"/>
                    <a:pt x="110" y="0"/>
                    <a:pt x="103" y="4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5"/>
                    <a:pt x="0" y="55"/>
                    <a:pt x="0" y="56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2"/>
                    <a:pt x="2" y="115"/>
                    <a:pt x="7" y="118"/>
                  </a:cubicBezTo>
                  <a:cubicBezTo>
                    <a:pt x="105" y="175"/>
                    <a:pt x="105" y="175"/>
                    <a:pt x="105" y="175"/>
                  </a:cubicBezTo>
                  <a:cubicBezTo>
                    <a:pt x="113" y="180"/>
                    <a:pt x="126" y="180"/>
                    <a:pt x="133" y="176"/>
                  </a:cubicBezTo>
                  <a:cubicBezTo>
                    <a:pt x="231" y="119"/>
                    <a:pt x="231" y="119"/>
                    <a:pt x="231" y="119"/>
                  </a:cubicBezTo>
                  <a:cubicBezTo>
                    <a:pt x="234" y="118"/>
                    <a:pt x="235" y="116"/>
                    <a:pt x="236" y="113"/>
                  </a:cubicBezTo>
                  <a:cubicBezTo>
                    <a:pt x="236" y="112"/>
                    <a:pt x="236" y="112"/>
                    <a:pt x="236" y="112"/>
                  </a:cubicBezTo>
                  <a:cubicBezTo>
                    <a:pt x="236" y="59"/>
                    <a:pt x="236" y="59"/>
                    <a:pt x="236" y="59"/>
                  </a:cubicBezTo>
                  <a:cubicBezTo>
                    <a:pt x="236" y="58"/>
                    <a:pt x="235" y="58"/>
                    <a:pt x="234" y="58"/>
                  </a:cubicBezTo>
                  <a:close/>
                </a:path>
              </a:pathLst>
            </a:cu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" name="iṥľîḑê">
              <a:extLst>
                <a:ext uri="{FF2B5EF4-FFF2-40B4-BE49-F238E27FC236}">
                  <a16:creationId xmlns:a16="http://schemas.microsoft.com/office/drawing/2014/main" id="{3DA95C06-81F0-402F-8B36-37C016E6F401}"/>
                </a:ext>
              </a:extLst>
            </p:cNvPr>
            <p:cNvSpPr/>
            <p:nvPr/>
          </p:nvSpPr>
          <p:spPr bwMode="auto">
            <a:xfrm>
              <a:off x="5427663" y="3041650"/>
              <a:ext cx="1790700" cy="1360488"/>
            </a:xfrm>
            <a:custGeom>
              <a:avLst/>
              <a:gdLst>
                <a:gd name="T0" fmla="*/ 124 w 241"/>
                <a:gd name="T1" fmla="*/ 184 h 184"/>
                <a:gd name="T2" fmla="*/ 107 w 241"/>
                <a:gd name="T3" fmla="*/ 180 h 184"/>
                <a:gd name="T4" fmla="*/ 9 w 241"/>
                <a:gd name="T5" fmla="*/ 123 h 184"/>
                <a:gd name="T6" fmla="*/ 1 w 241"/>
                <a:gd name="T7" fmla="*/ 111 h 184"/>
                <a:gd name="T8" fmla="*/ 1 w 241"/>
                <a:gd name="T9" fmla="*/ 59 h 184"/>
                <a:gd name="T10" fmla="*/ 4 w 241"/>
                <a:gd name="T11" fmla="*/ 55 h 184"/>
                <a:gd name="T12" fmla="*/ 21 w 241"/>
                <a:gd name="T13" fmla="*/ 53 h 184"/>
                <a:gd name="T14" fmla="*/ 104 w 241"/>
                <a:gd name="T15" fmla="*/ 5 h 184"/>
                <a:gd name="T16" fmla="*/ 135 w 241"/>
                <a:gd name="T17" fmla="*/ 6 h 184"/>
                <a:gd name="T18" fmla="*/ 227 w 241"/>
                <a:gd name="T19" fmla="*/ 59 h 184"/>
                <a:gd name="T20" fmla="*/ 237 w 241"/>
                <a:gd name="T21" fmla="*/ 58 h 184"/>
                <a:gd name="T22" fmla="*/ 240 w 241"/>
                <a:gd name="T23" fmla="*/ 59 h 184"/>
                <a:gd name="T24" fmla="*/ 241 w 241"/>
                <a:gd name="T25" fmla="*/ 62 h 184"/>
                <a:gd name="T26" fmla="*/ 241 w 241"/>
                <a:gd name="T27" fmla="*/ 116 h 184"/>
                <a:gd name="T28" fmla="*/ 235 w 241"/>
                <a:gd name="T29" fmla="*/ 124 h 184"/>
                <a:gd name="T30" fmla="*/ 137 w 241"/>
                <a:gd name="T31" fmla="*/ 181 h 184"/>
                <a:gd name="T32" fmla="*/ 124 w 241"/>
                <a:gd name="T33" fmla="*/ 184 h 184"/>
                <a:gd name="T34" fmla="*/ 5 w 241"/>
                <a:gd name="T35" fmla="*/ 60 h 184"/>
                <a:gd name="T36" fmla="*/ 5 w 241"/>
                <a:gd name="T37" fmla="*/ 111 h 184"/>
                <a:gd name="T38" fmla="*/ 11 w 241"/>
                <a:gd name="T39" fmla="*/ 119 h 184"/>
                <a:gd name="T40" fmla="*/ 109 w 241"/>
                <a:gd name="T41" fmla="*/ 176 h 184"/>
                <a:gd name="T42" fmla="*/ 135 w 241"/>
                <a:gd name="T43" fmla="*/ 177 h 184"/>
                <a:gd name="T44" fmla="*/ 233 w 241"/>
                <a:gd name="T45" fmla="*/ 120 h 184"/>
                <a:gd name="T46" fmla="*/ 236 w 241"/>
                <a:gd name="T47" fmla="*/ 116 h 184"/>
                <a:gd name="T48" fmla="*/ 236 w 241"/>
                <a:gd name="T49" fmla="*/ 115 h 184"/>
                <a:gd name="T50" fmla="*/ 236 w 241"/>
                <a:gd name="T51" fmla="*/ 63 h 184"/>
                <a:gd name="T52" fmla="*/ 227 w 241"/>
                <a:gd name="T53" fmla="*/ 64 h 184"/>
                <a:gd name="T54" fmla="*/ 225 w 241"/>
                <a:gd name="T55" fmla="*/ 63 h 184"/>
                <a:gd name="T56" fmla="*/ 133 w 241"/>
                <a:gd name="T57" fmla="*/ 10 h 184"/>
                <a:gd name="T58" fmla="*/ 107 w 241"/>
                <a:gd name="T59" fmla="*/ 9 h 184"/>
                <a:gd name="T60" fmla="*/ 23 w 241"/>
                <a:gd name="T61" fmla="*/ 58 h 184"/>
                <a:gd name="T62" fmla="*/ 22 w 241"/>
                <a:gd name="T63" fmla="*/ 58 h 184"/>
                <a:gd name="T64" fmla="*/ 5 w 241"/>
                <a:gd name="T65" fmla="*/ 6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1" h="184">
                  <a:moveTo>
                    <a:pt x="124" y="184"/>
                  </a:moveTo>
                  <a:cubicBezTo>
                    <a:pt x="118" y="184"/>
                    <a:pt x="112" y="183"/>
                    <a:pt x="107" y="180"/>
                  </a:cubicBezTo>
                  <a:cubicBezTo>
                    <a:pt x="9" y="123"/>
                    <a:pt x="9" y="123"/>
                    <a:pt x="9" y="123"/>
                  </a:cubicBezTo>
                  <a:cubicBezTo>
                    <a:pt x="3" y="120"/>
                    <a:pt x="0" y="115"/>
                    <a:pt x="1" y="111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1" y="57"/>
                    <a:pt x="2" y="55"/>
                    <a:pt x="4" y="55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12" y="0"/>
                    <a:pt x="126" y="1"/>
                    <a:pt x="135" y="6"/>
                  </a:cubicBezTo>
                  <a:cubicBezTo>
                    <a:pt x="227" y="59"/>
                    <a:pt x="227" y="59"/>
                    <a:pt x="227" y="59"/>
                  </a:cubicBezTo>
                  <a:cubicBezTo>
                    <a:pt x="237" y="58"/>
                    <a:pt x="237" y="58"/>
                    <a:pt x="237" y="58"/>
                  </a:cubicBezTo>
                  <a:cubicBezTo>
                    <a:pt x="238" y="58"/>
                    <a:pt x="239" y="59"/>
                    <a:pt x="240" y="59"/>
                  </a:cubicBezTo>
                  <a:cubicBezTo>
                    <a:pt x="241" y="60"/>
                    <a:pt x="241" y="61"/>
                    <a:pt x="241" y="62"/>
                  </a:cubicBezTo>
                  <a:cubicBezTo>
                    <a:pt x="241" y="116"/>
                    <a:pt x="241" y="116"/>
                    <a:pt x="241" y="116"/>
                  </a:cubicBezTo>
                  <a:cubicBezTo>
                    <a:pt x="241" y="119"/>
                    <a:pt x="239" y="122"/>
                    <a:pt x="235" y="124"/>
                  </a:cubicBezTo>
                  <a:cubicBezTo>
                    <a:pt x="137" y="181"/>
                    <a:pt x="137" y="181"/>
                    <a:pt x="137" y="181"/>
                  </a:cubicBezTo>
                  <a:cubicBezTo>
                    <a:pt x="134" y="183"/>
                    <a:pt x="129" y="184"/>
                    <a:pt x="124" y="184"/>
                  </a:cubicBezTo>
                  <a:close/>
                  <a:moveTo>
                    <a:pt x="5" y="60"/>
                  </a:moveTo>
                  <a:cubicBezTo>
                    <a:pt x="5" y="111"/>
                    <a:pt x="5" y="111"/>
                    <a:pt x="5" y="111"/>
                  </a:cubicBezTo>
                  <a:cubicBezTo>
                    <a:pt x="5" y="114"/>
                    <a:pt x="7" y="117"/>
                    <a:pt x="11" y="119"/>
                  </a:cubicBezTo>
                  <a:cubicBezTo>
                    <a:pt x="109" y="176"/>
                    <a:pt x="109" y="176"/>
                    <a:pt x="109" y="176"/>
                  </a:cubicBezTo>
                  <a:cubicBezTo>
                    <a:pt x="117" y="180"/>
                    <a:pt x="129" y="181"/>
                    <a:pt x="135" y="177"/>
                  </a:cubicBezTo>
                  <a:cubicBezTo>
                    <a:pt x="233" y="120"/>
                    <a:pt x="233" y="120"/>
                    <a:pt x="233" y="120"/>
                  </a:cubicBezTo>
                  <a:cubicBezTo>
                    <a:pt x="235" y="119"/>
                    <a:pt x="236" y="118"/>
                    <a:pt x="236" y="116"/>
                  </a:cubicBezTo>
                  <a:cubicBezTo>
                    <a:pt x="236" y="115"/>
                    <a:pt x="236" y="115"/>
                    <a:pt x="236" y="115"/>
                  </a:cubicBezTo>
                  <a:cubicBezTo>
                    <a:pt x="236" y="63"/>
                    <a:pt x="236" y="63"/>
                    <a:pt x="236" y="63"/>
                  </a:cubicBezTo>
                  <a:cubicBezTo>
                    <a:pt x="227" y="64"/>
                    <a:pt x="227" y="64"/>
                    <a:pt x="227" y="64"/>
                  </a:cubicBezTo>
                  <a:cubicBezTo>
                    <a:pt x="226" y="64"/>
                    <a:pt x="225" y="64"/>
                    <a:pt x="225" y="63"/>
                  </a:cubicBezTo>
                  <a:cubicBezTo>
                    <a:pt x="133" y="10"/>
                    <a:pt x="133" y="10"/>
                    <a:pt x="133" y="10"/>
                  </a:cubicBezTo>
                  <a:cubicBezTo>
                    <a:pt x="125" y="6"/>
                    <a:pt x="113" y="5"/>
                    <a:pt x="107" y="9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3" y="58"/>
                    <a:pt x="22" y="58"/>
                    <a:pt x="22" y="58"/>
                  </a:cubicBezTo>
                  <a:lnTo>
                    <a:pt x="5" y="60"/>
                  </a:ln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4" name="iṥḻiḑe">
              <a:extLst>
                <a:ext uri="{FF2B5EF4-FFF2-40B4-BE49-F238E27FC236}">
                  <a16:creationId xmlns:a16="http://schemas.microsoft.com/office/drawing/2014/main" id="{8838C394-D06A-41EE-8ACD-91DFDBAE0B08}"/>
                </a:ext>
              </a:extLst>
            </p:cNvPr>
            <p:cNvSpPr/>
            <p:nvPr/>
          </p:nvSpPr>
          <p:spPr bwMode="auto">
            <a:xfrm>
              <a:off x="6215063" y="3062288"/>
              <a:ext cx="987425" cy="1323975"/>
            </a:xfrm>
            <a:custGeom>
              <a:avLst/>
              <a:gdLst>
                <a:gd name="T0" fmla="*/ 131 w 133"/>
                <a:gd name="T1" fmla="*/ 58 h 179"/>
                <a:gd name="T2" fmla="*/ 121 w 133"/>
                <a:gd name="T3" fmla="*/ 59 h 179"/>
                <a:gd name="T4" fmla="*/ 120 w 133"/>
                <a:gd name="T5" fmla="*/ 58 h 179"/>
                <a:gd name="T6" fmla="*/ 28 w 133"/>
                <a:gd name="T7" fmla="*/ 5 h 179"/>
                <a:gd name="T8" fmla="*/ 0 w 133"/>
                <a:gd name="T9" fmla="*/ 4 h 179"/>
                <a:gd name="T10" fmla="*/ 18 w 133"/>
                <a:gd name="T11" fmla="*/ 83 h 179"/>
                <a:gd name="T12" fmla="*/ 18 w 133"/>
                <a:gd name="T13" fmla="*/ 179 h 179"/>
                <a:gd name="T14" fmla="*/ 30 w 133"/>
                <a:gd name="T15" fmla="*/ 176 h 179"/>
                <a:gd name="T16" fmla="*/ 128 w 133"/>
                <a:gd name="T17" fmla="*/ 119 h 179"/>
                <a:gd name="T18" fmla="*/ 133 w 133"/>
                <a:gd name="T19" fmla="*/ 113 h 179"/>
                <a:gd name="T20" fmla="*/ 133 w 133"/>
                <a:gd name="T21" fmla="*/ 113 h 179"/>
                <a:gd name="T22" fmla="*/ 133 w 133"/>
                <a:gd name="T23" fmla="*/ 59 h 179"/>
                <a:gd name="T24" fmla="*/ 131 w 133"/>
                <a:gd name="T25" fmla="*/ 5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179">
                  <a:moveTo>
                    <a:pt x="131" y="58"/>
                  </a:moveTo>
                  <a:cubicBezTo>
                    <a:pt x="121" y="59"/>
                    <a:pt x="121" y="59"/>
                    <a:pt x="121" y="59"/>
                  </a:cubicBezTo>
                  <a:cubicBezTo>
                    <a:pt x="120" y="59"/>
                    <a:pt x="120" y="59"/>
                    <a:pt x="120" y="58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0" y="0"/>
                    <a:pt x="7" y="0"/>
                    <a:pt x="0" y="4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22" y="179"/>
                    <a:pt x="27" y="178"/>
                    <a:pt x="30" y="176"/>
                  </a:cubicBezTo>
                  <a:cubicBezTo>
                    <a:pt x="128" y="119"/>
                    <a:pt x="128" y="119"/>
                    <a:pt x="128" y="119"/>
                  </a:cubicBezTo>
                  <a:cubicBezTo>
                    <a:pt x="131" y="118"/>
                    <a:pt x="132" y="116"/>
                    <a:pt x="133" y="113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3" y="58"/>
                    <a:pt x="132" y="58"/>
                    <a:pt x="131" y="58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5" name="íš1íde">
              <a:extLst>
                <a:ext uri="{FF2B5EF4-FFF2-40B4-BE49-F238E27FC236}">
                  <a16:creationId xmlns:a16="http://schemas.microsoft.com/office/drawing/2014/main" id="{459928DE-C4D8-4084-87B8-287466EC17E6}"/>
                </a:ext>
              </a:extLst>
            </p:cNvPr>
            <p:cNvSpPr/>
            <p:nvPr/>
          </p:nvSpPr>
          <p:spPr bwMode="auto">
            <a:xfrm>
              <a:off x="5435600" y="2967038"/>
              <a:ext cx="1782763" cy="1035050"/>
            </a:xfrm>
            <a:custGeom>
              <a:avLst/>
              <a:gdLst>
                <a:gd name="T0" fmla="*/ 233 w 240"/>
                <a:gd name="T1" fmla="*/ 79 h 140"/>
                <a:gd name="T2" fmla="*/ 135 w 240"/>
                <a:gd name="T3" fmla="*/ 135 h 140"/>
                <a:gd name="T4" fmla="*/ 107 w 240"/>
                <a:gd name="T5" fmla="*/ 134 h 140"/>
                <a:gd name="T6" fmla="*/ 9 w 240"/>
                <a:gd name="T7" fmla="*/ 77 h 140"/>
                <a:gd name="T8" fmla="*/ 7 w 240"/>
                <a:gd name="T9" fmla="*/ 61 h 140"/>
                <a:gd name="T10" fmla="*/ 105 w 240"/>
                <a:gd name="T11" fmla="*/ 5 h 140"/>
                <a:gd name="T12" fmla="*/ 133 w 240"/>
                <a:gd name="T13" fmla="*/ 6 h 140"/>
                <a:gd name="T14" fmla="*/ 231 w 240"/>
                <a:gd name="T15" fmla="*/ 62 h 140"/>
                <a:gd name="T16" fmla="*/ 233 w 240"/>
                <a:gd name="T17" fmla="*/ 7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140">
                  <a:moveTo>
                    <a:pt x="233" y="79"/>
                  </a:moveTo>
                  <a:cubicBezTo>
                    <a:pt x="135" y="135"/>
                    <a:pt x="135" y="135"/>
                    <a:pt x="135" y="135"/>
                  </a:cubicBezTo>
                  <a:cubicBezTo>
                    <a:pt x="128" y="140"/>
                    <a:pt x="115" y="139"/>
                    <a:pt x="107" y="134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0" y="73"/>
                    <a:pt x="0" y="65"/>
                    <a:pt x="7" y="61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12" y="0"/>
                    <a:pt x="125" y="1"/>
                    <a:pt x="133" y="6"/>
                  </a:cubicBezTo>
                  <a:cubicBezTo>
                    <a:pt x="231" y="62"/>
                    <a:pt x="231" y="62"/>
                    <a:pt x="231" y="62"/>
                  </a:cubicBezTo>
                  <a:cubicBezTo>
                    <a:pt x="239" y="67"/>
                    <a:pt x="240" y="75"/>
                    <a:pt x="233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6" name="îSľïďê">
              <a:extLst>
                <a:ext uri="{FF2B5EF4-FFF2-40B4-BE49-F238E27FC236}">
                  <a16:creationId xmlns:a16="http://schemas.microsoft.com/office/drawing/2014/main" id="{F9213A86-B63E-4D68-837B-D9FC7073BD32}"/>
                </a:ext>
              </a:extLst>
            </p:cNvPr>
            <p:cNvSpPr/>
            <p:nvPr/>
          </p:nvSpPr>
          <p:spPr bwMode="auto">
            <a:xfrm>
              <a:off x="5435600" y="2952750"/>
              <a:ext cx="1782763" cy="1057275"/>
            </a:xfrm>
            <a:custGeom>
              <a:avLst/>
              <a:gdLst>
                <a:gd name="T0" fmla="*/ 123 w 240"/>
                <a:gd name="T1" fmla="*/ 143 h 143"/>
                <a:gd name="T2" fmla="*/ 106 w 240"/>
                <a:gd name="T3" fmla="*/ 138 h 143"/>
                <a:gd name="T4" fmla="*/ 8 w 240"/>
                <a:gd name="T5" fmla="*/ 82 h 143"/>
                <a:gd name="T6" fmla="*/ 0 w 240"/>
                <a:gd name="T7" fmla="*/ 70 h 143"/>
                <a:gd name="T8" fmla="*/ 6 w 240"/>
                <a:gd name="T9" fmla="*/ 61 h 143"/>
                <a:gd name="T10" fmla="*/ 103 w 240"/>
                <a:gd name="T11" fmla="*/ 4 h 143"/>
                <a:gd name="T12" fmla="*/ 134 w 240"/>
                <a:gd name="T13" fmla="*/ 6 h 143"/>
                <a:gd name="T14" fmla="*/ 232 w 240"/>
                <a:gd name="T15" fmla="*/ 62 h 143"/>
                <a:gd name="T16" fmla="*/ 240 w 240"/>
                <a:gd name="T17" fmla="*/ 74 h 143"/>
                <a:gd name="T18" fmla="*/ 234 w 240"/>
                <a:gd name="T19" fmla="*/ 83 h 143"/>
                <a:gd name="T20" fmla="*/ 136 w 240"/>
                <a:gd name="T21" fmla="*/ 139 h 143"/>
                <a:gd name="T22" fmla="*/ 123 w 240"/>
                <a:gd name="T23" fmla="*/ 143 h 143"/>
                <a:gd name="T24" fmla="*/ 117 w 240"/>
                <a:gd name="T25" fmla="*/ 6 h 143"/>
                <a:gd name="T26" fmla="*/ 106 w 240"/>
                <a:gd name="T27" fmla="*/ 9 h 143"/>
                <a:gd name="T28" fmla="*/ 8 w 240"/>
                <a:gd name="T29" fmla="*/ 65 h 143"/>
                <a:gd name="T30" fmla="*/ 4 w 240"/>
                <a:gd name="T31" fmla="*/ 70 h 143"/>
                <a:gd name="T32" fmla="*/ 10 w 240"/>
                <a:gd name="T33" fmla="*/ 77 h 143"/>
                <a:gd name="T34" fmla="*/ 108 w 240"/>
                <a:gd name="T35" fmla="*/ 134 h 143"/>
                <a:gd name="T36" fmla="*/ 134 w 240"/>
                <a:gd name="T37" fmla="*/ 135 h 143"/>
                <a:gd name="T38" fmla="*/ 232 w 240"/>
                <a:gd name="T39" fmla="*/ 79 h 143"/>
                <a:gd name="T40" fmla="*/ 236 w 240"/>
                <a:gd name="T41" fmla="*/ 74 h 143"/>
                <a:gd name="T42" fmla="*/ 230 w 240"/>
                <a:gd name="T43" fmla="*/ 66 h 143"/>
                <a:gd name="T44" fmla="*/ 132 w 240"/>
                <a:gd name="T45" fmla="*/ 10 h 143"/>
                <a:gd name="T46" fmla="*/ 117 w 240"/>
                <a:gd name="T47" fmla="*/ 6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0" h="143">
                  <a:moveTo>
                    <a:pt x="123" y="143"/>
                  </a:moveTo>
                  <a:cubicBezTo>
                    <a:pt x="117" y="143"/>
                    <a:pt x="111" y="141"/>
                    <a:pt x="106" y="13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79"/>
                    <a:pt x="0" y="74"/>
                    <a:pt x="0" y="70"/>
                  </a:cubicBezTo>
                  <a:cubicBezTo>
                    <a:pt x="0" y="67"/>
                    <a:pt x="2" y="63"/>
                    <a:pt x="6" y="61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11" y="0"/>
                    <a:pt x="125" y="0"/>
                    <a:pt x="134" y="6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37" y="65"/>
                    <a:pt x="240" y="69"/>
                    <a:pt x="240" y="74"/>
                  </a:cubicBezTo>
                  <a:cubicBezTo>
                    <a:pt x="240" y="77"/>
                    <a:pt x="238" y="81"/>
                    <a:pt x="234" y="83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3" y="142"/>
                    <a:pt x="128" y="143"/>
                    <a:pt x="123" y="143"/>
                  </a:cubicBezTo>
                  <a:close/>
                  <a:moveTo>
                    <a:pt x="117" y="6"/>
                  </a:moveTo>
                  <a:cubicBezTo>
                    <a:pt x="113" y="6"/>
                    <a:pt x="109" y="7"/>
                    <a:pt x="106" y="9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6" y="66"/>
                    <a:pt x="4" y="68"/>
                    <a:pt x="4" y="70"/>
                  </a:cubicBezTo>
                  <a:cubicBezTo>
                    <a:pt x="4" y="73"/>
                    <a:pt x="6" y="75"/>
                    <a:pt x="10" y="77"/>
                  </a:cubicBezTo>
                  <a:cubicBezTo>
                    <a:pt x="108" y="134"/>
                    <a:pt x="108" y="134"/>
                    <a:pt x="108" y="134"/>
                  </a:cubicBezTo>
                  <a:cubicBezTo>
                    <a:pt x="116" y="139"/>
                    <a:pt x="128" y="139"/>
                    <a:pt x="134" y="135"/>
                  </a:cubicBezTo>
                  <a:cubicBezTo>
                    <a:pt x="232" y="79"/>
                    <a:pt x="232" y="79"/>
                    <a:pt x="232" y="79"/>
                  </a:cubicBezTo>
                  <a:cubicBezTo>
                    <a:pt x="234" y="78"/>
                    <a:pt x="236" y="76"/>
                    <a:pt x="236" y="74"/>
                  </a:cubicBezTo>
                  <a:cubicBezTo>
                    <a:pt x="236" y="71"/>
                    <a:pt x="233" y="69"/>
                    <a:pt x="230" y="66"/>
                  </a:cubicBezTo>
                  <a:cubicBezTo>
                    <a:pt x="132" y="10"/>
                    <a:pt x="132" y="10"/>
                    <a:pt x="132" y="10"/>
                  </a:cubicBezTo>
                  <a:cubicBezTo>
                    <a:pt x="128" y="7"/>
                    <a:pt x="122" y="6"/>
                    <a:pt x="117" y="6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7" name="îṣḻíḓé">
              <a:extLst>
                <a:ext uri="{FF2B5EF4-FFF2-40B4-BE49-F238E27FC236}">
                  <a16:creationId xmlns:a16="http://schemas.microsoft.com/office/drawing/2014/main" id="{6F4251EB-2BF0-4486-87B9-C6D77B82CF97}"/>
                </a:ext>
              </a:extLst>
            </p:cNvPr>
            <p:cNvSpPr/>
            <p:nvPr/>
          </p:nvSpPr>
          <p:spPr bwMode="auto">
            <a:xfrm>
              <a:off x="6437313" y="3987800"/>
              <a:ext cx="22225" cy="354013"/>
            </a:xfrm>
            <a:prstGeom prst="rect">
              <a:avLst/>
            </a:pr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8" name="îşḻíḍè">
              <a:extLst>
                <a:ext uri="{FF2B5EF4-FFF2-40B4-BE49-F238E27FC236}">
                  <a16:creationId xmlns:a16="http://schemas.microsoft.com/office/drawing/2014/main" id="{A717C991-DC2F-436E-8047-C372E58F5CFC}"/>
                </a:ext>
              </a:extLst>
            </p:cNvPr>
            <p:cNvSpPr/>
            <p:nvPr/>
          </p:nvSpPr>
          <p:spPr bwMode="auto">
            <a:xfrm>
              <a:off x="7085013" y="3617913"/>
              <a:ext cx="28575" cy="354013"/>
            </a:xfrm>
            <a:prstGeom prst="rect">
              <a:avLst/>
            </a:pr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9" name="îSḷíḍé">
              <a:extLst>
                <a:ext uri="{FF2B5EF4-FFF2-40B4-BE49-F238E27FC236}">
                  <a16:creationId xmlns:a16="http://schemas.microsoft.com/office/drawing/2014/main" id="{E665B437-6FF8-40EA-934F-86386039518A}"/>
                </a:ext>
              </a:extLst>
            </p:cNvPr>
            <p:cNvSpPr/>
            <p:nvPr/>
          </p:nvSpPr>
          <p:spPr bwMode="auto">
            <a:xfrm>
              <a:off x="5605463" y="3609975"/>
              <a:ext cx="38100" cy="400050"/>
            </a:xfrm>
            <a:prstGeom prst="rect">
              <a:avLst/>
            </a:pr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0" name="ïṡḷíḑè">
              <a:extLst>
                <a:ext uri="{FF2B5EF4-FFF2-40B4-BE49-F238E27FC236}">
                  <a16:creationId xmlns:a16="http://schemas.microsoft.com/office/drawing/2014/main" id="{CD302C71-0F92-4F6F-B85B-D1FC187FFA62}"/>
                </a:ext>
              </a:extLst>
            </p:cNvPr>
            <p:cNvSpPr/>
            <p:nvPr/>
          </p:nvSpPr>
          <p:spPr bwMode="auto">
            <a:xfrm>
              <a:off x="6184900" y="3943350"/>
              <a:ext cx="38100" cy="398463"/>
            </a:xfrm>
            <a:prstGeom prst="rect">
              <a:avLst/>
            </a:pr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1" name="îŝ1îḋe">
              <a:extLst>
                <a:ext uri="{FF2B5EF4-FFF2-40B4-BE49-F238E27FC236}">
                  <a16:creationId xmlns:a16="http://schemas.microsoft.com/office/drawing/2014/main" id="{1757A5EC-EDAA-431E-8819-B90C7BB70082}"/>
                </a:ext>
              </a:extLst>
            </p:cNvPr>
            <p:cNvSpPr/>
            <p:nvPr/>
          </p:nvSpPr>
          <p:spPr bwMode="auto">
            <a:xfrm>
              <a:off x="6370638" y="3987800"/>
              <a:ext cx="706438" cy="406400"/>
            </a:xfrm>
            <a:custGeom>
              <a:avLst/>
              <a:gdLst>
                <a:gd name="T0" fmla="*/ 0 w 95"/>
                <a:gd name="T1" fmla="*/ 55 h 55"/>
                <a:gd name="T2" fmla="*/ 0 w 95"/>
                <a:gd name="T3" fmla="*/ 52 h 55"/>
                <a:gd name="T4" fmla="*/ 13 w 95"/>
                <a:gd name="T5" fmla="*/ 47 h 55"/>
                <a:gd name="T6" fmla="*/ 93 w 95"/>
                <a:gd name="T7" fmla="*/ 0 h 55"/>
                <a:gd name="T8" fmla="*/ 95 w 95"/>
                <a:gd name="T9" fmla="*/ 3 h 55"/>
                <a:gd name="T10" fmla="*/ 15 w 95"/>
                <a:gd name="T11" fmla="*/ 50 h 55"/>
                <a:gd name="T12" fmla="*/ 0 w 95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" h="55">
                  <a:moveTo>
                    <a:pt x="0" y="55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7" y="50"/>
                    <a:pt x="13" y="47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5" y="3"/>
                    <a:pt x="95" y="3"/>
                    <a:pt x="95" y="3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8" y="54"/>
                    <a:pt x="1" y="55"/>
                    <a:pt x="0" y="55"/>
                  </a:cubicBezTo>
                  <a:close/>
                </a:path>
              </a:pathLst>
            </a:cu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2" name="isḷîďê">
              <a:extLst>
                <a:ext uri="{FF2B5EF4-FFF2-40B4-BE49-F238E27FC236}">
                  <a16:creationId xmlns:a16="http://schemas.microsoft.com/office/drawing/2014/main" id="{D6A573AB-98DA-4263-88CB-DF324A4BD661}"/>
                </a:ext>
              </a:extLst>
            </p:cNvPr>
            <p:cNvSpPr/>
            <p:nvPr/>
          </p:nvSpPr>
          <p:spPr bwMode="auto">
            <a:xfrm>
              <a:off x="6126163" y="3336925"/>
              <a:ext cx="393700" cy="244475"/>
            </a:xfrm>
            <a:custGeom>
              <a:avLst/>
              <a:gdLst>
                <a:gd name="T0" fmla="*/ 234 w 248"/>
                <a:gd name="T1" fmla="*/ 154 h 154"/>
                <a:gd name="T2" fmla="*/ 0 w 248"/>
                <a:gd name="T3" fmla="*/ 18 h 154"/>
                <a:gd name="T4" fmla="*/ 9 w 248"/>
                <a:gd name="T5" fmla="*/ 0 h 154"/>
                <a:gd name="T6" fmla="*/ 248 w 248"/>
                <a:gd name="T7" fmla="*/ 135 h 154"/>
                <a:gd name="T8" fmla="*/ 234 w 248"/>
                <a:gd name="T9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8" h="154">
                  <a:moveTo>
                    <a:pt x="234" y="154"/>
                  </a:moveTo>
                  <a:lnTo>
                    <a:pt x="0" y="18"/>
                  </a:lnTo>
                  <a:lnTo>
                    <a:pt x="9" y="0"/>
                  </a:lnTo>
                  <a:lnTo>
                    <a:pt x="248" y="135"/>
                  </a:lnTo>
                  <a:lnTo>
                    <a:pt x="234" y="154"/>
                  </a:ln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3" name="ïšḷíḑé">
              <a:extLst>
                <a:ext uri="{FF2B5EF4-FFF2-40B4-BE49-F238E27FC236}">
                  <a16:creationId xmlns:a16="http://schemas.microsoft.com/office/drawing/2014/main" id="{C58F0965-AD8C-4BDB-AAD7-740F052C0B4D}"/>
                </a:ext>
              </a:extLst>
            </p:cNvPr>
            <p:cNvSpPr/>
            <p:nvPr/>
          </p:nvSpPr>
          <p:spPr bwMode="auto">
            <a:xfrm>
              <a:off x="6126163" y="3336925"/>
              <a:ext cx="393700" cy="244475"/>
            </a:xfrm>
            <a:custGeom>
              <a:avLst/>
              <a:gdLst>
                <a:gd name="T0" fmla="*/ 14 w 248"/>
                <a:gd name="T1" fmla="*/ 154 h 154"/>
                <a:gd name="T2" fmla="*/ 0 w 248"/>
                <a:gd name="T3" fmla="*/ 135 h 154"/>
                <a:gd name="T4" fmla="*/ 239 w 248"/>
                <a:gd name="T5" fmla="*/ 0 h 154"/>
                <a:gd name="T6" fmla="*/ 248 w 248"/>
                <a:gd name="T7" fmla="*/ 18 h 154"/>
                <a:gd name="T8" fmla="*/ 14 w 248"/>
                <a:gd name="T9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8" h="154">
                  <a:moveTo>
                    <a:pt x="14" y="154"/>
                  </a:moveTo>
                  <a:lnTo>
                    <a:pt x="0" y="135"/>
                  </a:lnTo>
                  <a:lnTo>
                    <a:pt x="239" y="0"/>
                  </a:lnTo>
                  <a:lnTo>
                    <a:pt x="248" y="18"/>
                  </a:lnTo>
                  <a:lnTo>
                    <a:pt x="14" y="154"/>
                  </a:ln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4" name="iSľîḑe">
              <a:extLst>
                <a:ext uri="{FF2B5EF4-FFF2-40B4-BE49-F238E27FC236}">
                  <a16:creationId xmlns:a16="http://schemas.microsoft.com/office/drawing/2014/main" id="{4A7F6B46-304D-46CD-9F18-C4DC5DFB39C0}"/>
                </a:ext>
              </a:extLst>
            </p:cNvPr>
            <p:cNvSpPr/>
            <p:nvPr/>
          </p:nvSpPr>
          <p:spPr bwMode="auto">
            <a:xfrm>
              <a:off x="6215063" y="3395663"/>
              <a:ext cx="215900" cy="125413"/>
            </a:xfrm>
            <a:custGeom>
              <a:avLst/>
              <a:gdLst>
                <a:gd name="T0" fmla="*/ 24 w 29"/>
                <a:gd name="T1" fmla="*/ 3 h 17"/>
                <a:gd name="T2" fmla="*/ 24 w 29"/>
                <a:gd name="T3" fmla="*/ 14 h 17"/>
                <a:gd name="T4" fmla="*/ 5 w 29"/>
                <a:gd name="T5" fmla="*/ 14 h 17"/>
                <a:gd name="T6" fmla="*/ 5 w 29"/>
                <a:gd name="T7" fmla="*/ 3 h 17"/>
                <a:gd name="T8" fmla="*/ 24 w 29"/>
                <a:gd name="T9" fmla="*/ 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7">
                  <a:moveTo>
                    <a:pt x="24" y="3"/>
                  </a:moveTo>
                  <a:cubicBezTo>
                    <a:pt x="29" y="6"/>
                    <a:pt x="29" y="11"/>
                    <a:pt x="24" y="14"/>
                  </a:cubicBezTo>
                  <a:cubicBezTo>
                    <a:pt x="19" y="17"/>
                    <a:pt x="10" y="17"/>
                    <a:pt x="5" y="14"/>
                  </a:cubicBezTo>
                  <a:cubicBezTo>
                    <a:pt x="0" y="11"/>
                    <a:pt x="0" y="6"/>
                    <a:pt x="5" y="3"/>
                  </a:cubicBezTo>
                  <a:cubicBezTo>
                    <a:pt x="10" y="0"/>
                    <a:pt x="19" y="0"/>
                    <a:pt x="24" y="3"/>
                  </a:cubicBezTo>
                  <a:close/>
                </a:path>
              </a:pathLst>
            </a:cu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5" name="íṡḷïdè">
              <a:extLst>
                <a:ext uri="{FF2B5EF4-FFF2-40B4-BE49-F238E27FC236}">
                  <a16:creationId xmlns:a16="http://schemas.microsoft.com/office/drawing/2014/main" id="{3DF610D8-DF76-40D5-A336-2FB8C4012C7D}"/>
                </a:ext>
              </a:extLst>
            </p:cNvPr>
            <p:cNvSpPr/>
            <p:nvPr/>
          </p:nvSpPr>
          <p:spPr bwMode="auto">
            <a:xfrm>
              <a:off x="6207125" y="3373438"/>
              <a:ext cx="230188" cy="163513"/>
            </a:xfrm>
            <a:custGeom>
              <a:avLst/>
              <a:gdLst>
                <a:gd name="T0" fmla="*/ 15 w 31"/>
                <a:gd name="T1" fmla="*/ 22 h 22"/>
                <a:gd name="T2" fmla="*/ 5 w 31"/>
                <a:gd name="T3" fmla="*/ 19 h 22"/>
                <a:gd name="T4" fmla="*/ 0 w 31"/>
                <a:gd name="T5" fmla="*/ 11 h 22"/>
                <a:gd name="T6" fmla="*/ 5 w 31"/>
                <a:gd name="T7" fmla="*/ 4 h 22"/>
                <a:gd name="T8" fmla="*/ 26 w 31"/>
                <a:gd name="T9" fmla="*/ 4 h 22"/>
                <a:gd name="T10" fmla="*/ 31 w 31"/>
                <a:gd name="T11" fmla="*/ 11 h 22"/>
                <a:gd name="T12" fmla="*/ 26 w 31"/>
                <a:gd name="T13" fmla="*/ 19 h 22"/>
                <a:gd name="T14" fmla="*/ 15 w 31"/>
                <a:gd name="T15" fmla="*/ 22 h 22"/>
                <a:gd name="T16" fmla="*/ 15 w 31"/>
                <a:gd name="T17" fmla="*/ 6 h 22"/>
                <a:gd name="T18" fmla="*/ 7 w 31"/>
                <a:gd name="T19" fmla="*/ 8 h 22"/>
                <a:gd name="T20" fmla="*/ 4 w 31"/>
                <a:gd name="T21" fmla="*/ 11 h 22"/>
                <a:gd name="T22" fmla="*/ 7 w 31"/>
                <a:gd name="T23" fmla="*/ 15 h 22"/>
                <a:gd name="T24" fmla="*/ 24 w 31"/>
                <a:gd name="T25" fmla="*/ 15 h 22"/>
                <a:gd name="T26" fmla="*/ 26 w 31"/>
                <a:gd name="T27" fmla="*/ 11 h 22"/>
                <a:gd name="T28" fmla="*/ 24 w 31"/>
                <a:gd name="T29" fmla="*/ 8 h 22"/>
                <a:gd name="T30" fmla="*/ 15 w 31"/>
                <a:gd name="T31" fmla="*/ 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22">
                  <a:moveTo>
                    <a:pt x="15" y="22"/>
                  </a:moveTo>
                  <a:cubicBezTo>
                    <a:pt x="12" y="22"/>
                    <a:pt x="8" y="21"/>
                    <a:pt x="5" y="19"/>
                  </a:cubicBezTo>
                  <a:cubicBezTo>
                    <a:pt x="1" y="17"/>
                    <a:pt x="0" y="14"/>
                    <a:pt x="0" y="11"/>
                  </a:cubicBezTo>
                  <a:cubicBezTo>
                    <a:pt x="0" y="8"/>
                    <a:pt x="1" y="6"/>
                    <a:pt x="5" y="4"/>
                  </a:cubicBezTo>
                  <a:cubicBezTo>
                    <a:pt x="11" y="0"/>
                    <a:pt x="20" y="0"/>
                    <a:pt x="26" y="4"/>
                  </a:cubicBezTo>
                  <a:cubicBezTo>
                    <a:pt x="29" y="6"/>
                    <a:pt x="31" y="8"/>
                    <a:pt x="31" y="11"/>
                  </a:cubicBezTo>
                  <a:cubicBezTo>
                    <a:pt x="31" y="14"/>
                    <a:pt x="29" y="17"/>
                    <a:pt x="26" y="19"/>
                  </a:cubicBezTo>
                  <a:cubicBezTo>
                    <a:pt x="23" y="21"/>
                    <a:pt x="19" y="22"/>
                    <a:pt x="15" y="22"/>
                  </a:cubicBezTo>
                  <a:close/>
                  <a:moveTo>
                    <a:pt x="15" y="6"/>
                  </a:moveTo>
                  <a:cubicBezTo>
                    <a:pt x="12" y="6"/>
                    <a:pt x="9" y="7"/>
                    <a:pt x="7" y="8"/>
                  </a:cubicBezTo>
                  <a:cubicBezTo>
                    <a:pt x="5" y="9"/>
                    <a:pt x="4" y="10"/>
                    <a:pt x="4" y="11"/>
                  </a:cubicBezTo>
                  <a:cubicBezTo>
                    <a:pt x="4" y="13"/>
                    <a:pt x="5" y="14"/>
                    <a:pt x="7" y="15"/>
                  </a:cubicBezTo>
                  <a:cubicBezTo>
                    <a:pt x="12" y="17"/>
                    <a:pt x="19" y="17"/>
                    <a:pt x="24" y="15"/>
                  </a:cubicBezTo>
                  <a:cubicBezTo>
                    <a:pt x="25" y="14"/>
                    <a:pt x="26" y="13"/>
                    <a:pt x="26" y="11"/>
                  </a:cubicBezTo>
                  <a:cubicBezTo>
                    <a:pt x="26" y="10"/>
                    <a:pt x="25" y="9"/>
                    <a:pt x="24" y="8"/>
                  </a:cubicBezTo>
                  <a:cubicBezTo>
                    <a:pt x="21" y="7"/>
                    <a:pt x="18" y="6"/>
                    <a:pt x="15" y="6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6" name="iṡ1îḓe">
              <a:extLst>
                <a:ext uri="{FF2B5EF4-FFF2-40B4-BE49-F238E27FC236}">
                  <a16:creationId xmlns:a16="http://schemas.microsoft.com/office/drawing/2014/main" id="{629CF917-DE04-4DAC-B183-AA13CAFA3D0A}"/>
                </a:ext>
              </a:extLst>
            </p:cNvPr>
            <p:cNvSpPr/>
            <p:nvPr/>
          </p:nvSpPr>
          <p:spPr bwMode="auto">
            <a:xfrm>
              <a:off x="4989513" y="5089525"/>
              <a:ext cx="1262063" cy="827088"/>
            </a:xfrm>
            <a:custGeom>
              <a:avLst/>
              <a:gdLst>
                <a:gd name="T0" fmla="*/ 167 w 170"/>
                <a:gd name="T1" fmla="*/ 68 h 112"/>
                <a:gd name="T2" fmla="*/ 93 w 170"/>
                <a:gd name="T3" fmla="*/ 111 h 112"/>
                <a:gd name="T4" fmla="*/ 84 w 170"/>
                <a:gd name="T5" fmla="*/ 111 h 112"/>
                <a:gd name="T6" fmla="*/ 3 w 170"/>
                <a:gd name="T7" fmla="*/ 64 h 112"/>
                <a:gd name="T8" fmla="*/ 1 w 170"/>
                <a:gd name="T9" fmla="*/ 61 h 112"/>
                <a:gd name="T10" fmla="*/ 0 w 170"/>
                <a:gd name="T11" fmla="*/ 33 h 112"/>
                <a:gd name="T12" fmla="*/ 2 w 170"/>
                <a:gd name="T13" fmla="*/ 31 h 112"/>
                <a:gd name="T14" fmla="*/ 52 w 170"/>
                <a:gd name="T15" fmla="*/ 1 h 112"/>
                <a:gd name="T16" fmla="*/ 62 w 170"/>
                <a:gd name="T17" fmla="*/ 1 h 112"/>
                <a:gd name="T18" fmla="*/ 167 w 170"/>
                <a:gd name="T19" fmla="*/ 62 h 112"/>
                <a:gd name="T20" fmla="*/ 167 w 170"/>
                <a:gd name="T21" fmla="*/ 6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0" h="112">
                  <a:moveTo>
                    <a:pt x="167" y="68"/>
                  </a:moveTo>
                  <a:cubicBezTo>
                    <a:pt x="93" y="111"/>
                    <a:pt x="93" y="111"/>
                    <a:pt x="93" y="111"/>
                  </a:cubicBezTo>
                  <a:cubicBezTo>
                    <a:pt x="90" y="112"/>
                    <a:pt x="86" y="112"/>
                    <a:pt x="84" y="111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2" y="63"/>
                    <a:pt x="1" y="62"/>
                    <a:pt x="1" y="61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1" y="31"/>
                    <a:pt x="2" y="31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5" y="0"/>
                    <a:pt x="59" y="0"/>
                    <a:pt x="62" y="1"/>
                  </a:cubicBezTo>
                  <a:cubicBezTo>
                    <a:pt x="167" y="62"/>
                    <a:pt x="167" y="62"/>
                    <a:pt x="167" y="62"/>
                  </a:cubicBezTo>
                  <a:cubicBezTo>
                    <a:pt x="170" y="64"/>
                    <a:pt x="170" y="66"/>
                    <a:pt x="167" y="68"/>
                  </a:cubicBezTo>
                  <a:close/>
                </a:path>
              </a:pathLst>
            </a:cu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7" name="îşḷîḍè">
              <a:extLst>
                <a:ext uri="{FF2B5EF4-FFF2-40B4-BE49-F238E27FC236}">
                  <a16:creationId xmlns:a16="http://schemas.microsoft.com/office/drawing/2014/main" id="{AF1D983C-217B-4B99-BE48-C8A5BFF8AE25}"/>
                </a:ext>
              </a:extLst>
            </p:cNvPr>
            <p:cNvSpPr/>
            <p:nvPr/>
          </p:nvSpPr>
          <p:spPr bwMode="auto">
            <a:xfrm>
              <a:off x="4973638" y="5073650"/>
              <a:ext cx="1285875" cy="850900"/>
            </a:xfrm>
            <a:custGeom>
              <a:avLst/>
              <a:gdLst>
                <a:gd name="T0" fmla="*/ 90 w 173"/>
                <a:gd name="T1" fmla="*/ 115 h 115"/>
                <a:gd name="T2" fmla="*/ 85 w 173"/>
                <a:gd name="T3" fmla="*/ 114 h 115"/>
                <a:gd name="T4" fmla="*/ 4 w 173"/>
                <a:gd name="T5" fmla="*/ 68 h 115"/>
                <a:gd name="T6" fmla="*/ 1 w 173"/>
                <a:gd name="T7" fmla="*/ 63 h 115"/>
                <a:gd name="T8" fmla="*/ 0 w 173"/>
                <a:gd name="T9" fmla="*/ 35 h 115"/>
                <a:gd name="T10" fmla="*/ 3 w 173"/>
                <a:gd name="T11" fmla="*/ 31 h 115"/>
                <a:gd name="T12" fmla="*/ 54 w 173"/>
                <a:gd name="T13" fmla="*/ 2 h 115"/>
                <a:gd name="T14" fmla="*/ 64 w 173"/>
                <a:gd name="T15" fmla="*/ 2 h 115"/>
                <a:gd name="T16" fmla="*/ 170 w 173"/>
                <a:gd name="T17" fmla="*/ 63 h 115"/>
                <a:gd name="T18" fmla="*/ 173 w 173"/>
                <a:gd name="T19" fmla="*/ 67 h 115"/>
                <a:gd name="T20" fmla="*/ 170 w 173"/>
                <a:gd name="T21" fmla="*/ 71 h 115"/>
                <a:gd name="T22" fmla="*/ 96 w 173"/>
                <a:gd name="T23" fmla="*/ 114 h 115"/>
                <a:gd name="T24" fmla="*/ 90 w 173"/>
                <a:gd name="T25" fmla="*/ 115 h 115"/>
                <a:gd name="T26" fmla="*/ 59 w 173"/>
                <a:gd name="T27" fmla="*/ 4 h 115"/>
                <a:gd name="T28" fmla="*/ 55 w 173"/>
                <a:gd name="T29" fmla="*/ 5 h 115"/>
                <a:gd name="T30" fmla="*/ 5 w 173"/>
                <a:gd name="T31" fmla="*/ 34 h 115"/>
                <a:gd name="T32" fmla="*/ 4 w 173"/>
                <a:gd name="T33" fmla="*/ 35 h 115"/>
                <a:gd name="T34" fmla="*/ 5 w 173"/>
                <a:gd name="T35" fmla="*/ 63 h 115"/>
                <a:gd name="T36" fmla="*/ 6 w 173"/>
                <a:gd name="T37" fmla="*/ 64 h 115"/>
                <a:gd name="T38" fmla="*/ 87 w 173"/>
                <a:gd name="T39" fmla="*/ 111 h 115"/>
                <a:gd name="T40" fmla="*/ 94 w 173"/>
                <a:gd name="T41" fmla="*/ 111 h 115"/>
                <a:gd name="T42" fmla="*/ 168 w 173"/>
                <a:gd name="T43" fmla="*/ 68 h 115"/>
                <a:gd name="T44" fmla="*/ 169 w 173"/>
                <a:gd name="T45" fmla="*/ 67 h 115"/>
                <a:gd name="T46" fmla="*/ 168 w 173"/>
                <a:gd name="T47" fmla="*/ 66 h 115"/>
                <a:gd name="T48" fmla="*/ 63 w 173"/>
                <a:gd name="T49" fmla="*/ 5 h 115"/>
                <a:gd name="T50" fmla="*/ 59 w 173"/>
                <a:gd name="T51" fmla="*/ 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3" h="115">
                  <a:moveTo>
                    <a:pt x="90" y="115"/>
                  </a:moveTo>
                  <a:cubicBezTo>
                    <a:pt x="88" y="115"/>
                    <a:pt x="86" y="115"/>
                    <a:pt x="85" y="11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2" y="67"/>
                    <a:pt x="1" y="65"/>
                    <a:pt x="1" y="63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4"/>
                    <a:pt x="1" y="32"/>
                    <a:pt x="3" y="31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7" y="0"/>
                    <a:pt x="61" y="0"/>
                    <a:pt x="64" y="2"/>
                  </a:cubicBezTo>
                  <a:cubicBezTo>
                    <a:pt x="170" y="63"/>
                    <a:pt x="170" y="63"/>
                    <a:pt x="170" y="63"/>
                  </a:cubicBezTo>
                  <a:cubicBezTo>
                    <a:pt x="172" y="64"/>
                    <a:pt x="173" y="65"/>
                    <a:pt x="173" y="67"/>
                  </a:cubicBezTo>
                  <a:cubicBezTo>
                    <a:pt x="173" y="69"/>
                    <a:pt x="172" y="70"/>
                    <a:pt x="170" y="71"/>
                  </a:cubicBezTo>
                  <a:cubicBezTo>
                    <a:pt x="96" y="114"/>
                    <a:pt x="96" y="114"/>
                    <a:pt x="96" y="114"/>
                  </a:cubicBezTo>
                  <a:cubicBezTo>
                    <a:pt x="94" y="115"/>
                    <a:pt x="92" y="115"/>
                    <a:pt x="90" y="115"/>
                  </a:cubicBezTo>
                  <a:close/>
                  <a:moveTo>
                    <a:pt x="59" y="4"/>
                  </a:moveTo>
                  <a:cubicBezTo>
                    <a:pt x="58" y="4"/>
                    <a:pt x="56" y="4"/>
                    <a:pt x="55" y="5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4" y="34"/>
                    <a:pt x="4" y="35"/>
                    <a:pt x="4" y="35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4"/>
                    <a:pt x="5" y="64"/>
                    <a:pt x="6" y="64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9" y="112"/>
                    <a:pt x="92" y="112"/>
                    <a:pt x="94" y="111"/>
                  </a:cubicBezTo>
                  <a:cubicBezTo>
                    <a:pt x="168" y="68"/>
                    <a:pt x="168" y="68"/>
                    <a:pt x="168" y="68"/>
                  </a:cubicBezTo>
                  <a:cubicBezTo>
                    <a:pt x="169" y="68"/>
                    <a:pt x="169" y="67"/>
                    <a:pt x="169" y="67"/>
                  </a:cubicBezTo>
                  <a:cubicBezTo>
                    <a:pt x="169" y="67"/>
                    <a:pt x="169" y="66"/>
                    <a:pt x="168" y="66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2" y="4"/>
                    <a:pt x="60" y="4"/>
                    <a:pt x="59" y="4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8" name="îs1ïḍé">
              <a:extLst>
                <a:ext uri="{FF2B5EF4-FFF2-40B4-BE49-F238E27FC236}">
                  <a16:creationId xmlns:a16="http://schemas.microsoft.com/office/drawing/2014/main" id="{B6C05769-78C0-41A9-875F-CE864D6A5F65}"/>
                </a:ext>
              </a:extLst>
            </p:cNvPr>
            <p:cNvSpPr/>
            <p:nvPr/>
          </p:nvSpPr>
          <p:spPr bwMode="auto">
            <a:xfrm>
              <a:off x="4989513" y="5022850"/>
              <a:ext cx="1262063" cy="828675"/>
            </a:xfrm>
            <a:custGeom>
              <a:avLst/>
              <a:gdLst>
                <a:gd name="T0" fmla="*/ 167 w 170"/>
                <a:gd name="T1" fmla="*/ 67 h 112"/>
                <a:gd name="T2" fmla="*/ 93 w 170"/>
                <a:gd name="T3" fmla="*/ 110 h 112"/>
                <a:gd name="T4" fmla="*/ 84 w 170"/>
                <a:gd name="T5" fmla="*/ 110 h 112"/>
                <a:gd name="T6" fmla="*/ 3 w 170"/>
                <a:gd name="T7" fmla="*/ 64 h 112"/>
                <a:gd name="T8" fmla="*/ 1 w 170"/>
                <a:gd name="T9" fmla="*/ 61 h 112"/>
                <a:gd name="T10" fmla="*/ 0 w 170"/>
                <a:gd name="T11" fmla="*/ 33 h 112"/>
                <a:gd name="T12" fmla="*/ 2 w 170"/>
                <a:gd name="T13" fmla="*/ 30 h 112"/>
                <a:gd name="T14" fmla="*/ 52 w 170"/>
                <a:gd name="T15" fmla="*/ 1 h 112"/>
                <a:gd name="T16" fmla="*/ 62 w 170"/>
                <a:gd name="T17" fmla="*/ 1 h 112"/>
                <a:gd name="T18" fmla="*/ 167 w 170"/>
                <a:gd name="T19" fmla="*/ 62 h 112"/>
                <a:gd name="T20" fmla="*/ 167 w 170"/>
                <a:gd name="T21" fmla="*/ 6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0" h="112">
                  <a:moveTo>
                    <a:pt x="167" y="67"/>
                  </a:moveTo>
                  <a:cubicBezTo>
                    <a:pt x="93" y="110"/>
                    <a:pt x="93" y="110"/>
                    <a:pt x="93" y="110"/>
                  </a:cubicBezTo>
                  <a:cubicBezTo>
                    <a:pt x="90" y="112"/>
                    <a:pt x="86" y="112"/>
                    <a:pt x="84" y="110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2" y="63"/>
                    <a:pt x="1" y="62"/>
                    <a:pt x="1" y="61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1" y="31"/>
                    <a:pt x="2" y="30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5" y="0"/>
                    <a:pt x="59" y="0"/>
                    <a:pt x="62" y="1"/>
                  </a:cubicBezTo>
                  <a:cubicBezTo>
                    <a:pt x="167" y="62"/>
                    <a:pt x="167" y="62"/>
                    <a:pt x="167" y="62"/>
                  </a:cubicBezTo>
                  <a:cubicBezTo>
                    <a:pt x="170" y="64"/>
                    <a:pt x="170" y="66"/>
                    <a:pt x="167" y="67"/>
                  </a:cubicBezTo>
                  <a:close/>
                </a:path>
              </a:pathLst>
            </a:cu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9" name="ïṥḻïdè">
              <a:extLst>
                <a:ext uri="{FF2B5EF4-FFF2-40B4-BE49-F238E27FC236}">
                  <a16:creationId xmlns:a16="http://schemas.microsoft.com/office/drawing/2014/main" id="{CBAB3289-E384-40BC-92D4-CD9A978EAB65}"/>
                </a:ext>
              </a:extLst>
            </p:cNvPr>
            <p:cNvSpPr/>
            <p:nvPr/>
          </p:nvSpPr>
          <p:spPr bwMode="auto">
            <a:xfrm>
              <a:off x="4973638" y="5008563"/>
              <a:ext cx="1285875" cy="849313"/>
            </a:xfrm>
            <a:custGeom>
              <a:avLst/>
              <a:gdLst>
                <a:gd name="T0" fmla="*/ 90 w 173"/>
                <a:gd name="T1" fmla="*/ 115 h 115"/>
                <a:gd name="T2" fmla="*/ 85 w 173"/>
                <a:gd name="T3" fmla="*/ 114 h 115"/>
                <a:gd name="T4" fmla="*/ 4 w 173"/>
                <a:gd name="T5" fmla="*/ 67 h 115"/>
                <a:gd name="T6" fmla="*/ 1 w 173"/>
                <a:gd name="T7" fmla="*/ 63 h 115"/>
                <a:gd name="T8" fmla="*/ 0 w 173"/>
                <a:gd name="T9" fmla="*/ 35 h 115"/>
                <a:gd name="T10" fmla="*/ 3 w 173"/>
                <a:gd name="T11" fmla="*/ 31 h 115"/>
                <a:gd name="T12" fmla="*/ 54 w 173"/>
                <a:gd name="T13" fmla="*/ 2 h 115"/>
                <a:gd name="T14" fmla="*/ 64 w 173"/>
                <a:gd name="T15" fmla="*/ 2 h 115"/>
                <a:gd name="T16" fmla="*/ 170 w 173"/>
                <a:gd name="T17" fmla="*/ 63 h 115"/>
                <a:gd name="T18" fmla="*/ 173 w 173"/>
                <a:gd name="T19" fmla="*/ 67 h 115"/>
                <a:gd name="T20" fmla="*/ 170 w 173"/>
                <a:gd name="T21" fmla="*/ 71 h 115"/>
                <a:gd name="T22" fmla="*/ 96 w 173"/>
                <a:gd name="T23" fmla="*/ 114 h 115"/>
                <a:gd name="T24" fmla="*/ 90 w 173"/>
                <a:gd name="T25" fmla="*/ 115 h 115"/>
                <a:gd name="T26" fmla="*/ 59 w 173"/>
                <a:gd name="T27" fmla="*/ 4 h 115"/>
                <a:gd name="T28" fmla="*/ 55 w 173"/>
                <a:gd name="T29" fmla="*/ 5 h 115"/>
                <a:gd name="T30" fmla="*/ 5 w 173"/>
                <a:gd name="T31" fmla="*/ 34 h 115"/>
                <a:gd name="T32" fmla="*/ 4 w 173"/>
                <a:gd name="T33" fmla="*/ 35 h 115"/>
                <a:gd name="T34" fmla="*/ 5 w 173"/>
                <a:gd name="T35" fmla="*/ 63 h 115"/>
                <a:gd name="T36" fmla="*/ 6 w 173"/>
                <a:gd name="T37" fmla="*/ 64 h 115"/>
                <a:gd name="T38" fmla="*/ 87 w 173"/>
                <a:gd name="T39" fmla="*/ 111 h 115"/>
                <a:gd name="T40" fmla="*/ 94 w 173"/>
                <a:gd name="T41" fmla="*/ 111 h 115"/>
                <a:gd name="T42" fmla="*/ 168 w 173"/>
                <a:gd name="T43" fmla="*/ 68 h 115"/>
                <a:gd name="T44" fmla="*/ 169 w 173"/>
                <a:gd name="T45" fmla="*/ 67 h 115"/>
                <a:gd name="T46" fmla="*/ 168 w 173"/>
                <a:gd name="T47" fmla="*/ 66 h 115"/>
                <a:gd name="T48" fmla="*/ 63 w 173"/>
                <a:gd name="T49" fmla="*/ 5 h 115"/>
                <a:gd name="T50" fmla="*/ 59 w 173"/>
                <a:gd name="T51" fmla="*/ 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3" h="115">
                  <a:moveTo>
                    <a:pt x="90" y="115"/>
                  </a:moveTo>
                  <a:cubicBezTo>
                    <a:pt x="88" y="115"/>
                    <a:pt x="86" y="115"/>
                    <a:pt x="85" y="114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2" y="66"/>
                    <a:pt x="1" y="65"/>
                    <a:pt x="1" y="63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3"/>
                    <a:pt x="1" y="32"/>
                    <a:pt x="3" y="31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7" y="0"/>
                    <a:pt x="61" y="0"/>
                    <a:pt x="64" y="2"/>
                  </a:cubicBezTo>
                  <a:cubicBezTo>
                    <a:pt x="170" y="63"/>
                    <a:pt x="170" y="63"/>
                    <a:pt x="170" y="63"/>
                  </a:cubicBezTo>
                  <a:cubicBezTo>
                    <a:pt x="172" y="64"/>
                    <a:pt x="173" y="65"/>
                    <a:pt x="173" y="67"/>
                  </a:cubicBezTo>
                  <a:cubicBezTo>
                    <a:pt x="173" y="68"/>
                    <a:pt x="172" y="70"/>
                    <a:pt x="170" y="71"/>
                  </a:cubicBezTo>
                  <a:cubicBezTo>
                    <a:pt x="96" y="114"/>
                    <a:pt x="96" y="114"/>
                    <a:pt x="96" y="114"/>
                  </a:cubicBezTo>
                  <a:cubicBezTo>
                    <a:pt x="94" y="115"/>
                    <a:pt x="92" y="115"/>
                    <a:pt x="90" y="115"/>
                  </a:cubicBezTo>
                  <a:close/>
                  <a:moveTo>
                    <a:pt x="59" y="4"/>
                  </a:moveTo>
                  <a:cubicBezTo>
                    <a:pt x="58" y="4"/>
                    <a:pt x="56" y="4"/>
                    <a:pt x="55" y="5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4" y="34"/>
                    <a:pt x="4" y="35"/>
                    <a:pt x="4" y="35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4"/>
                    <a:pt x="6" y="64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9" y="112"/>
                    <a:pt x="92" y="112"/>
                    <a:pt x="94" y="111"/>
                  </a:cubicBezTo>
                  <a:cubicBezTo>
                    <a:pt x="168" y="68"/>
                    <a:pt x="168" y="68"/>
                    <a:pt x="168" y="68"/>
                  </a:cubicBezTo>
                  <a:cubicBezTo>
                    <a:pt x="169" y="67"/>
                    <a:pt x="169" y="67"/>
                    <a:pt x="169" y="67"/>
                  </a:cubicBezTo>
                  <a:cubicBezTo>
                    <a:pt x="169" y="67"/>
                    <a:pt x="169" y="66"/>
                    <a:pt x="168" y="66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2" y="4"/>
                    <a:pt x="60" y="4"/>
                    <a:pt x="59" y="4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0" name="ïš1iḋê">
              <a:extLst>
                <a:ext uri="{FF2B5EF4-FFF2-40B4-BE49-F238E27FC236}">
                  <a16:creationId xmlns:a16="http://schemas.microsoft.com/office/drawing/2014/main" id="{90E4E4C3-8D1B-4326-989B-B773408E2E4C}"/>
                </a:ext>
              </a:extLst>
            </p:cNvPr>
            <p:cNvSpPr/>
            <p:nvPr/>
          </p:nvSpPr>
          <p:spPr bwMode="auto">
            <a:xfrm>
              <a:off x="4989513" y="4941888"/>
              <a:ext cx="1262063" cy="827088"/>
            </a:xfrm>
            <a:custGeom>
              <a:avLst/>
              <a:gdLst>
                <a:gd name="T0" fmla="*/ 167 w 170"/>
                <a:gd name="T1" fmla="*/ 68 h 112"/>
                <a:gd name="T2" fmla="*/ 93 w 170"/>
                <a:gd name="T3" fmla="*/ 111 h 112"/>
                <a:gd name="T4" fmla="*/ 84 w 170"/>
                <a:gd name="T5" fmla="*/ 111 h 112"/>
                <a:gd name="T6" fmla="*/ 3 w 170"/>
                <a:gd name="T7" fmla="*/ 64 h 112"/>
                <a:gd name="T8" fmla="*/ 1 w 170"/>
                <a:gd name="T9" fmla="*/ 62 h 112"/>
                <a:gd name="T10" fmla="*/ 0 w 170"/>
                <a:gd name="T11" fmla="*/ 34 h 112"/>
                <a:gd name="T12" fmla="*/ 2 w 170"/>
                <a:gd name="T13" fmla="*/ 31 h 112"/>
                <a:gd name="T14" fmla="*/ 52 w 170"/>
                <a:gd name="T15" fmla="*/ 2 h 112"/>
                <a:gd name="T16" fmla="*/ 62 w 170"/>
                <a:gd name="T17" fmla="*/ 2 h 112"/>
                <a:gd name="T18" fmla="*/ 167 w 170"/>
                <a:gd name="T19" fmla="*/ 63 h 112"/>
                <a:gd name="T20" fmla="*/ 167 w 170"/>
                <a:gd name="T21" fmla="*/ 6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0" h="112">
                  <a:moveTo>
                    <a:pt x="167" y="68"/>
                  </a:moveTo>
                  <a:cubicBezTo>
                    <a:pt x="93" y="111"/>
                    <a:pt x="93" y="111"/>
                    <a:pt x="93" y="111"/>
                  </a:cubicBezTo>
                  <a:cubicBezTo>
                    <a:pt x="90" y="112"/>
                    <a:pt x="86" y="112"/>
                    <a:pt x="84" y="111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2" y="64"/>
                    <a:pt x="1" y="63"/>
                    <a:pt x="1" y="6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1" y="32"/>
                    <a:pt x="2" y="31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5" y="0"/>
                    <a:pt x="59" y="0"/>
                    <a:pt x="62" y="2"/>
                  </a:cubicBezTo>
                  <a:cubicBezTo>
                    <a:pt x="167" y="63"/>
                    <a:pt x="167" y="63"/>
                    <a:pt x="167" y="63"/>
                  </a:cubicBezTo>
                  <a:cubicBezTo>
                    <a:pt x="170" y="64"/>
                    <a:pt x="170" y="67"/>
                    <a:pt x="167" y="68"/>
                  </a:cubicBezTo>
                  <a:close/>
                </a:path>
              </a:pathLst>
            </a:custGeom>
            <a:solidFill>
              <a:srgbClr val="39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" name="î$1iḑé">
              <a:extLst>
                <a:ext uri="{FF2B5EF4-FFF2-40B4-BE49-F238E27FC236}">
                  <a16:creationId xmlns:a16="http://schemas.microsoft.com/office/drawing/2014/main" id="{371C2DF6-E20E-4292-9593-3E691A0585CC}"/>
                </a:ext>
              </a:extLst>
            </p:cNvPr>
            <p:cNvSpPr/>
            <p:nvPr/>
          </p:nvSpPr>
          <p:spPr bwMode="auto">
            <a:xfrm>
              <a:off x="4973638" y="4926013"/>
              <a:ext cx="1285875" cy="858838"/>
            </a:xfrm>
            <a:custGeom>
              <a:avLst/>
              <a:gdLst>
                <a:gd name="T0" fmla="*/ 90 w 173"/>
                <a:gd name="T1" fmla="*/ 116 h 116"/>
                <a:gd name="T2" fmla="*/ 85 w 173"/>
                <a:gd name="T3" fmla="*/ 115 h 116"/>
                <a:gd name="T4" fmla="*/ 4 w 173"/>
                <a:gd name="T5" fmla="*/ 68 h 116"/>
                <a:gd name="T6" fmla="*/ 1 w 173"/>
                <a:gd name="T7" fmla="*/ 64 h 116"/>
                <a:gd name="T8" fmla="*/ 0 w 173"/>
                <a:gd name="T9" fmla="*/ 36 h 116"/>
                <a:gd name="T10" fmla="*/ 3 w 173"/>
                <a:gd name="T11" fmla="*/ 31 h 116"/>
                <a:gd name="T12" fmla="*/ 54 w 173"/>
                <a:gd name="T13" fmla="*/ 2 h 116"/>
                <a:gd name="T14" fmla="*/ 64 w 173"/>
                <a:gd name="T15" fmla="*/ 2 h 116"/>
                <a:gd name="T16" fmla="*/ 170 w 173"/>
                <a:gd name="T17" fmla="*/ 63 h 116"/>
                <a:gd name="T18" fmla="*/ 173 w 173"/>
                <a:gd name="T19" fmla="*/ 67 h 116"/>
                <a:gd name="T20" fmla="*/ 170 w 173"/>
                <a:gd name="T21" fmla="*/ 72 h 116"/>
                <a:gd name="T22" fmla="*/ 96 w 173"/>
                <a:gd name="T23" fmla="*/ 115 h 116"/>
                <a:gd name="T24" fmla="*/ 90 w 173"/>
                <a:gd name="T25" fmla="*/ 116 h 116"/>
                <a:gd name="T26" fmla="*/ 59 w 173"/>
                <a:gd name="T27" fmla="*/ 4 h 116"/>
                <a:gd name="T28" fmla="*/ 55 w 173"/>
                <a:gd name="T29" fmla="*/ 5 h 116"/>
                <a:gd name="T30" fmla="*/ 5 w 173"/>
                <a:gd name="T31" fmla="*/ 34 h 116"/>
                <a:gd name="T32" fmla="*/ 4 w 173"/>
                <a:gd name="T33" fmla="*/ 36 h 116"/>
                <a:gd name="T34" fmla="*/ 5 w 173"/>
                <a:gd name="T35" fmla="*/ 64 h 116"/>
                <a:gd name="T36" fmla="*/ 6 w 173"/>
                <a:gd name="T37" fmla="*/ 65 h 116"/>
                <a:gd name="T38" fmla="*/ 87 w 173"/>
                <a:gd name="T39" fmla="*/ 111 h 116"/>
                <a:gd name="T40" fmla="*/ 94 w 173"/>
                <a:gd name="T41" fmla="*/ 111 h 116"/>
                <a:gd name="T42" fmla="*/ 168 w 173"/>
                <a:gd name="T43" fmla="*/ 69 h 116"/>
                <a:gd name="T44" fmla="*/ 169 w 173"/>
                <a:gd name="T45" fmla="*/ 67 h 116"/>
                <a:gd name="T46" fmla="*/ 168 w 173"/>
                <a:gd name="T47" fmla="*/ 66 h 116"/>
                <a:gd name="T48" fmla="*/ 63 w 173"/>
                <a:gd name="T49" fmla="*/ 5 h 116"/>
                <a:gd name="T50" fmla="*/ 59 w 173"/>
                <a:gd name="T51" fmla="*/ 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3" h="116">
                  <a:moveTo>
                    <a:pt x="90" y="116"/>
                  </a:moveTo>
                  <a:cubicBezTo>
                    <a:pt x="88" y="116"/>
                    <a:pt x="86" y="115"/>
                    <a:pt x="85" y="115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2" y="67"/>
                    <a:pt x="1" y="65"/>
                    <a:pt x="1" y="6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4"/>
                    <a:pt x="1" y="32"/>
                    <a:pt x="3" y="31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7" y="0"/>
                    <a:pt x="61" y="0"/>
                    <a:pt x="64" y="2"/>
                  </a:cubicBezTo>
                  <a:cubicBezTo>
                    <a:pt x="170" y="63"/>
                    <a:pt x="170" y="63"/>
                    <a:pt x="170" y="63"/>
                  </a:cubicBezTo>
                  <a:cubicBezTo>
                    <a:pt x="172" y="64"/>
                    <a:pt x="173" y="66"/>
                    <a:pt x="173" y="67"/>
                  </a:cubicBezTo>
                  <a:cubicBezTo>
                    <a:pt x="173" y="69"/>
                    <a:pt x="172" y="71"/>
                    <a:pt x="170" y="72"/>
                  </a:cubicBezTo>
                  <a:cubicBezTo>
                    <a:pt x="96" y="115"/>
                    <a:pt x="96" y="115"/>
                    <a:pt x="96" y="115"/>
                  </a:cubicBezTo>
                  <a:cubicBezTo>
                    <a:pt x="94" y="115"/>
                    <a:pt x="92" y="116"/>
                    <a:pt x="90" y="116"/>
                  </a:cubicBezTo>
                  <a:close/>
                  <a:moveTo>
                    <a:pt x="59" y="4"/>
                  </a:moveTo>
                  <a:cubicBezTo>
                    <a:pt x="58" y="4"/>
                    <a:pt x="56" y="5"/>
                    <a:pt x="55" y="5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5" y="64"/>
                    <a:pt x="5" y="64"/>
                    <a:pt x="6" y="65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9" y="113"/>
                    <a:pt x="92" y="113"/>
                    <a:pt x="94" y="111"/>
                  </a:cubicBezTo>
                  <a:cubicBezTo>
                    <a:pt x="168" y="69"/>
                    <a:pt x="168" y="69"/>
                    <a:pt x="168" y="69"/>
                  </a:cubicBezTo>
                  <a:cubicBezTo>
                    <a:pt x="169" y="68"/>
                    <a:pt x="169" y="68"/>
                    <a:pt x="169" y="67"/>
                  </a:cubicBezTo>
                  <a:cubicBezTo>
                    <a:pt x="169" y="67"/>
                    <a:pt x="169" y="67"/>
                    <a:pt x="168" y="66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2" y="5"/>
                    <a:pt x="60" y="4"/>
                    <a:pt x="59" y="4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" name="ïś1îḓé">
              <a:extLst>
                <a:ext uri="{FF2B5EF4-FFF2-40B4-BE49-F238E27FC236}">
                  <a16:creationId xmlns:a16="http://schemas.microsoft.com/office/drawing/2014/main" id="{ACA4E039-29AB-40F9-BFC7-B4027C45FF86}"/>
                </a:ext>
              </a:extLst>
            </p:cNvPr>
            <p:cNvSpPr/>
            <p:nvPr/>
          </p:nvSpPr>
          <p:spPr bwMode="auto">
            <a:xfrm>
              <a:off x="5137150" y="4852988"/>
              <a:ext cx="742950" cy="479425"/>
            </a:xfrm>
            <a:custGeom>
              <a:avLst/>
              <a:gdLst>
                <a:gd name="T0" fmla="*/ 98 w 100"/>
                <a:gd name="T1" fmla="*/ 39 h 65"/>
                <a:gd name="T2" fmla="*/ 55 w 100"/>
                <a:gd name="T3" fmla="*/ 65 h 65"/>
                <a:gd name="T4" fmla="*/ 49 w 100"/>
                <a:gd name="T5" fmla="*/ 65 h 65"/>
                <a:gd name="T6" fmla="*/ 2 w 100"/>
                <a:gd name="T7" fmla="*/ 37 h 65"/>
                <a:gd name="T8" fmla="*/ 1 w 100"/>
                <a:gd name="T9" fmla="*/ 36 h 65"/>
                <a:gd name="T10" fmla="*/ 0 w 100"/>
                <a:gd name="T11" fmla="*/ 19 h 65"/>
                <a:gd name="T12" fmla="*/ 1 w 100"/>
                <a:gd name="T13" fmla="*/ 18 h 65"/>
                <a:gd name="T14" fmla="*/ 31 w 100"/>
                <a:gd name="T15" fmla="*/ 0 h 65"/>
                <a:gd name="T16" fmla="*/ 36 w 100"/>
                <a:gd name="T17" fmla="*/ 0 h 65"/>
                <a:gd name="T18" fmla="*/ 98 w 100"/>
                <a:gd name="T19" fmla="*/ 36 h 65"/>
                <a:gd name="T20" fmla="*/ 98 w 100"/>
                <a:gd name="T21" fmla="*/ 3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65">
                  <a:moveTo>
                    <a:pt x="98" y="39"/>
                  </a:moveTo>
                  <a:cubicBezTo>
                    <a:pt x="55" y="65"/>
                    <a:pt x="55" y="65"/>
                    <a:pt x="55" y="65"/>
                  </a:cubicBezTo>
                  <a:cubicBezTo>
                    <a:pt x="53" y="65"/>
                    <a:pt x="51" y="65"/>
                    <a:pt x="49" y="65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1" y="36"/>
                    <a:pt x="1" y="3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1" y="18"/>
                    <a:pt x="1" y="1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3" y="0"/>
                    <a:pt x="35" y="0"/>
                    <a:pt x="36" y="0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100" y="37"/>
                    <a:pt x="100" y="38"/>
                    <a:pt x="9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3" name="ïṥḷidé">
              <a:extLst>
                <a:ext uri="{FF2B5EF4-FFF2-40B4-BE49-F238E27FC236}">
                  <a16:creationId xmlns:a16="http://schemas.microsoft.com/office/drawing/2014/main" id="{BFE5F3E5-9095-4ECE-B4E1-05F8375345CD}"/>
                </a:ext>
              </a:extLst>
            </p:cNvPr>
            <p:cNvSpPr/>
            <p:nvPr/>
          </p:nvSpPr>
          <p:spPr bwMode="auto">
            <a:xfrm>
              <a:off x="5130800" y="4837113"/>
              <a:ext cx="757238" cy="511175"/>
            </a:xfrm>
            <a:custGeom>
              <a:avLst/>
              <a:gdLst>
                <a:gd name="T0" fmla="*/ 53 w 102"/>
                <a:gd name="T1" fmla="*/ 69 h 69"/>
                <a:gd name="T2" fmla="*/ 50 w 102"/>
                <a:gd name="T3" fmla="*/ 68 h 69"/>
                <a:gd name="T4" fmla="*/ 2 w 102"/>
                <a:gd name="T5" fmla="*/ 41 h 69"/>
                <a:gd name="T6" fmla="*/ 0 w 102"/>
                <a:gd name="T7" fmla="*/ 38 h 69"/>
                <a:gd name="T8" fmla="*/ 0 w 102"/>
                <a:gd name="T9" fmla="*/ 21 h 69"/>
                <a:gd name="T10" fmla="*/ 2 w 102"/>
                <a:gd name="T11" fmla="*/ 18 h 69"/>
                <a:gd name="T12" fmla="*/ 31 w 102"/>
                <a:gd name="T13" fmla="*/ 1 h 69"/>
                <a:gd name="T14" fmla="*/ 38 w 102"/>
                <a:gd name="T15" fmla="*/ 1 h 69"/>
                <a:gd name="T16" fmla="*/ 100 w 102"/>
                <a:gd name="T17" fmla="*/ 37 h 69"/>
                <a:gd name="T18" fmla="*/ 102 w 102"/>
                <a:gd name="T19" fmla="*/ 40 h 69"/>
                <a:gd name="T20" fmla="*/ 100 w 102"/>
                <a:gd name="T21" fmla="*/ 43 h 69"/>
                <a:gd name="T22" fmla="*/ 100 w 102"/>
                <a:gd name="T23" fmla="*/ 43 h 69"/>
                <a:gd name="T24" fmla="*/ 57 w 102"/>
                <a:gd name="T25" fmla="*/ 68 h 69"/>
                <a:gd name="T26" fmla="*/ 53 w 102"/>
                <a:gd name="T27" fmla="*/ 69 h 69"/>
                <a:gd name="T28" fmla="*/ 35 w 102"/>
                <a:gd name="T29" fmla="*/ 4 h 69"/>
                <a:gd name="T30" fmla="*/ 33 w 102"/>
                <a:gd name="T31" fmla="*/ 4 h 69"/>
                <a:gd name="T32" fmla="*/ 3 w 102"/>
                <a:gd name="T33" fmla="*/ 21 h 69"/>
                <a:gd name="T34" fmla="*/ 4 w 102"/>
                <a:gd name="T35" fmla="*/ 38 h 69"/>
                <a:gd name="T36" fmla="*/ 51 w 102"/>
                <a:gd name="T37" fmla="*/ 65 h 69"/>
                <a:gd name="T38" fmla="*/ 55 w 102"/>
                <a:gd name="T39" fmla="*/ 65 h 69"/>
                <a:gd name="T40" fmla="*/ 99 w 102"/>
                <a:gd name="T41" fmla="*/ 40 h 69"/>
                <a:gd name="T42" fmla="*/ 99 w 102"/>
                <a:gd name="T43" fmla="*/ 40 h 69"/>
                <a:gd name="T44" fmla="*/ 99 w 102"/>
                <a:gd name="T45" fmla="*/ 40 h 69"/>
                <a:gd name="T46" fmla="*/ 37 w 102"/>
                <a:gd name="T47" fmla="*/ 4 h 69"/>
                <a:gd name="T48" fmla="*/ 35 w 102"/>
                <a:gd name="T49" fmla="*/ 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69">
                  <a:moveTo>
                    <a:pt x="53" y="69"/>
                  </a:moveTo>
                  <a:cubicBezTo>
                    <a:pt x="52" y="69"/>
                    <a:pt x="51" y="69"/>
                    <a:pt x="50" y="68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19"/>
                    <a:pt x="2" y="18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3" y="0"/>
                    <a:pt x="36" y="0"/>
                    <a:pt x="38" y="1"/>
                  </a:cubicBezTo>
                  <a:cubicBezTo>
                    <a:pt x="100" y="37"/>
                    <a:pt x="100" y="37"/>
                    <a:pt x="100" y="37"/>
                  </a:cubicBezTo>
                  <a:cubicBezTo>
                    <a:pt x="102" y="37"/>
                    <a:pt x="102" y="39"/>
                    <a:pt x="102" y="40"/>
                  </a:cubicBezTo>
                  <a:cubicBezTo>
                    <a:pt x="102" y="41"/>
                    <a:pt x="102" y="42"/>
                    <a:pt x="100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57" y="68"/>
                    <a:pt x="57" y="68"/>
                    <a:pt x="57" y="68"/>
                  </a:cubicBezTo>
                  <a:cubicBezTo>
                    <a:pt x="56" y="69"/>
                    <a:pt x="54" y="69"/>
                    <a:pt x="53" y="69"/>
                  </a:cubicBezTo>
                  <a:close/>
                  <a:moveTo>
                    <a:pt x="35" y="4"/>
                  </a:moveTo>
                  <a:cubicBezTo>
                    <a:pt x="34" y="4"/>
                    <a:pt x="33" y="4"/>
                    <a:pt x="33" y="4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2" y="66"/>
                    <a:pt x="54" y="66"/>
                    <a:pt x="55" y="65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5" y="4"/>
                    <a:pt x="35" y="4"/>
                  </a:cubicBezTo>
                  <a:close/>
                </a:path>
              </a:pathLst>
            </a:custGeom>
            <a:solidFill>
              <a:srgbClr val="150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4" name="页脚占位符 53">
            <a:extLst>
              <a:ext uri="{FF2B5EF4-FFF2-40B4-BE49-F238E27FC236}">
                <a16:creationId xmlns:a16="http://schemas.microsoft.com/office/drawing/2014/main" id="{33189850-7545-1901-F9CE-D9C4785E40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5" name="灯片编号占位符 54">
            <a:extLst>
              <a:ext uri="{FF2B5EF4-FFF2-40B4-BE49-F238E27FC236}">
                <a16:creationId xmlns:a16="http://schemas.microsoft.com/office/drawing/2014/main" id="{8343EC43-FDA2-3748-C07A-A3B92B9224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922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AC07E8-3A56-F66E-1001-CC91AC6D29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BEBA97-BC10-3D00-0744-1F5EB22BEE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994611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2D636405-F9A9-B9EC-8CDA-87CE04E16E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0746705-D44A-1A80-3CB2-989AD41FD7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8222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166019"/>
            <a:ext cx="10972800" cy="4525963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626ED7-0D71-1C2D-1421-055C765FC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5A96C9-7E77-4E61-B3CB-F1B02EB55C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939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88640"/>
            <a:ext cx="10972800" cy="1012974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0768"/>
            <a:ext cx="5384800" cy="478539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0768"/>
            <a:ext cx="5384800" cy="478539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88555" y="836713"/>
            <a:ext cx="1083549" cy="36512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1800" b="1" kern="1200" smtClean="0">
                <a:solidFill>
                  <a:srgbClr val="0070C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13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6F2214D-9FEB-4504-B1DC-3BBFF663DA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/>
          <a:stretch>
            <a:fillRect/>
          </a:stretch>
        </p:blipFill>
        <p:spPr>
          <a:xfrm>
            <a:off x="8940251" y="87005"/>
            <a:ext cx="3096419" cy="90518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233D86-62FC-BB2D-E47C-D52B846CA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DFAF1-FD19-4C30-9DF4-688508705D9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</p:sldLayoutIdLst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CD4040-3423-4D46-AB09-28BE59418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/>
          <a:stretch>
            <a:fillRect/>
          </a:stretch>
        </p:blipFill>
        <p:spPr>
          <a:xfrm>
            <a:off x="8940251" y="87005"/>
            <a:ext cx="3096419" cy="9051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hf hdr="0" ftr="0" dt="0"/>
  <p:txStyles>
    <p:titleStyle>
      <a:lvl1pPr algn="l" defTabSz="866753" rtl="0" eaLnBrk="1" latinLnBrk="0" hangingPunct="1">
        <a:lnSpc>
          <a:spcPct val="90000"/>
        </a:lnSpc>
        <a:spcBef>
          <a:spcPct val="0"/>
        </a:spcBef>
        <a:buNone/>
        <a:defRPr sz="41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29" indent="-216529" algn="l" defTabSz="866753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24" indent="-216529" algn="l" defTabSz="866753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18" indent="-216529" algn="l" defTabSz="866753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6977" indent="-216529" algn="l" defTabSz="866753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671" indent="-216529" algn="l" defTabSz="866753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31" indent="-216529" algn="l" defTabSz="866753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24" indent="-216529" algn="l" defTabSz="866753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119" indent="-216529" algn="l" defTabSz="866753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179" indent="-216529" algn="l" defTabSz="866753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53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694" algn="l" defTabSz="866753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53" algn="l" defTabSz="866753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47" algn="l" defTabSz="866753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42" algn="l" defTabSz="866753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00" algn="l" defTabSz="866753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895" algn="l" defTabSz="866753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3955" algn="l" defTabSz="866753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648" algn="l" defTabSz="866753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DA6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78119E8-92CF-4C55-8036-69D82A21C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/>
          <a:stretch>
            <a:fillRect/>
          </a:stretch>
        </p:blipFill>
        <p:spPr>
          <a:xfrm>
            <a:off x="8940251" y="87005"/>
            <a:ext cx="3096419" cy="9051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F2214D-9FEB-4504-B1DC-3BBFF663DA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/>
          <a:stretch>
            <a:fillRect/>
          </a:stretch>
        </p:blipFill>
        <p:spPr>
          <a:xfrm>
            <a:off x="8940251" y="87005"/>
            <a:ext cx="3096419" cy="905185"/>
          </a:xfrm>
          <a:prstGeom prst="rect">
            <a:avLst/>
          </a:prstGeom>
        </p:spPr>
      </p:pic>
      <p:sp>
        <p:nvSpPr>
          <p:cNvPr id="4" name="任意多边形 9">
            <a:extLst>
              <a:ext uri="{FF2B5EF4-FFF2-40B4-BE49-F238E27FC236}">
                <a16:creationId xmlns:a16="http://schemas.microsoft.com/office/drawing/2014/main" id="{08974F39-0870-4266-AEE1-99D97031E7D3}"/>
              </a:ext>
            </a:extLst>
          </p:cNvPr>
          <p:cNvSpPr/>
          <p:nvPr userDrawn="1"/>
        </p:nvSpPr>
        <p:spPr>
          <a:xfrm>
            <a:off x="1" y="6633881"/>
            <a:ext cx="6529892" cy="224118"/>
          </a:xfrm>
          <a:custGeom>
            <a:avLst/>
            <a:gdLst>
              <a:gd name="connsiteX0" fmla="*/ 0 w 6314739"/>
              <a:gd name="connsiteY0" fmla="*/ 0 h 224118"/>
              <a:gd name="connsiteX1" fmla="*/ 6033660 w 6314739"/>
              <a:gd name="connsiteY1" fmla="*/ 0 h 224118"/>
              <a:gd name="connsiteX2" fmla="*/ 5895190 w 6314739"/>
              <a:gd name="connsiteY2" fmla="*/ 188118 h 224118"/>
              <a:gd name="connsiteX3" fmla="*/ 6314739 w 6314739"/>
              <a:gd name="connsiteY3" fmla="*/ 188118 h 224118"/>
              <a:gd name="connsiteX4" fmla="*/ 6314739 w 6314739"/>
              <a:gd name="connsiteY4" fmla="*/ 224118 h 224118"/>
              <a:gd name="connsiteX5" fmla="*/ 0 w 6314739"/>
              <a:gd name="connsiteY5" fmla="*/ 224118 h 22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4739" h="224118">
                <a:moveTo>
                  <a:pt x="0" y="0"/>
                </a:moveTo>
                <a:lnTo>
                  <a:pt x="6033660" y="0"/>
                </a:lnTo>
                <a:lnTo>
                  <a:pt x="5895190" y="188118"/>
                </a:lnTo>
                <a:lnTo>
                  <a:pt x="6314739" y="188118"/>
                </a:lnTo>
                <a:lnTo>
                  <a:pt x="6314739" y="224118"/>
                </a:lnTo>
                <a:lnTo>
                  <a:pt x="0" y="224118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B42D92-222F-4166-82CF-6C0A022EFC04}"/>
              </a:ext>
            </a:extLst>
          </p:cNvPr>
          <p:cNvSpPr/>
          <p:nvPr userDrawn="1"/>
        </p:nvSpPr>
        <p:spPr>
          <a:xfrm>
            <a:off x="0" y="6822000"/>
            <a:ext cx="12192000" cy="36000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任意多边形 11">
            <a:extLst>
              <a:ext uri="{FF2B5EF4-FFF2-40B4-BE49-F238E27FC236}">
                <a16:creationId xmlns:a16="http://schemas.microsoft.com/office/drawing/2014/main" id="{FD96F6E3-0176-41B6-8C87-B0E1A3839C43}"/>
              </a:ext>
            </a:extLst>
          </p:cNvPr>
          <p:cNvSpPr/>
          <p:nvPr userDrawn="1"/>
        </p:nvSpPr>
        <p:spPr>
          <a:xfrm>
            <a:off x="7451051" y="6633881"/>
            <a:ext cx="4742331" cy="188000"/>
          </a:xfrm>
          <a:custGeom>
            <a:avLst/>
            <a:gdLst>
              <a:gd name="connsiteX0" fmla="*/ 138384 w 4742331"/>
              <a:gd name="connsiteY0" fmla="*/ 0 h 188000"/>
              <a:gd name="connsiteX1" fmla="*/ 4740848 w 4742331"/>
              <a:gd name="connsiteY1" fmla="*/ 5113 h 188000"/>
              <a:gd name="connsiteX2" fmla="*/ 4742331 w 4742331"/>
              <a:gd name="connsiteY2" fmla="*/ 188000 h 188000"/>
              <a:gd name="connsiteX3" fmla="*/ 0 w 4742331"/>
              <a:gd name="connsiteY3" fmla="*/ 188000 h 1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2331" h="188000">
                <a:moveTo>
                  <a:pt x="138384" y="0"/>
                </a:moveTo>
                <a:lnTo>
                  <a:pt x="4740848" y="5113"/>
                </a:lnTo>
                <a:cubicBezTo>
                  <a:pt x="4741342" y="66075"/>
                  <a:pt x="4741837" y="127038"/>
                  <a:pt x="4742331" y="188000"/>
                </a:cubicBezTo>
                <a:lnTo>
                  <a:pt x="0" y="18800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CE03019A-1D33-474C-BA90-05DF91766915}"/>
              </a:ext>
            </a:extLst>
          </p:cNvPr>
          <p:cNvSpPr/>
          <p:nvPr userDrawn="1"/>
        </p:nvSpPr>
        <p:spPr>
          <a:xfrm>
            <a:off x="6089427" y="6633881"/>
            <a:ext cx="1694331" cy="188118"/>
          </a:xfrm>
          <a:prstGeom prst="parallelogram">
            <a:avLst>
              <a:gd name="adj" fmla="val 73608"/>
            </a:avLst>
          </a:prstGeom>
          <a:solidFill>
            <a:srgbClr val="0E72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B9B5F577-787F-1A5A-35A5-51FED4AC1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6481-11C4-D01D-8114-C7020EC5B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435FF-4BF3-4182-9AAD-F79BDD77E5CF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018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117"/>
          <p:cNvSpPr>
            <a:spLocks noChangeArrowheads="1"/>
          </p:cNvSpPr>
          <p:nvPr/>
        </p:nvSpPr>
        <p:spPr bwMode="auto">
          <a:xfrm>
            <a:off x="1" y="765175"/>
            <a:ext cx="11377084" cy="71438"/>
          </a:xfrm>
          <a:prstGeom prst="rect">
            <a:avLst/>
          </a:prstGeom>
          <a:gradFill rotWithShape="1">
            <a:gsLst>
              <a:gs pos="0">
                <a:srgbClr val="084BC4"/>
              </a:gs>
              <a:gs pos="100000">
                <a:srgbClr val="D2DFF4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just" eaLnBrk="0" fontAlgn="t" hangingPunct="0">
              <a:lnSpc>
                <a:spcPct val="150000"/>
              </a:lnSpc>
              <a:spcBef>
                <a:spcPct val="20000"/>
              </a:spcBef>
            </a:pPr>
            <a:endParaRPr kumimoji="0" lang="zh-CN" altLang="en-US" sz="160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9" name="Picture 12" descr="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567" y="6375400"/>
            <a:ext cx="2059517" cy="439738"/>
          </a:xfrm>
          <a:prstGeom prst="rect">
            <a:avLst/>
          </a:prstGeom>
          <a:noFill/>
        </p:spPr>
      </p:pic>
      <p:pic>
        <p:nvPicPr>
          <p:cNvPr id="10" name="Picture 11" descr="新建 Microsoft Office Visio 绘图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6246814"/>
            <a:ext cx="9093200" cy="79375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FD6D789-AEFB-4451-88B5-2501C139BB14}"/>
              </a:ext>
            </a:extLst>
          </p:cNvPr>
          <p:cNvSpPr txBox="1"/>
          <p:nvPr userDrawn="1"/>
        </p:nvSpPr>
        <p:spPr>
          <a:xfrm>
            <a:off x="10723085" y="6333839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457356C-035F-49A7-AD33-8DF494634FAB}" type="slidenum">
              <a:rPr lang="zh-CN" altLang="en-US" sz="1800" b="1" smtClean="0"/>
              <a:t>‹#›</a:t>
            </a:fld>
            <a:r>
              <a:rPr lang="en-US" altLang="zh-CN" sz="1800" b="1" dirty="0"/>
              <a:t>/38</a:t>
            </a:r>
            <a:endParaRPr lang="zh-CN" altLang="en-US" sz="18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B92658-19E3-1ED6-DAB8-4AB6EE717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A96C9-7E77-4E61-B3CB-F1B02EB55C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8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6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5" Type="http://schemas.openxmlformats.org/officeDocument/2006/relationships/image" Target="../media/image19.jpeg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8.png"/><Relationship Id="rId12" Type="http://schemas.openxmlformats.org/officeDocument/2006/relationships/image" Target="../media/image43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6" Type="http://schemas.openxmlformats.org/officeDocument/2006/relationships/image" Target="../media/image37.png"/><Relationship Id="rId11" Type="http://schemas.openxmlformats.org/officeDocument/2006/relationships/image" Target="../media/image42.emf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5" Type="http://schemas.openxmlformats.org/officeDocument/2006/relationships/chart" Target="../charts/chart1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6F3F-E2A7-7F41-9811-35C90001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D7BD5CAF-5C3C-3828-058E-B2501C440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93C85703-F05C-EB4D-EBFE-A46EF8184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8C1AC-1F63-9F99-638F-F0989DA30BD8}"/>
              </a:ext>
            </a:extLst>
          </p:cNvPr>
          <p:cNvSpPr txBox="1"/>
          <p:nvPr/>
        </p:nvSpPr>
        <p:spPr>
          <a:xfrm>
            <a:off x="1602058" y="1644948"/>
            <a:ext cx="89878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kern="0" dirty="0">
                <a:solidFill>
                  <a:schemeClr val="tx2"/>
                </a:solidFill>
                <a:latin typeface="宋体"/>
                <a:ea typeface="宋体"/>
              </a:rPr>
              <a:t>旋转叶片回波时频分析及参数识别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CE1692-5C2C-536C-8185-1F1DBA8D88DA}"/>
              </a:ext>
            </a:extLst>
          </p:cNvPr>
          <p:cNvSpPr/>
          <p:nvPr/>
        </p:nvSpPr>
        <p:spPr>
          <a:xfrm>
            <a:off x="3973502" y="4059337"/>
            <a:ext cx="700544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SzPct val="80000"/>
              <a:buFont typeface="Wingdings" panose="05000000000000000000" pitchFamily="2" charset="2"/>
              <a:buChar char="n"/>
            </a:pPr>
            <a:r>
              <a:rPr lang="zh-CN" altLang="en-US" sz="2200" b="1" kern="0" dirty="0">
                <a:latin typeface="宋体"/>
                <a:ea typeface="宋体"/>
              </a:rPr>
              <a:t>学生名称：赵艺博</a:t>
            </a:r>
            <a:endParaRPr lang="en-US" altLang="zh-CN" sz="2200" b="1" kern="0" dirty="0">
              <a:latin typeface="宋体"/>
              <a:ea typeface="宋体"/>
            </a:endParaRPr>
          </a:p>
          <a:p>
            <a:pPr lvl="1">
              <a:buSzPct val="80000"/>
            </a:pPr>
            <a:endParaRPr lang="en-US" altLang="zh-CN" sz="2200" b="1" kern="0" dirty="0">
              <a:latin typeface="宋体"/>
              <a:ea typeface="宋体"/>
            </a:endParaRPr>
          </a:p>
          <a:p>
            <a:pPr lvl="1">
              <a:buSzPct val="80000"/>
              <a:buFont typeface="Wingdings" panose="05000000000000000000" pitchFamily="2" charset="2"/>
              <a:buChar char="n"/>
            </a:pPr>
            <a:r>
              <a:rPr lang="zh-CN" altLang="en-US" sz="2200" b="1" kern="0" dirty="0">
                <a:latin typeface="宋体"/>
                <a:ea typeface="宋体"/>
              </a:rPr>
              <a:t>指导老师：杨志勃</a:t>
            </a:r>
            <a:endParaRPr lang="en-US" altLang="zh-CN" sz="2200" b="1" kern="0" dirty="0">
              <a:latin typeface="宋体"/>
              <a:ea typeface="宋体"/>
            </a:endParaRPr>
          </a:p>
          <a:p>
            <a:pPr lvl="1">
              <a:buSzPct val="80000"/>
              <a:buFont typeface="Wingdings" panose="05000000000000000000" pitchFamily="2" charset="2"/>
              <a:buChar char="n"/>
            </a:pPr>
            <a:endParaRPr lang="en-US" altLang="zh-CN" sz="2200" b="1" kern="0" dirty="0">
              <a:solidFill>
                <a:srgbClr val="3333CC"/>
              </a:solidFill>
              <a:latin typeface="宋体"/>
              <a:ea typeface="宋体"/>
            </a:endParaRPr>
          </a:p>
          <a:p>
            <a:pPr lvl="1">
              <a:buSzPct val="80000"/>
              <a:buFont typeface="Wingdings" panose="05000000000000000000" pitchFamily="2" charset="2"/>
              <a:buChar char="n"/>
            </a:pPr>
            <a:endParaRPr lang="en-US" altLang="zh-CN" sz="2200" b="1" kern="0" dirty="0">
              <a:solidFill>
                <a:srgbClr val="3333CC"/>
              </a:solidFill>
              <a:latin typeface="宋体"/>
              <a:ea typeface="宋体"/>
            </a:endParaRPr>
          </a:p>
          <a:p>
            <a:pPr lvl="1">
              <a:buSzPct val="80000"/>
            </a:pPr>
            <a:r>
              <a:rPr lang="en-US" altLang="zh-CN" sz="2200" b="1" kern="0" dirty="0">
                <a:solidFill>
                  <a:srgbClr val="3333CC"/>
                </a:solidFill>
                <a:latin typeface="宋体"/>
                <a:ea typeface="宋体"/>
              </a:rPr>
              <a:t>						2026</a:t>
            </a:r>
            <a:r>
              <a:rPr lang="zh-CN" altLang="en-US" sz="2200" b="1" kern="0" dirty="0">
                <a:solidFill>
                  <a:srgbClr val="3333CC"/>
                </a:solidFill>
                <a:latin typeface="宋体"/>
                <a:ea typeface="宋体"/>
              </a:rPr>
              <a:t>年</a:t>
            </a:r>
            <a:r>
              <a:rPr lang="en-US" altLang="zh-CN" sz="2200" b="1" kern="0" dirty="0">
                <a:solidFill>
                  <a:srgbClr val="3333CC"/>
                </a:solidFill>
                <a:latin typeface="宋体"/>
                <a:ea typeface="宋体"/>
              </a:rPr>
              <a:t>4</a:t>
            </a:r>
            <a:r>
              <a:rPr lang="zh-CN" altLang="en-US" sz="2200" b="1" kern="0" dirty="0">
                <a:solidFill>
                  <a:srgbClr val="3333CC"/>
                </a:solidFill>
                <a:latin typeface="宋体"/>
                <a:ea typeface="宋体"/>
              </a:rPr>
              <a:t>月</a:t>
            </a:r>
            <a:endParaRPr lang="en-US" altLang="zh-CN" sz="2200" b="1" kern="0" dirty="0">
              <a:solidFill>
                <a:srgbClr val="3333CC"/>
              </a:solidFill>
              <a:latin typeface="宋体"/>
              <a:ea typeface="宋体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001FBD6-E0F9-5C1D-7D86-C3FB0062B459}"/>
              </a:ext>
            </a:extLst>
          </p:cNvPr>
          <p:cNvSpPr txBox="1">
            <a:spLocks noChangeArrowheads="1"/>
          </p:cNvSpPr>
          <p:nvPr/>
        </p:nvSpPr>
        <p:spPr>
          <a:xfrm>
            <a:off x="1020806" y="339149"/>
            <a:ext cx="5075193" cy="544593"/>
          </a:xfrm>
          <a:prstGeom prst="rect">
            <a:avLst/>
          </a:prstGeom>
        </p:spPr>
        <p:txBody>
          <a:bodyPr/>
          <a:lstStyle>
            <a:lvl1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914400"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1371600"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1828800"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kern="0" dirty="0">
                <a:solidFill>
                  <a:srgbClr val="3333CC"/>
                </a:solidFill>
                <a:latin typeface="Times New Roman"/>
              </a:rPr>
              <a:t>毕业设计中期答辩</a:t>
            </a:r>
            <a:endParaRPr lang="zh-CN" altLang="en-US" sz="2800" kern="0" dirty="0">
              <a:solidFill>
                <a:srgbClr val="3333CC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6E7922-F502-6377-FF25-C10A2DAD7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653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A555CCC6-98F4-46AE-BBCA-9FD60C958B6B}"/>
              </a:ext>
            </a:extLst>
          </p:cNvPr>
          <p:cNvSpPr txBox="1">
            <a:spLocks noChangeArrowheads="1"/>
          </p:cNvSpPr>
          <p:nvPr/>
        </p:nvSpPr>
        <p:spPr>
          <a:xfrm>
            <a:off x="5481897" y="532437"/>
            <a:ext cx="1228201" cy="544593"/>
          </a:xfrm>
          <a:prstGeom prst="rect">
            <a:avLst/>
          </a:prstGeom>
        </p:spPr>
        <p:txBody>
          <a:bodyPr/>
          <a:lstStyle>
            <a:lvl1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914400"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1371600"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1828800" algn="just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kern="0" dirty="0">
                <a:solidFill>
                  <a:srgbClr val="3333CC"/>
                </a:solidFill>
                <a:latin typeface="Times New Roman"/>
              </a:rPr>
              <a:t>目录</a:t>
            </a:r>
            <a:endParaRPr lang="zh-CN" altLang="en-US" sz="2800" kern="0" dirty="0">
              <a:solidFill>
                <a:srgbClr val="3333CC"/>
              </a:solidFill>
            </a:endParaRP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FA60F55E-8F10-42DB-8C93-D9000E80DA63}"/>
              </a:ext>
            </a:extLst>
          </p:cNvPr>
          <p:cNvSpPr txBox="1">
            <a:spLocks/>
          </p:cNvSpPr>
          <p:nvPr/>
        </p:nvSpPr>
        <p:spPr bwMode="auto">
          <a:xfrm>
            <a:off x="3210942" y="2066872"/>
            <a:ext cx="7960500" cy="331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 marL="0" indent="0">
              <a:buSzPct val="90000"/>
              <a:buNone/>
            </a:pPr>
            <a:r>
              <a:rPr lang="zh-CN" altLang="en-US" sz="3200" kern="0" dirty="0">
                <a:solidFill>
                  <a:srgbClr val="3333CC"/>
                </a:solidFill>
                <a:latin typeface="Times New Roman"/>
                <a:ea typeface="宋体"/>
              </a:rPr>
              <a:t>一、课题研究背景</a:t>
            </a:r>
            <a:endParaRPr lang="en-US" altLang="zh-CN" sz="3200" kern="0" dirty="0">
              <a:solidFill>
                <a:srgbClr val="3333CC"/>
              </a:solidFill>
              <a:latin typeface="Times New Roman"/>
              <a:ea typeface="宋体"/>
            </a:endParaRPr>
          </a:p>
          <a:p>
            <a:pPr marL="0" indent="0">
              <a:buSzPct val="90000"/>
              <a:buNone/>
            </a:pPr>
            <a:r>
              <a:rPr lang="zh-CN" altLang="en-US" sz="3200" kern="0" dirty="0">
                <a:solidFill>
                  <a:srgbClr val="3333CC"/>
                </a:solidFill>
                <a:latin typeface="Times New Roman"/>
                <a:ea typeface="宋体"/>
              </a:rPr>
              <a:t>二、硬件选型与试验台搭建</a:t>
            </a:r>
            <a:endParaRPr lang="en-US" altLang="zh-CN" sz="3200" kern="0" dirty="0">
              <a:solidFill>
                <a:srgbClr val="3333CC"/>
              </a:solidFill>
              <a:latin typeface="Times New Roman"/>
              <a:ea typeface="宋体"/>
            </a:endParaRPr>
          </a:p>
          <a:p>
            <a:pPr marL="0" indent="0">
              <a:buSzPct val="90000"/>
              <a:buNone/>
            </a:pPr>
            <a:r>
              <a:rPr lang="zh-CN" altLang="en-US" sz="3200" kern="0" dirty="0">
                <a:solidFill>
                  <a:srgbClr val="3333CC"/>
                </a:solidFill>
                <a:latin typeface="Times New Roman"/>
                <a:ea typeface="宋体"/>
              </a:rPr>
              <a:t>三、算法设计与结果展示</a:t>
            </a:r>
            <a:endParaRPr lang="en-US" altLang="zh-CN" sz="3200" kern="0" dirty="0">
              <a:solidFill>
                <a:srgbClr val="3333CC"/>
              </a:solidFill>
              <a:latin typeface="Times New Roman"/>
              <a:ea typeface="宋体"/>
            </a:endParaRPr>
          </a:p>
          <a:p>
            <a:pPr marL="0" indent="0">
              <a:buSzPct val="90000"/>
              <a:buNone/>
            </a:pPr>
            <a:r>
              <a:rPr lang="zh-CN" altLang="en-US" sz="3200" kern="0" dirty="0">
                <a:solidFill>
                  <a:srgbClr val="3333CC"/>
                </a:solidFill>
                <a:latin typeface="Times New Roman"/>
                <a:ea typeface="宋体"/>
              </a:rPr>
              <a:t>四、未来研究计划</a:t>
            </a:r>
            <a:endParaRPr lang="en-US" altLang="zh-CN" sz="3200" kern="0" dirty="0">
              <a:solidFill>
                <a:srgbClr val="3333CC"/>
              </a:solidFill>
              <a:latin typeface="Times New Roman"/>
              <a:ea typeface="宋体"/>
            </a:endParaRPr>
          </a:p>
          <a:p>
            <a:pPr marL="0" indent="0">
              <a:buSzPct val="90000"/>
              <a:buNone/>
            </a:pPr>
            <a:r>
              <a:rPr lang="zh-CN" altLang="en-US" sz="3200" kern="0" dirty="0">
                <a:solidFill>
                  <a:srgbClr val="3333CC"/>
                </a:solidFill>
                <a:latin typeface="Times New Roman"/>
                <a:ea typeface="宋体"/>
              </a:rPr>
              <a:t>五、附录</a:t>
            </a:r>
            <a:endParaRPr lang="en-US" altLang="zh-CN" sz="3200" kern="0" dirty="0">
              <a:solidFill>
                <a:srgbClr val="3333CC"/>
              </a:solidFill>
              <a:latin typeface="Times New Roman"/>
              <a:ea typeface="宋体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B7CA07-692E-F464-0C44-89B150924D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51823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3">
            <a:extLst>
              <a:ext uri="{FF2B5EF4-FFF2-40B4-BE49-F238E27FC236}">
                <a16:creationId xmlns:a16="http://schemas.microsoft.com/office/drawing/2014/main" id="{87658337-9BB6-7BD5-8C8F-EBEC8570E1BC}"/>
              </a:ext>
            </a:extLst>
          </p:cNvPr>
          <p:cNvSpPr txBox="1">
            <a:spLocks/>
          </p:cNvSpPr>
          <p:nvPr/>
        </p:nvSpPr>
        <p:spPr bwMode="auto">
          <a:xfrm>
            <a:off x="1587190" y="2624363"/>
            <a:ext cx="9017619" cy="101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 marL="0" indent="0" algn="ctr">
              <a:buSzPct val="90000"/>
              <a:buNone/>
            </a:pPr>
            <a:r>
              <a:rPr lang="zh-CN" altLang="en-US" sz="4800" kern="0" dirty="0">
                <a:solidFill>
                  <a:srgbClr val="3333CC"/>
                </a:solidFill>
                <a:latin typeface="Times New Roman"/>
                <a:ea typeface="宋体"/>
              </a:rPr>
              <a:t>一、课题研究背景</a:t>
            </a:r>
            <a:endParaRPr lang="en-US" altLang="zh-CN" sz="4800" kern="0" dirty="0">
              <a:solidFill>
                <a:srgbClr val="3333CC"/>
              </a:solidFill>
              <a:latin typeface="Times New Roman"/>
              <a:ea typeface="宋体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F61D207-2B52-D960-EE4C-B558E727B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46981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A0D67-D1D2-7BE8-10DA-F3418BE6C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0D90C802-AD8B-4A1A-4C37-FCFEA0BCD102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1.1: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研究背景</a:t>
            </a:r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56860C58-347E-581D-59C6-A8BB59AD8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703979"/>
              </p:ext>
            </p:extLst>
          </p:nvPr>
        </p:nvGraphicFramePr>
        <p:xfrm>
          <a:off x="96251" y="1179667"/>
          <a:ext cx="5522897" cy="1726077"/>
        </p:xfrm>
        <a:graphic>
          <a:graphicData uri="http://schemas.openxmlformats.org/drawingml/2006/table">
            <a:tbl>
              <a:tblPr firstRow="1" bandRow="1"/>
              <a:tblGrid>
                <a:gridCol w="3030594">
                  <a:extLst>
                    <a:ext uri="{9D8B030D-6E8A-4147-A177-3AD203B41FA5}">
                      <a16:colId xmlns:a16="http://schemas.microsoft.com/office/drawing/2014/main" val="2544141144"/>
                    </a:ext>
                  </a:extLst>
                </a:gridCol>
                <a:gridCol w="2492303">
                  <a:extLst>
                    <a:ext uri="{9D8B030D-6E8A-4147-A177-3AD203B41FA5}">
                      <a16:colId xmlns:a16="http://schemas.microsoft.com/office/drawing/2014/main" val="2078185150"/>
                    </a:ext>
                  </a:extLst>
                </a:gridCol>
              </a:tblGrid>
              <a:tr h="3856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雷达目标信号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干扰信号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39762"/>
                  </a:ext>
                </a:extLst>
              </a:tr>
              <a:tr h="4468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飞机航行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临近风电场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300845"/>
                  </a:ext>
                </a:extLst>
              </a:tr>
              <a:tr h="4468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直升机机身运动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直升机旋翼转动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025037"/>
                  </a:ext>
                </a:extLst>
              </a:tr>
              <a:tr h="4468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无人机机身平移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鸟类翅膀扇动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99620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1A8A633-75E2-1345-D421-D3F027F516E2}"/>
              </a:ext>
            </a:extLst>
          </p:cNvPr>
          <p:cNvSpPr txBox="1"/>
          <p:nvPr/>
        </p:nvSpPr>
        <p:spPr>
          <a:xfrm>
            <a:off x="7620" y="5377610"/>
            <a:ext cx="12184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微多普勒效应</a:t>
            </a:r>
            <a:r>
              <a:rPr lang="zh-CN" altLang="en-US" dirty="0"/>
              <a:t>：</a:t>
            </a:r>
            <a:r>
              <a:rPr lang="zh-CN" altLang="zh-CN" dirty="0"/>
              <a:t>是由目标</a:t>
            </a:r>
            <a:r>
              <a:rPr lang="en-US" altLang="zh-CN" dirty="0"/>
              <a:t>(</a:t>
            </a:r>
            <a:r>
              <a:rPr lang="zh-CN" altLang="zh-CN" dirty="0"/>
              <a:t>或其部件</a:t>
            </a:r>
            <a:r>
              <a:rPr lang="en-US" altLang="zh-CN" dirty="0"/>
              <a:t>)</a:t>
            </a:r>
            <a:r>
              <a:rPr lang="zh-CN" altLang="zh-CN" dirty="0"/>
              <a:t>的转动、振动、进动等微动引起的频率调制现象</a:t>
            </a:r>
            <a:r>
              <a:rPr lang="en-US" altLang="zh-CN" dirty="0"/>
              <a:t>,</a:t>
            </a:r>
            <a:r>
              <a:rPr lang="zh-CN" altLang="zh-CN" dirty="0"/>
              <a:t>对某些重要目标的探测产生了不可忽略的影响。</a:t>
            </a:r>
            <a:endParaRPr lang="en-US" altLang="zh-CN" dirty="0"/>
          </a:p>
          <a:p>
            <a:r>
              <a:rPr lang="zh-CN" altLang="en-US" b="1" dirty="0">
                <a:solidFill>
                  <a:schemeClr val="accent2"/>
                </a:solidFill>
              </a:rPr>
              <a:t>问题描述</a:t>
            </a:r>
            <a:r>
              <a:rPr lang="zh-CN" altLang="en-US" dirty="0"/>
              <a:t>：高频旋转叶片参数测量</a:t>
            </a:r>
            <a:endParaRPr lang="en-US" altLang="zh-CN" dirty="0"/>
          </a:p>
          <a:p>
            <a:r>
              <a:rPr lang="zh-CN" altLang="en-US" b="1" dirty="0">
                <a:solidFill>
                  <a:schemeClr val="accent2"/>
                </a:solidFill>
              </a:rPr>
              <a:t>解决方案</a:t>
            </a:r>
            <a:r>
              <a:rPr lang="zh-CN" altLang="en-US" dirty="0"/>
              <a:t>：</a:t>
            </a:r>
            <a:r>
              <a:rPr lang="en-US" altLang="zh-CN" dirty="0"/>
              <a:t>CW</a:t>
            </a:r>
            <a:r>
              <a:rPr lang="zh-CN" altLang="en-US" dirty="0"/>
              <a:t>毫米波雷达</a:t>
            </a:r>
            <a:endParaRPr lang="en-US" altLang="zh-CN" kern="0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4EF2415-64DF-FCF8-5928-C44DCFD76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325" y="1179667"/>
            <a:ext cx="2497260" cy="1632001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B479BFC9-9D17-309B-14EB-E5D22112DE29}"/>
              </a:ext>
            </a:extLst>
          </p:cNvPr>
          <p:cNvGrpSpPr/>
          <p:nvPr/>
        </p:nvGrpSpPr>
        <p:grpSpPr>
          <a:xfrm>
            <a:off x="96251" y="3302736"/>
            <a:ext cx="3965609" cy="2074874"/>
            <a:chOff x="458758" y="1079771"/>
            <a:chExt cx="5229376" cy="2687704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86003FB-532E-6708-87E9-3B472EB3281C}"/>
                </a:ext>
              </a:extLst>
            </p:cNvPr>
            <p:cNvGrpSpPr/>
            <p:nvPr/>
          </p:nvGrpSpPr>
          <p:grpSpPr>
            <a:xfrm>
              <a:off x="573472" y="1331980"/>
              <a:ext cx="5026515" cy="2435495"/>
              <a:chOff x="527382" y="1487622"/>
              <a:chExt cx="5026515" cy="2435495"/>
            </a:xfrm>
          </p:grpSpPr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E4DE1012-CD6C-B3D9-6398-2A46582943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8145" y="1487622"/>
                <a:ext cx="2685752" cy="2018591"/>
              </a:xfrm>
              <a:prstGeom prst="rect">
                <a:avLst/>
              </a:prstGeom>
            </p:spPr>
          </p:pic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CEDF96F2-7A3A-F2D4-FC36-446B27D94B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4381" b="5541"/>
              <a:stretch/>
            </p:blipFill>
            <p:spPr>
              <a:xfrm>
                <a:off x="527382" y="1487622"/>
                <a:ext cx="2240937" cy="2018591"/>
              </a:xfrm>
              <a:prstGeom prst="rect">
                <a:avLst/>
              </a:prstGeom>
            </p:spPr>
          </p:pic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50E863E-39A2-53AF-2B10-AFF28FEE8FF0}"/>
                  </a:ext>
                </a:extLst>
              </p:cNvPr>
              <p:cNvSpPr txBox="1"/>
              <p:nvPr/>
            </p:nvSpPr>
            <p:spPr>
              <a:xfrm>
                <a:off x="2333124" y="3444700"/>
                <a:ext cx="1874651" cy="478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Helicopter 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CB13765-3FF0-5D79-3DBE-17FDE4B1B0DF}"/>
                </a:ext>
              </a:extLst>
            </p:cNvPr>
            <p:cNvSpPr/>
            <p:nvPr/>
          </p:nvSpPr>
          <p:spPr>
            <a:xfrm>
              <a:off x="458758" y="1079771"/>
              <a:ext cx="5229376" cy="2633696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5DC2664-DD03-7832-9F30-727F76570536}"/>
              </a:ext>
            </a:extLst>
          </p:cNvPr>
          <p:cNvGrpSpPr/>
          <p:nvPr/>
        </p:nvGrpSpPr>
        <p:grpSpPr>
          <a:xfrm>
            <a:off x="4276184" y="3302736"/>
            <a:ext cx="3965610" cy="2037670"/>
            <a:chOff x="6096000" y="1079769"/>
            <a:chExt cx="5550387" cy="2641250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16F82FC-DB1B-9767-C7CF-92239F653809}"/>
                </a:ext>
              </a:extLst>
            </p:cNvPr>
            <p:cNvGrpSpPr/>
            <p:nvPr/>
          </p:nvGrpSpPr>
          <p:grpSpPr>
            <a:xfrm>
              <a:off x="6395009" y="1331980"/>
              <a:ext cx="5137769" cy="2389039"/>
              <a:chOff x="6348919" y="1487622"/>
              <a:chExt cx="5137769" cy="2389039"/>
            </a:xfrm>
          </p:grpSpPr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D3C5DA86-3C72-2C4C-5E7D-8D9F3ADC4C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48919" y="1487622"/>
                <a:ext cx="2697181" cy="2018591"/>
              </a:xfrm>
              <a:prstGeom prst="rect">
                <a:avLst/>
              </a:prstGeom>
            </p:spPr>
          </p:pic>
          <p:pic>
            <p:nvPicPr>
              <p:cNvPr id="45" name="Picture 2" descr="DJI 深圳大疆山地物资运输无人机FlyCart30-仪表网">
                <a:extLst>
                  <a:ext uri="{FF2B5EF4-FFF2-40B4-BE49-F238E27FC236}">
                    <a16:creationId xmlns:a16="http://schemas.microsoft.com/office/drawing/2014/main" id="{9757FEF8-0112-1807-25C9-2705CC1D80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922"/>
              <a:stretch/>
            </p:blipFill>
            <p:spPr bwMode="auto">
              <a:xfrm>
                <a:off x="9327800" y="1487622"/>
                <a:ext cx="2158888" cy="20185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2A7A56A-AFF3-D004-4964-EEE18E284492}"/>
                  </a:ext>
                </a:extLst>
              </p:cNvPr>
              <p:cNvSpPr txBox="1"/>
              <p:nvPr/>
            </p:nvSpPr>
            <p:spPr>
              <a:xfrm>
                <a:off x="8482675" y="3397929"/>
                <a:ext cx="1463799" cy="478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UAV 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77537E5-C38A-6111-B6F7-69ECE99F7B5C}"/>
                </a:ext>
              </a:extLst>
            </p:cNvPr>
            <p:cNvSpPr/>
            <p:nvPr/>
          </p:nvSpPr>
          <p:spPr>
            <a:xfrm>
              <a:off x="6096000" y="1079769"/>
              <a:ext cx="5550387" cy="2633697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3764F44-5529-A286-5275-2352F8D5505A}"/>
              </a:ext>
            </a:extLst>
          </p:cNvPr>
          <p:cNvGrpSpPr/>
          <p:nvPr/>
        </p:nvGrpSpPr>
        <p:grpSpPr>
          <a:xfrm>
            <a:off x="8517218" y="1105171"/>
            <a:ext cx="2498179" cy="4229408"/>
            <a:chOff x="8988113" y="264850"/>
            <a:chExt cx="2852094" cy="4706224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DFEAADD-86D1-2EFD-64BA-81053AF21023}"/>
                </a:ext>
              </a:extLst>
            </p:cNvPr>
            <p:cNvSpPr txBox="1"/>
            <p:nvPr/>
          </p:nvSpPr>
          <p:spPr>
            <a:xfrm>
              <a:off x="9821620" y="4525814"/>
              <a:ext cx="2018586" cy="410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bird 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93904D3C-82A2-30F7-5A2C-71F52462DB09}"/>
                </a:ext>
              </a:extLst>
            </p:cNvPr>
            <p:cNvGrpSpPr/>
            <p:nvPr/>
          </p:nvGrpSpPr>
          <p:grpSpPr>
            <a:xfrm>
              <a:off x="8988113" y="264850"/>
              <a:ext cx="2852094" cy="4706224"/>
              <a:chOff x="8429827" y="972153"/>
              <a:chExt cx="2852094" cy="4706224"/>
            </a:xfrm>
          </p:grpSpPr>
          <p:pic>
            <p:nvPicPr>
              <p:cNvPr id="50" name="图片 49">
                <a:extLst>
                  <a:ext uri="{FF2B5EF4-FFF2-40B4-BE49-F238E27FC236}">
                    <a16:creationId xmlns:a16="http://schemas.microsoft.com/office/drawing/2014/main" id="{B436871B-1237-CF62-6C9D-290974BA30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30604" y="3232275"/>
                <a:ext cx="2685752" cy="2012155"/>
              </a:xfrm>
              <a:prstGeom prst="rect">
                <a:avLst/>
              </a:prstGeom>
            </p:spPr>
          </p:pic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C1DBACE9-D650-AEF5-EE34-3D56CB2F75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31314" t="-1" b="7240"/>
              <a:stretch/>
            </p:blipFill>
            <p:spPr>
              <a:xfrm>
                <a:off x="8766194" y="1127484"/>
                <a:ext cx="2240937" cy="2018591"/>
              </a:xfrm>
              <a:prstGeom prst="rect">
                <a:avLst/>
              </a:prstGeom>
            </p:spPr>
          </p:pic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7004B61-CD77-35FD-2F2F-DB6ED036ACC8}"/>
                  </a:ext>
                </a:extLst>
              </p:cNvPr>
              <p:cNvSpPr/>
              <p:nvPr/>
            </p:nvSpPr>
            <p:spPr>
              <a:xfrm>
                <a:off x="8429827" y="972153"/>
                <a:ext cx="2852094" cy="4706224"/>
              </a:xfrm>
              <a:prstGeom prst="rect">
                <a:avLst/>
              </a:pr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598BEA-3C52-517C-F6EA-164D9C2C9D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219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E9EE-D0D1-E5B8-F72F-18780366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56D9706A-EDB1-5503-CCB3-91ECAB7F40BB}"/>
              </a:ext>
            </a:extLst>
          </p:cNvPr>
          <p:cNvSpPr txBox="1"/>
          <p:nvPr/>
        </p:nvSpPr>
        <p:spPr>
          <a:xfrm>
            <a:off x="938531" y="288926"/>
            <a:ext cx="4438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1.2.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微波雷达</a:t>
            </a:r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47DC09AB-9C8C-F2E3-9F97-CC60B55A82BF}"/>
              </a:ext>
            </a:extLst>
          </p:cNvPr>
          <p:cNvSpPr txBox="1">
            <a:spLocks/>
          </p:cNvSpPr>
          <p:nvPr/>
        </p:nvSpPr>
        <p:spPr bwMode="auto">
          <a:xfrm>
            <a:off x="-200096" y="1293834"/>
            <a:ext cx="11918719" cy="4956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2000" kern="0" dirty="0"/>
              <a:t>微波：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电磁波，其速度等于光速，波长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</a:rPr>
              <a:t>1mm-1m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。具有优越的特性，如似光性和似声性、穿透性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有些物体不能穿透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</a:rPr>
              <a:t>)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、非电离性、信息性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应用主要方向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</a:rPr>
              <a:t>)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、分布参数特性等。</a:t>
            </a:r>
            <a:endParaRPr lang="en-US" altLang="zh-CN" sz="2000" kern="0" dirty="0">
              <a:solidFill>
                <a:srgbClr val="000000"/>
              </a:solidFill>
              <a:latin typeface="Times New Roman"/>
            </a:endParaRPr>
          </a:p>
          <a:p>
            <a:pPr marL="268287" lvl="1" indent="0">
              <a:buSzPct val="90000"/>
              <a:buNone/>
            </a:pPr>
            <a:endParaRPr lang="en-US" altLang="zh-CN" sz="2000" kern="0" dirty="0">
              <a:solidFill>
                <a:srgbClr val="000000"/>
              </a:solidFill>
              <a:latin typeface="Times New Roman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2000" kern="0" dirty="0"/>
              <a:t>微波雷达系统分类：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脉冲雷达与连续波雷达。连续波雷达又分为</a:t>
            </a:r>
            <a:r>
              <a:rPr lang="zh-CN" altLang="en-US" sz="2000" kern="0" dirty="0">
                <a:latin typeface="Times New Roman"/>
              </a:rPr>
              <a:t>单频连续波雷达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与</a:t>
            </a:r>
            <a:r>
              <a:rPr lang="zh-CN" altLang="en-US" sz="2000" kern="0" dirty="0">
                <a:solidFill>
                  <a:schemeClr val="tx1"/>
                </a:solidFill>
              </a:rPr>
              <a:t>调频连续波雷达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。</a:t>
            </a:r>
            <a:endParaRPr lang="zh-CN" altLang="zh-CN" sz="2000" kern="0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3FDC5C-B33A-457C-7DEE-BB1448B3D2C4}"/>
              </a:ext>
            </a:extLst>
          </p:cNvPr>
          <p:cNvSpPr txBox="1">
            <a:spLocks/>
          </p:cNvSpPr>
          <p:nvPr/>
        </p:nvSpPr>
        <p:spPr bwMode="auto">
          <a:xfrm>
            <a:off x="5310023" y="3525454"/>
            <a:ext cx="10581323" cy="2198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>
              <a:buSzPct val="90000"/>
            </a:pP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微波传感器优点</a:t>
            </a:r>
            <a:endParaRPr lang="en-US" altLang="zh-CN" sz="2000" kern="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微波可屏蔽尘埃、烟雾和蒸汽对其测量精度的影响，</a:t>
            </a:r>
            <a:endParaRPr lang="en-US" altLang="zh-CN" sz="2000" kern="0" dirty="0">
              <a:solidFill>
                <a:srgbClr val="000000"/>
              </a:solidFill>
              <a:latin typeface="Times New Roman"/>
            </a:endParaRPr>
          </a:p>
          <a:p>
            <a:pPr marL="268287" lvl="1" indent="0">
              <a:buSzPct val="90000"/>
              <a:buNone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具有良好的传输信息的特性。</a:t>
            </a:r>
            <a:endParaRPr lang="en-US" altLang="zh-CN" sz="2000" kern="0" dirty="0">
              <a:solidFill>
                <a:srgbClr val="000000"/>
              </a:solidFill>
              <a:latin typeface="Times New Roman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微波速度传播快，传感器灵敏度高，响应度高。</a:t>
            </a:r>
          </a:p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可适应恶劣的工作环境，可靠性强。</a:t>
            </a:r>
            <a:endParaRPr lang="en-US" altLang="zh-CN" sz="2000" kern="0" dirty="0">
              <a:solidFill>
                <a:srgbClr val="000000"/>
              </a:solidFill>
              <a:latin typeface="Times New Roman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现有的微波雷达技术已成熟，仪器价格低廉易制稳定性好</a:t>
            </a:r>
          </a:p>
          <a:p>
            <a:pPr marL="268287" lvl="1" indent="0">
              <a:buSzPct val="90000"/>
              <a:buNone/>
            </a:pPr>
            <a:endParaRPr lang="zh-CN" altLang="en-US" sz="2000" kern="0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58FAC95-6F22-005D-024D-2245305C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937710"/>
              </p:ext>
            </p:extLst>
          </p:nvPr>
        </p:nvGraphicFramePr>
        <p:xfrm>
          <a:off x="124534" y="3407270"/>
          <a:ext cx="4879909" cy="2355380"/>
        </p:xfrm>
        <a:graphic>
          <a:graphicData uri="http://schemas.openxmlformats.org/drawingml/2006/table">
            <a:tbl>
              <a:tblPr firstRow="1" bandRow="1"/>
              <a:tblGrid>
                <a:gridCol w="1591331">
                  <a:extLst>
                    <a:ext uri="{9D8B030D-6E8A-4147-A177-3AD203B41FA5}">
                      <a16:colId xmlns:a16="http://schemas.microsoft.com/office/drawing/2014/main" val="1452362024"/>
                    </a:ext>
                  </a:extLst>
                </a:gridCol>
                <a:gridCol w="3288578">
                  <a:extLst>
                    <a:ext uri="{9D8B030D-6E8A-4147-A177-3AD203B41FA5}">
                      <a16:colId xmlns:a16="http://schemas.microsoft.com/office/drawing/2014/main" val="2141166470"/>
                    </a:ext>
                  </a:extLst>
                </a:gridCol>
              </a:tblGrid>
              <a:tr h="3812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/>
                        <a:t>振动测量方法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存在的问题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764586"/>
                  </a:ext>
                </a:extLst>
              </a:tr>
              <a:tr h="6580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/>
                        <a:t>接触式测量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振动干扰、改变目标结构特性、器件腐蚀，易脱落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960178"/>
                  </a:ext>
                </a:extLst>
              </a:tr>
              <a:tr h="6580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/>
                        <a:t>激光传感器测量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单点、设备昂贵、对测量距离要求高，受极端天气影响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601238"/>
                  </a:ext>
                </a:extLst>
              </a:tr>
              <a:tr h="6580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声波振动监测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穿透能力不高且、受噪声干扰影响大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33779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91F1B58-D780-5ED2-C8BA-88D0F5B418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279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4CA8F-D5ED-D086-831D-9E60580F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3">
            <a:extLst>
              <a:ext uri="{FF2B5EF4-FFF2-40B4-BE49-F238E27FC236}">
                <a16:creationId xmlns:a16="http://schemas.microsoft.com/office/drawing/2014/main" id="{00ADEA97-4DF2-434A-D1D0-1449EB516ECF}"/>
              </a:ext>
            </a:extLst>
          </p:cNvPr>
          <p:cNvSpPr txBox="1">
            <a:spLocks/>
          </p:cNvSpPr>
          <p:nvPr/>
        </p:nvSpPr>
        <p:spPr bwMode="auto">
          <a:xfrm>
            <a:off x="1889406" y="2678607"/>
            <a:ext cx="9017619" cy="101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 marL="0" indent="0">
              <a:buSzPct val="90000"/>
              <a:buNone/>
            </a:pPr>
            <a:r>
              <a:rPr lang="zh-CN" altLang="en-US" sz="4800" kern="0" dirty="0">
                <a:solidFill>
                  <a:srgbClr val="3333CC"/>
                </a:solidFill>
                <a:latin typeface="Times New Roman"/>
                <a:ea typeface="宋体"/>
              </a:rPr>
              <a:t>二、硬件选型与试验台搭建</a:t>
            </a:r>
            <a:endParaRPr lang="en-US" altLang="zh-CN" sz="4800" kern="0" dirty="0">
              <a:solidFill>
                <a:srgbClr val="3333CC"/>
              </a:solidFill>
              <a:latin typeface="Times New Roman"/>
              <a:ea typeface="宋体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7B5D9E8-6945-E783-57C3-5DABB6FAC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461194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2DE91-3418-DAB1-3EC9-D7D4BB4E6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83A6F6E-B796-9CFB-B3C3-85A6406D8B3B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2.1: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雷达信号形式选择</a:t>
            </a:r>
          </a:p>
        </p:txBody>
      </p:sp>
      <p:sp>
        <p:nvSpPr>
          <p:cNvPr id="3" name="内容占位符 3">
            <a:extLst>
              <a:ext uri="{FF2B5EF4-FFF2-40B4-BE49-F238E27FC236}">
                <a16:creationId xmlns:a16="http://schemas.microsoft.com/office/drawing/2014/main" id="{AA129948-0616-2038-9647-F25846FA50A9}"/>
              </a:ext>
            </a:extLst>
          </p:cNvPr>
          <p:cNvSpPr txBox="1">
            <a:spLocks/>
          </p:cNvSpPr>
          <p:nvPr/>
        </p:nvSpPr>
        <p:spPr bwMode="auto">
          <a:xfrm>
            <a:off x="8142778" y="706028"/>
            <a:ext cx="4049222" cy="544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 marL="0" indent="0">
              <a:buSzPct val="90000"/>
              <a:buNone/>
            </a:pPr>
            <a:endParaRPr lang="en-US" altLang="zh-CN" sz="2400" kern="0" dirty="0">
              <a:solidFill>
                <a:srgbClr val="000000"/>
              </a:solidFill>
              <a:latin typeface="宋体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1800" kern="0" dirty="0"/>
              <a:t>脉冲雷达缺点：</a:t>
            </a:r>
            <a:r>
              <a:rPr lang="zh-CN" altLang="en-US" sz="1800" kern="0" dirty="0">
                <a:solidFill>
                  <a:srgbClr val="000000"/>
                </a:solidFill>
                <a:latin typeface="Times New Roman"/>
              </a:rPr>
              <a:t>相比于连续波雷达，发射功率较大，成本较高，近距离测距存在盲区。</a:t>
            </a:r>
            <a:endParaRPr lang="en-US" altLang="zh-CN" sz="1800" kern="0" dirty="0">
              <a:solidFill>
                <a:srgbClr val="000000"/>
              </a:solidFill>
              <a:latin typeface="Times New Roman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1800" kern="0" dirty="0">
                <a:solidFill>
                  <a:schemeClr val="accent2"/>
                </a:solidFill>
                <a:latin typeface="Times New Roman"/>
              </a:rPr>
              <a:t>调频连续波雷达</a:t>
            </a:r>
            <a:r>
              <a:rPr lang="zh-CN" altLang="en-US" sz="1800" kern="0" dirty="0">
                <a:solidFill>
                  <a:srgbClr val="000000"/>
                </a:solidFill>
                <a:latin typeface="Times New Roman"/>
              </a:rPr>
              <a:t>：存在距离</a:t>
            </a:r>
            <a:r>
              <a:rPr lang="en-US" altLang="zh-CN" sz="1800" kern="0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lang="zh-CN" altLang="en-US" sz="1800" kern="0" dirty="0">
                <a:solidFill>
                  <a:srgbClr val="000000"/>
                </a:solidFill>
                <a:latin typeface="Times New Roman"/>
              </a:rPr>
              <a:t>速度耦合现象，导致时频图轨迹畸变、虚假位移。同时</a:t>
            </a:r>
            <a:r>
              <a:rPr lang="en-US" altLang="zh-CN" sz="1800" kern="0" dirty="0">
                <a:solidFill>
                  <a:srgbClr val="000000"/>
                </a:solidFill>
                <a:latin typeface="Times New Roman"/>
              </a:rPr>
              <a:t>FMCW</a:t>
            </a:r>
            <a:r>
              <a:rPr lang="zh-CN" altLang="en-US" sz="1800" kern="0" dirty="0">
                <a:solidFill>
                  <a:srgbClr val="000000"/>
                </a:solidFill>
                <a:latin typeface="Times New Roman"/>
              </a:rPr>
              <a:t>雷达波及其中频信号不连续，存在快慢周期，慢采样率太低无法保证采样率。</a:t>
            </a:r>
            <a:endParaRPr lang="en-US" altLang="zh-CN" sz="1800" kern="0" dirty="0">
              <a:solidFill>
                <a:srgbClr val="000000"/>
              </a:solidFill>
              <a:latin typeface="Times New Roman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1800" kern="0" dirty="0">
                <a:solidFill>
                  <a:schemeClr val="accent2"/>
                </a:solidFill>
                <a:latin typeface="Times New Roman"/>
              </a:rPr>
              <a:t>连续波雷达</a:t>
            </a:r>
            <a:r>
              <a:rPr lang="zh-CN" altLang="en-US" sz="1800" kern="0" dirty="0">
                <a:solidFill>
                  <a:srgbClr val="000000"/>
                </a:solidFill>
                <a:latin typeface="Times New Roman"/>
              </a:rPr>
              <a:t>：带宽为</a:t>
            </a:r>
            <a:r>
              <a:rPr lang="en-US" altLang="zh-CN" sz="1800" kern="0" dirty="0">
                <a:solidFill>
                  <a:srgbClr val="000000"/>
                </a:solidFill>
                <a:latin typeface="Times New Roman"/>
              </a:rPr>
              <a:t>0</a:t>
            </a:r>
            <a:r>
              <a:rPr lang="zh-CN" altLang="en-US" sz="1800" kern="0" dirty="0">
                <a:solidFill>
                  <a:srgbClr val="000000"/>
                </a:solidFill>
                <a:latin typeface="Times New Roman"/>
              </a:rPr>
              <a:t>可以消除耦合干扰；时间分辨率高，可以捕捉时间极短的“闪烁现象”，同时信号相干性好、相位连续，可以使用</a:t>
            </a:r>
            <a:r>
              <a:rPr lang="en-US" altLang="zh-CN" sz="1800" kern="0" dirty="0">
                <a:solidFill>
                  <a:srgbClr val="000000"/>
                </a:solidFill>
                <a:latin typeface="Times New Roman"/>
              </a:rPr>
              <a:t>SST</a:t>
            </a:r>
            <a:r>
              <a:rPr lang="zh-CN" altLang="en-US" sz="1800" kern="0" dirty="0">
                <a:solidFill>
                  <a:srgbClr val="000000"/>
                </a:solidFill>
                <a:latin typeface="Times New Roman"/>
              </a:rPr>
              <a:t>、</a:t>
            </a:r>
            <a:r>
              <a:rPr lang="en-US" altLang="zh-CN" sz="1800" kern="0" dirty="0">
                <a:solidFill>
                  <a:srgbClr val="000000"/>
                </a:solidFill>
                <a:latin typeface="Times New Roman"/>
              </a:rPr>
              <a:t>WVD</a:t>
            </a:r>
            <a:r>
              <a:rPr lang="zh-CN" altLang="en-US" sz="1800" kern="0" dirty="0">
                <a:solidFill>
                  <a:srgbClr val="000000"/>
                </a:solidFill>
                <a:latin typeface="Times New Roman"/>
              </a:rPr>
              <a:t>等算法。</a:t>
            </a:r>
            <a:endParaRPr lang="en-US" altLang="zh-CN" sz="1800" kern="0" dirty="0">
              <a:solidFill>
                <a:srgbClr val="000000"/>
              </a:solidFill>
              <a:latin typeface="Times New Roman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endParaRPr lang="en-US" altLang="zh-CN" kern="0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07B43FD-2AF4-8B60-9329-53CD7977F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33534"/>
              </p:ext>
            </p:extLst>
          </p:nvPr>
        </p:nvGraphicFramePr>
        <p:xfrm>
          <a:off x="141869" y="1281561"/>
          <a:ext cx="8051799" cy="4949224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949051">
                  <a:extLst>
                    <a:ext uri="{9D8B030D-6E8A-4147-A177-3AD203B41FA5}">
                      <a16:colId xmlns:a16="http://schemas.microsoft.com/office/drawing/2014/main" val="2361764514"/>
                    </a:ext>
                  </a:extLst>
                </a:gridCol>
                <a:gridCol w="2076583">
                  <a:extLst>
                    <a:ext uri="{9D8B030D-6E8A-4147-A177-3AD203B41FA5}">
                      <a16:colId xmlns:a16="http://schemas.microsoft.com/office/drawing/2014/main" val="2549789829"/>
                    </a:ext>
                  </a:extLst>
                </a:gridCol>
                <a:gridCol w="2076583">
                  <a:extLst>
                    <a:ext uri="{9D8B030D-6E8A-4147-A177-3AD203B41FA5}">
                      <a16:colId xmlns:a16="http://schemas.microsoft.com/office/drawing/2014/main" val="19396717"/>
                    </a:ext>
                  </a:extLst>
                </a:gridCol>
                <a:gridCol w="1949582">
                  <a:extLst>
                    <a:ext uri="{9D8B030D-6E8A-4147-A177-3AD203B41FA5}">
                      <a16:colId xmlns:a16="http://schemas.microsoft.com/office/drawing/2014/main" val="3771797643"/>
                    </a:ext>
                  </a:extLst>
                </a:gridCol>
              </a:tblGrid>
              <a:tr h="593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</a:rPr>
                        <a:t>对比维度</a:t>
                      </a:r>
                      <a:endParaRPr lang="zh-CN" altLang="en-US" sz="1800" b="0" dirty="0">
                        <a:effectLst/>
                        <a:latin typeface="Inter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脉冲雷达 </a:t>
                      </a:r>
                      <a:r>
                        <a:rPr lang="en-US" altLang="zh-CN" sz="1800" b="0">
                          <a:effectLst/>
                        </a:rPr>
                        <a:t>(</a:t>
                      </a:r>
                      <a:r>
                        <a:rPr lang="en-US" sz="1800" b="0">
                          <a:effectLst/>
                        </a:rPr>
                        <a:t>Pulse Radar)</a:t>
                      </a:r>
                      <a:endParaRPr lang="en-US" sz="1800" b="0">
                        <a:effectLst/>
                        <a:latin typeface="Inter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调频连续波 </a:t>
                      </a:r>
                      <a:r>
                        <a:rPr lang="en-US" altLang="zh-CN" sz="1800" b="0">
                          <a:effectLst/>
                        </a:rPr>
                        <a:t>(</a:t>
                      </a:r>
                      <a:r>
                        <a:rPr lang="en-US" sz="1800" b="0">
                          <a:effectLst/>
                        </a:rPr>
                        <a:t>FMCW)</a:t>
                      </a:r>
                      <a:endParaRPr lang="en-US" sz="1800" b="0">
                        <a:effectLst/>
                        <a:latin typeface="Inter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</a:rPr>
                        <a:t>连续波 </a:t>
                      </a:r>
                      <a:r>
                        <a:rPr lang="en-US" altLang="zh-CN" sz="1800" b="0" dirty="0">
                          <a:effectLst/>
                        </a:rPr>
                        <a:t>(</a:t>
                      </a:r>
                      <a:r>
                        <a:rPr lang="en-US" sz="1800" b="0" dirty="0">
                          <a:effectLst/>
                        </a:rPr>
                        <a:t>CW)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936646728"/>
                  </a:ext>
                </a:extLst>
              </a:tr>
              <a:tr h="6630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</a:rPr>
                        <a:t>工作原理</a:t>
                      </a:r>
                      <a:endParaRPr lang="zh-CN" altLang="en-US" sz="1800" b="0" dirty="0">
                        <a:effectLst/>
                        <a:latin typeface="Inter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发射高功率窄脉冲，测回波时间差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>
                          <a:solidFill>
                            <a:srgbClr val="000000"/>
                          </a:solidFill>
                        </a:rPr>
                        <a:t>发射频率随时间变化的扫频信号</a:t>
                      </a:r>
                      <a:endParaRPr lang="zh-CN" altLang="en-US" sz="2000" b="0" kern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>
                          <a:solidFill>
                            <a:srgbClr val="000000"/>
                          </a:solidFill>
                        </a:rPr>
                        <a:t>发射恒定频率的正弦波</a:t>
                      </a:r>
                      <a:endParaRPr lang="zh-CN" altLang="en-US" sz="2000" b="0" kern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47641741"/>
                  </a:ext>
                </a:extLst>
              </a:tr>
              <a:tr h="6630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</a:rPr>
                        <a:t>测距能力</a:t>
                      </a:r>
                      <a:endParaRPr lang="zh-CN" altLang="en-US" sz="1800" b="0" dirty="0">
                        <a:effectLst/>
                        <a:latin typeface="Inter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极强，适用于远距离探测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强，适用于中近距离精确定位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>
                          <a:solidFill>
                            <a:srgbClr val="000000"/>
                          </a:solidFill>
                        </a:rPr>
                        <a:t>无（无法直接测定绝对距离）</a:t>
                      </a:r>
                      <a:endParaRPr lang="zh-CN" altLang="en-US" sz="2000" b="0" kern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996719"/>
                  </a:ext>
                </a:extLst>
              </a:tr>
              <a:tr h="6630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测速</a:t>
                      </a:r>
                      <a:r>
                        <a:rPr lang="en-US" altLang="zh-CN" sz="1800" b="0">
                          <a:effectLst/>
                        </a:rPr>
                        <a:t>/</a:t>
                      </a:r>
                      <a:r>
                        <a:rPr lang="zh-CN" altLang="en-US" sz="1800" b="0">
                          <a:effectLst/>
                        </a:rPr>
                        <a:t>微动感知</a:t>
                      </a:r>
                      <a:endParaRPr lang="zh-CN" altLang="en-US" sz="1800" b="0">
                        <a:effectLst/>
                        <a:latin typeface="Inter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一般，受脉冲重复频率</a:t>
                      </a:r>
                      <a:r>
                        <a:rPr lang="en-US" altLang="zh-CN" sz="2000" b="0" kern="0" dirty="0">
                          <a:solidFill>
                            <a:srgbClr val="000000"/>
                          </a:solidFill>
                        </a:rPr>
                        <a:t>(PRF)</a:t>
                      </a: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限制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较强，但存在距离</a:t>
                      </a:r>
                      <a:r>
                        <a:rPr lang="en-US" altLang="zh-CN" sz="2000" b="0" kern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速度耦合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>
                          <a:solidFill>
                            <a:srgbClr val="000000"/>
                          </a:solidFill>
                        </a:rPr>
                        <a:t>极强，拥有最高的相位灵敏度</a:t>
                      </a:r>
                      <a:endParaRPr lang="zh-CN" altLang="en-US" sz="2000" b="0" kern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8053090"/>
                  </a:ext>
                </a:extLst>
              </a:tr>
              <a:tr h="6630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</a:rPr>
                        <a:t>信号相干性</a:t>
                      </a:r>
                      <a:endParaRPr lang="zh-CN" altLang="en-US" sz="1800" b="0" dirty="0">
                        <a:effectLst/>
                        <a:latin typeface="Inter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较低（由于脉冲断续）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中等（受扫频非线性和噪声影响）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最高（连续照明，相位连续稳定）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92825809"/>
                  </a:ext>
                </a:extLst>
              </a:tr>
              <a:tr h="651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</a:rPr>
                        <a:t>硬件复杂度</a:t>
                      </a:r>
                      <a:r>
                        <a:rPr lang="en-US" altLang="zh-CN" sz="1800" b="0" dirty="0">
                          <a:effectLst/>
                        </a:rPr>
                        <a:t>/</a:t>
                      </a:r>
                      <a:r>
                        <a:rPr lang="zh-CN" altLang="en-US" sz="1800" b="0" dirty="0">
                          <a:effectLst/>
                        </a:rPr>
                        <a:t>数据处理量</a:t>
                      </a:r>
                      <a:endParaRPr lang="zh-CN" altLang="en-US" sz="1800" b="0" dirty="0">
                        <a:effectLst/>
                        <a:latin typeface="Inter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极高</a:t>
                      </a:r>
                      <a:r>
                        <a:rPr lang="en-US" altLang="zh-CN" sz="2000" b="0" kern="0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大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较高</a:t>
                      </a:r>
                      <a:r>
                        <a:rPr lang="en-US" altLang="zh-CN" sz="2000" b="0" kern="0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较大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极低</a:t>
                      </a:r>
                      <a:r>
                        <a:rPr lang="en-US" altLang="zh-CN" sz="2000" b="0" kern="0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</a:rPr>
                        <a:t>小</a:t>
                      </a: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57411036"/>
                  </a:ext>
                </a:extLst>
              </a:tr>
              <a:tr h="3683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  <a:latin typeface="Inter"/>
                        </a:rPr>
                        <a:t>直流偏移、</a:t>
                      </a:r>
                      <a:r>
                        <a:rPr lang="en-US" altLang="zh-CN" sz="1800" b="0" dirty="0">
                          <a:effectLst/>
                          <a:latin typeface="Inter"/>
                        </a:rPr>
                        <a:t>IQ</a:t>
                      </a:r>
                      <a:r>
                        <a:rPr lang="zh-CN" altLang="en-US" sz="1800" b="0" dirty="0">
                          <a:effectLst/>
                          <a:latin typeface="Inter"/>
                        </a:rPr>
                        <a:t>不均衡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2000" b="0" kern="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否、较小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0" kern="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是、较大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5051303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FE6CEC-0C16-2866-7433-22F7006E68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243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E588F-21B0-AA54-6238-6E729C16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305E0EE-CE61-1091-6315-F605BD945B63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2.2.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雷达版硬件选型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052705-2091-F541-5CC7-7E6416C92C6A}"/>
              </a:ext>
            </a:extLst>
          </p:cNvPr>
          <p:cNvSpPr txBox="1"/>
          <p:nvPr/>
        </p:nvSpPr>
        <p:spPr>
          <a:xfrm>
            <a:off x="141972" y="1119556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50"/>
              </a:spcAft>
              <a:buNone/>
            </a:pPr>
            <a:r>
              <a:rPr lang="en-US" altLang="zh-CN" sz="2000" b="1" i="0" dirty="0">
                <a:effectLst/>
                <a:latin typeface="PingFang SC"/>
              </a:rPr>
              <a:t>1.  Indie 120GHz</a:t>
            </a:r>
            <a:r>
              <a:rPr lang="zh-CN" altLang="en-US" sz="2000" b="1" i="0" dirty="0">
                <a:effectLst/>
                <a:latin typeface="PingFang SC"/>
              </a:rPr>
              <a:t>雷达收发芯片</a:t>
            </a:r>
            <a:r>
              <a:rPr lang="en-US" altLang="zh-CN" sz="2000" b="1" i="0" dirty="0">
                <a:effectLst/>
                <a:latin typeface="PingFang SC"/>
              </a:rPr>
              <a:t>TRX_120_089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6E8F9E-7A2D-5133-9F8D-6DE7354FAE74}"/>
              </a:ext>
            </a:extLst>
          </p:cNvPr>
          <p:cNvSpPr txBox="1"/>
          <p:nvPr/>
        </p:nvSpPr>
        <p:spPr>
          <a:xfrm>
            <a:off x="6609347" y="1119556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PingFang SC"/>
              </a:rPr>
              <a:t>2.  Ti </a:t>
            </a:r>
            <a:r>
              <a:rPr lang="zh-CN" altLang="en-US" sz="2000" b="1" dirty="0">
                <a:latin typeface="PingFang SC"/>
              </a:rPr>
              <a:t> </a:t>
            </a:r>
            <a:r>
              <a:rPr lang="en-US" altLang="zh-CN" sz="2000" b="1" dirty="0">
                <a:latin typeface="PingFang SC"/>
              </a:rPr>
              <a:t>77GHz</a:t>
            </a:r>
            <a:r>
              <a:rPr lang="zh-CN" altLang="en-US" sz="2000" b="1" dirty="0">
                <a:latin typeface="PingFang SC"/>
              </a:rPr>
              <a:t>雷达收发芯片</a:t>
            </a:r>
            <a:r>
              <a:rPr lang="en-US" altLang="zh-CN" sz="2000" b="1" dirty="0">
                <a:latin typeface="PingFang SC"/>
              </a:rPr>
              <a:t>IWR</a:t>
            </a:r>
            <a:r>
              <a:rPr lang="zh-CN" altLang="en-US" sz="2000" b="1" dirty="0">
                <a:latin typeface="PingFang SC"/>
              </a:rPr>
              <a:t>1642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170F30-4C2B-2454-865A-F5F0F13B52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72" y="3497119"/>
            <a:ext cx="5062888" cy="188597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F0F1AA4-C2C6-741A-7E81-60D9475EDCFD}"/>
              </a:ext>
            </a:extLst>
          </p:cNvPr>
          <p:cNvSpPr txBox="1"/>
          <p:nvPr/>
        </p:nvSpPr>
        <p:spPr>
          <a:xfrm>
            <a:off x="298383" y="5582653"/>
            <a:ext cx="506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1.CW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连续毫米波雷达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采样率：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100kHz</a:t>
            </a:r>
          </a:p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由三个部分组成：雷达探头、主板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MCU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、基板</a:t>
            </a:r>
          </a:p>
        </p:txBody>
      </p:sp>
      <p:pic>
        <p:nvPicPr>
          <p:cNvPr id="23554" name="Picture 2" descr="IWR1642_TI 集成 DSP 和 MCU 的 76GHz 至 81GHz 单芯片毫米波传感器">
            <a:extLst>
              <a:ext uri="{FF2B5EF4-FFF2-40B4-BE49-F238E27FC236}">
                <a16:creationId xmlns:a16="http://schemas.microsoft.com/office/drawing/2014/main" id="{31BEB5BA-9DC4-BD63-A3F1-060BE1230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024" y="1565405"/>
            <a:ext cx="3121794" cy="175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 descr="IWR1642_TI 集成 DSP 和 MCU 的 76GHz 至 81GHz 单芯片毫米波传感器">
            <a:extLst>
              <a:ext uri="{FF2B5EF4-FFF2-40B4-BE49-F238E27FC236}">
                <a16:creationId xmlns:a16="http://schemas.microsoft.com/office/drawing/2014/main" id="{A1407A4F-20E5-41BE-A19D-17D315180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33314"/>
            <a:ext cx="3231287" cy="181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69AB6EA-E87B-7F9B-10DA-D1AA1E3F9497}"/>
              </a:ext>
            </a:extLst>
          </p:cNvPr>
          <p:cNvSpPr txBox="1"/>
          <p:nvPr/>
        </p:nvSpPr>
        <p:spPr>
          <a:xfrm>
            <a:off x="6239576" y="5547824"/>
            <a:ext cx="506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1.FMCW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调频连续毫米波雷达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采样率：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2kHz</a:t>
            </a:r>
          </a:p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压缩快时间维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等效为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CW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连续毫米波雷达</a:t>
            </a:r>
          </a:p>
        </p:txBody>
      </p:sp>
      <p:pic>
        <p:nvPicPr>
          <p:cNvPr id="23558" name="Picture 6" descr="TI AWR1642和IWR1642雷达传感器 - 产品亮点 - DigiKey得捷电子">
            <a:extLst>
              <a:ext uri="{FF2B5EF4-FFF2-40B4-BE49-F238E27FC236}">
                <a16:creationId xmlns:a16="http://schemas.microsoft.com/office/drawing/2014/main" id="{591B5536-A3A0-C951-2FE8-D65CD91C4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0045" y="3537706"/>
            <a:ext cx="2034142" cy="135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ED14489-073F-34A6-AE8D-A9DFA86F418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74" t="29613" r="34631" b="21404"/>
          <a:stretch>
            <a:fillRect/>
          </a:stretch>
        </p:blipFill>
        <p:spPr>
          <a:xfrm>
            <a:off x="1358361" y="1646638"/>
            <a:ext cx="2896006" cy="181781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E6D11A-11F1-CF5E-4CCF-EE53AF78AB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05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F7BE-85E1-12A9-44CD-AACCA7AA3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9286C66-FF8E-BA3B-07F4-B3AB66376C60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试验台搭建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30E5F8-6738-FCB7-C800-201FD069C8BF}"/>
              </a:ext>
            </a:extLst>
          </p:cNvPr>
          <p:cNvSpPr txBox="1"/>
          <p:nvPr/>
        </p:nvSpPr>
        <p:spPr>
          <a:xfrm>
            <a:off x="103873" y="1171370"/>
            <a:ext cx="12184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1.</a:t>
            </a:r>
            <a:r>
              <a:rPr lang="zh-CN" altLang="en-US" b="1" dirty="0">
                <a:solidFill>
                  <a:schemeClr val="accent2"/>
                </a:solidFill>
              </a:rPr>
              <a:t>叶片参数</a:t>
            </a:r>
            <a:r>
              <a:rPr lang="zh-CN" altLang="en-US" dirty="0"/>
              <a:t>：设立两组叶片数据集，具体如下图所示：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FC901E5-EC2E-ED27-3685-D84C90DEC8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77" t="9967" r="30439" b="31780"/>
          <a:stretch>
            <a:fillRect/>
          </a:stretch>
        </p:blipFill>
        <p:spPr>
          <a:xfrm>
            <a:off x="8103269" y="1838371"/>
            <a:ext cx="3984858" cy="3992928"/>
          </a:xfrm>
          <a:prstGeom prst="rect">
            <a:avLst/>
          </a:prstGeom>
        </p:spPr>
      </p:pic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6DCAADF7-C5B3-2E87-BB07-92C8B3AA0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211750"/>
              </p:ext>
            </p:extLst>
          </p:nvPr>
        </p:nvGraphicFramePr>
        <p:xfrm>
          <a:off x="4309512" y="2002055"/>
          <a:ext cx="3572976" cy="35209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992">
                  <a:extLst>
                    <a:ext uri="{9D8B030D-6E8A-4147-A177-3AD203B41FA5}">
                      <a16:colId xmlns:a16="http://schemas.microsoft.com/office/drawing/2014/main" val="1574526990"/>
                    </a:ext>
                  </a:extLst>
                </a:gridCol>
                <a:gridCol w="1190992">
                  <a:extLst>
                    <a:ext uri="{9D8B030D-6E8A-4147-A177-3AD203B41FA5}">
                      <a16:colId xmlns:a16="http://schemas.microsoft.com/office/drawing/2014/main" val="1286788386"/>
                    </a:ext>
                  </a:extLst>
                </a:gridCol>
                <a:gridCol w="1190992">
                  <a:extLst>
                    <a:ext uri="{9D8B030D-6E8A-4147-A177-3AD203B41FA5}">
                      <a16:colId xmlns:a16="http://schemas.microsoft.com/office/drawing/2014/main" val="2004051636"/>
                    </a:ext>
                  </a:extLst>
                </a:gridCol>
              </a:tblGrid>
              <a:tr h="5792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竖直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水平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292059"/>
                  </a:ext>
                </a:extLst>
              </a:tr>
              <a:tr h="5883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120mm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叶尖半径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89.15mm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981586"/>
                  </a:ext>
                </a:extLst>
              </a:tr>
              <a:tr h="5883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25mm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叶盘半径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28mm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938238"/>
                  </a:ext>
                </a:extLst>
              </a:tr>
              <a:tr h="5883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FMCW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雷达波形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CW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211653"/>
                  </a:ext>
                </a:extLst>
              </a:tr>
              <a:tr h="5883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10mm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探头距离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不固定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526008"/>
                  </a:ext>
                </a:extLst>
              </a:tr>
              <a:tr h="5883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77GHz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雷达频率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120GHz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312817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7EB2197F-5F3F-F1C2-E976-3C46D881A33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4" t="4936" r="17818" b="7048"/>
          <a:stretch/>
        </p:blipFill>
        <p:spPr>
          <a:xfrm>
            <a:off x="125654" y="2176414"/>
            <a:ext cx="4073468" cy="3172229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FDEDD28-62D5-7A9D-F22E-D79A6F3CE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865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CA345-AD7D-FE73-C70E-CB6B769D8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D9198FA0-1668-B1F4-5E4F-4E3B0DE1B302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试验台搭建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6B3BD3-F806-CD43-BC52-4233FDA622D0}"/>
              </a:ext>
            </a:extLst>
          </p:cNvPr>
          <p:cNvSpPr txBox="1"/>
          <p:nvPr/>
        </p:nvSpPr>
        <p:spPr>
          <a:xfrm>
            <a:off x="103873" y="1171370"/>
            <a:ext cx="12184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2.</a:t>
            </a:r>
            <a:r>
              <a:rPr lang="zh-CN" altLang="en-US" b="1" dirty="0">
                <a:solidFill>
                  <a:schemeClr val="accent2"/>
                </a:solidFill>
              </a:rPr>
              <a:t>试验台搭建</a:t>
            </a:r>
            <a:r>
              <a:rPr lang="zh-CN" altLang="en-US" dirty="0"/>
              <a:t>：以水平放置类叶片为例：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3C8D2C0-0D74-4E95-365A-A98721C4D795}"/>
              </a:ext>
            </a:extLst>
          </p:cNvPr>
          <p:cNvGrpSpPr/>
          <p:nvPr/>
        </p:nvGrpSpPr>
        <p:grpSpPr>
          <a:xfrm>
            <a:off x="358542" y="1958303"/>
            <a:ext cx="6824312" cy="3838675"/>
            <a:chOff x="2415942" y="2034503"/>
            <a:chExt cx="6824312" cy="383867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7D189C1-4395-465E-B6FF-DD711DDD1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5942" y="2034503"/>
              <a:ext cx="6824312" cy="3838675"/>
            </a:xfrm>
            <a:prstGeom prst="rect">
              <a:avLst/>
            </a:prstGeom>
          </p:spPr>
        </p:pic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E58426E-6164-FE5A-9C8E-017E0139C8BF}"/>
                </a:ext>
              </a:extLst>
            </p:cNvPr>
            <p:cNvGrpSpPr/>
            <p:nvPr/>
          </p:nvGrpSpPr>
          <p:grpSpPr>
            <a:xfrm>
              <a:off x="4429760" y="2463800"/>
              <a:ext cx="3027682" cy="2392890"/>
              <a:chOff x="4429760" y="2463800"/>
              <a:chExt cx="3027682" cy="239289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5D235D-B02F-32DA-8192-3EB8C0AE0066}"/>
                  </a:ext>
                </a:extLst>
              </p:cNvPr>
              <p:cNvSpPr txBox="1"/>
              <p:nvPr/>
            </p:nvSpPr>
            <p:spPr>
              <a:xfrm>
                <a:off x="6670040" y="246380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1.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354CD92-A711-9BE9-B4C0-DCCECBAEE987}"/>
                  </a:ext>
                </a:extLst>
              </p:cNvPr>
              <p:cNvSpPr txBox="1"/>
              <p:nvPr/>
            </p:nvSpPr>
            <p:spPr>
              <a:xfrm>
                <a:off x="5318760" y="290576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2.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B60B05C-2E27-0567-FCAA-6A471C60B262}"/>
                  </a:ext>
                </a:extLst>
              </p:cNvPr>
              <p:cNvSpPr txBox="1"/>
              <p:nvPr/>
            </p:nvSpPr>
            <p:spPr>
              <a:xfrm>
                <a:off x="4429760" y="443484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3.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2A1EF7A-C6EE-6AD7-69D0-3FD3AA25C060}"/>
                  </a:ext>
                </a:extLst>
              </p:cNvPr>
              <p:cNvSpPr txBox="1"/>
              <p:nvPr/>
            </p:nvSpPr>
            <p:spPr>
              <a:xfrm>
                <a:off x="6898640" y="3840203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4.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63B146B-5B2F-CE4E-EF06-5D014406DFE2}"/>
                  </a:ext>
                </a:extLst>
              </p:cNvPr>
              <p:cNvSpPr txBox="1"/>
              <p:nvPr/>
            </p:nvSpPr>
            <p:spPr>
              <a:xfrm>
                <a:off x="7152642" y="448735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5.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AEF021D-612D-3A88-1301-6423A08385F6}"/>
                  </a:ext>
                </a:extLst>
              </p:cNvPr>
              <p:cNvSpPr txBox="1"/>
              <p:nvPr/>
            </p:nvSpPr>
            <p:spPr>
              <a:xfrm>
                <a:off x="7127107" y="2679401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6.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3" name="椭圆 12">
            <a:extLst>
              <a:ext uri="{FF2B5EF4-FFF2-40B4-BE49-F238E27FC236}">
                <a16:creationId xmlns:a16="http://schemas.microsoft.com/office/drawing/2014/main" id="{CBE8556C-AE6A-7A9F-5C21-AA380C07688A}"/>
              </a:ext>
            </a:extLst>
          </p:cNvPr>
          <p:cNvSpPr/>
          <p:nvPr/>
        </p:nvSpPr>
        <p:spPr>
          <a:xfrm>
            <a:off x="4593591" y="2387817"/>
            <a:ext cx="356666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0B867A1-2C82-BABC-C473-1AE3E31F5646}"/>
              </a:ext>
            </a:extLst>
          </p:cNvPr>
          <p:cNvSpPr/>
          <p:nvPr/>
        </p:nvSpPr>
        <p:spPr>
          <a:xfrm>
            <a:off x="5059549" y="2596552"/>
            <a:ext cx="356666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EF1982B-7C91-B18F-C687-4B608C920F64}"/>
              </a:ext>
            </a:extLst>
          </p:cNvPr>
          <p:cNvSpPr/>
          <p:nvPr/>
        </p:nvSpPr>
        <p:spPr>
          <a:xfrm>
            <a:off x="3251202" y="2829560"/>
            <a:ext cx="356666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EC1373B-C136-A5E0-313E-D07D0C3C774D}"/>
              </a:ext>
            </a:extLst>
          </p:cNvPr>
          <p:cNvSpPr/>
          <p:nvPr/>
        </p:nvSpPr>
        <p:spPr>
          <a:xfrm>
            <a:off x="4815307" y="3764003"/>
            <a:ext cx="356666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2657FE6-F8C6-EF1E-5043-7B0B2A985ED8}"/>
              </a:ext>
            </a:extLst>
          </p:cNvPr>
          <p:cNvSpPr/>
          <p:nvPr/>
        </p:nvSpPr>
        <p:spPr>
          <a:xfrm>
            <a:off x="5059414" y="4393362"/>
            <a:ext cx="356666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35DA2AC-E392-B2BF-551D-2F3C58CDC138}"/>
              </a:ext>
            </a:extLst>
          </p:cNvPr>
          <p:cNvSpPr/>
          <p:nvPr/>
        </p:nvSpPr>
        <p:spPr>
          <a:xfrm>
            <a:off x="2349502" y="4358640"/>
            <a:ext cx="356666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08D30F-E564-BFD2-5439-BFF5CF4761C9}"/>
              </a:ext>
            </a:extLst>
          </p:cNvPr>
          <p:cNvSpPr txBox="1"/>
          <p:nvPr/>
        </p:nvSpPr>
        <p:spPr>
          <a:xfrm>
            <a:off x="7446678" y="1906230"/>
            <a:ext cx="46691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旋转叶片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：受电机控制，以固定转频进行旋转的叶片；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无刷变频电机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：用主轴连接叶片带动叶片旋转；</a:t>
            </a:r>
          </a:p>
          <a:p>
            <a:r>
              <a:rPr lang="en-US" altLang="zh-CN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电机变频控制器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：控制电机的转速，本次实验共设置：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500rpm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1000rpm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2000rpm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3000rpm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共三种转速；</a:t>
            </a:r>
          </a:p>
          <a:p>
            <a:r>
              <a:rPr lang="en-US" altLang="zh-CN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控制器</a:t>
            </a:r>
            <a:r>
              <a:rPr lang="en-US" altLang="zh-CN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MCU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：负责控制雷达板进行数据的收发，内含有振荡器、混频器、耦合器等元器件；</a:t>
            </a:r>
          </a:p>
          <a:p>
            <a:r>
              <a:rPr lang="en-US" altLang="zh-CN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数据采集器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：负责将差频模拟信号以一定采样率转化为数字信号，下图为实时采集软件采集到的数据波形；</a:t>
            </a:r>
          </a:p>
          <a:p>
            <a:r>
              <a:rPr lang="en-US" altLang="zh-CN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</a:t>
            </a:r>
            <a:r>
              <a:rPr lang="zh-CN" altLang="en-US" sz="1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雷达收发板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：该图为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Indie 120GHz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雷达板。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A3D03AC-7323-72E3-4529-7BC029FCDC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7" b="24336"/>
          <a:stretch>
            <a:fillRect/>
          </a:stretch>
        </p:blipFill>
        <p:spPr>
          <a:xfrm>
            <a:off x="7554227" y="4024869"/>
            <a:ext cx="4030822" cy="239794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73E8FD-A4BE-1F8A-FA26-BFF371BD4C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713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0F0A-15A5-8A92-FBE7-D1738A7A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3">
            <a:extLst>
              <a:ext uri="{FF2B5EF4-FFF2-40B4-BE49-F238E27FC236}">
                <a16:creationId xmlns:a16="http://schemas.microsoft.com/office/drawing/2014/main" id="{77EA07FC-CD36-5487-F8D1-64B11F314111}"/>
              </a:ext>
            </a:extLst>
          </p:cNvPr>
          <p:cNvSpPr txBox="1">
            <a:spLocks/>
          </p:cNvSpPr>
          <p:nvPr/>
        </p:nvSpPr>
        <p:spPr bwMode="auto">
          <a:xfrm>
            <a:off x="1587190" y="2624363"/>
            <a:ext cx="9017619" cy="101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 marL="0" indent="0">
              <a:buSzPct val="90000"/>
              <a:buNone/>
            </a:pPr>
            <a:r>
              <a:rPr lang="zh-CN" altLang="en-US" sz="4800" kern="0" dirty="0">
                <a:solidFill>
                  <a:srgbClr val="3333CC"/>
                </a:solidFill>
                <a:latin typeface="Times New Roman"/>
                <a:ea typeface="宋体"/>
              </a:rPr>
              <a:t>三、算法流程设计与结果展示</a:t>
            </a:r>
            <a:endParaRPr lang="en-US" altLang="zh-CN" sz="4800" kern="0" dirty="0">
              <a:solidFill>
                <a:srgbClr val="3333CC"/>
              </a:solidFill>
              <a:latin typeface="Times New Roman"/>
              <a:ea typeface="宋体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B7F680-F55C-2F3A-6166-695420B612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587387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68AF7-6C15-98CF-D9A2-D259C5F8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430FEE35-9243-1DE0-D134-749E62651EF9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3.1.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近场下旋转叶片雷达回波建模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68D768-986E-AC24-FDCB-20E3579AC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6129"/>
            <a:ext cx="6798733" cy="241220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0249F4E-C273-7DCF-CA16-BDDD5505F087}"/>
              </a:ext>
            </a:extLst>
          </p:cNvPr>
          <p:cNvSpPr txBox="1"/>
          <p:nvPr/>
        </p:nvSpPr>
        <p:spPr>
          <a:xfrm>
            <a:off x="6934199" y="1329106"/>
            <a:ext cx="51477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对于单一叶片，我们可以将其分为：叶根回波、叶片侧面回波、叶尖回波、叶盘回波四个部分。根据其特性分别等效为：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叶盘（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Disk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）静态回波；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叶根局部散射中心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(RLC)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叶片侧面滑动分布散射中心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(SSDSC)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叶顶端面分布散射中心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(TDSC)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按照上述四种情况的假设，结合通用公式推导，不难得出单也叶片叶盘各分量公式：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3.1.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叶盘分量：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FADEB9-2483-7F2A-3E6C-ACD52AA1D908}"/>
              </a:ext>
            </a:extLst>
          </p:cNvPr>
          <p:cNvSpPr txBox="1"/>
          <p:nvPr/>
        </p:nvSpPr>
        <p:spPr>
          <a:xfrm>
            <a:off x="135466" y="3935738"/>
            <a:ext cx="6451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一般情况下，近场雷达回波强度与雷达射频、俯仰角、反射材料材质等因素有关。综合以上要素，近场雷达回波信号可以写做：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A1DB01A-AC87-AB6E-D6B2-9A5439619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13" y="4916659"/>
            <a:ext cx="5301853" cy="1594823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0546F993-C284-EEA9-A0F0-FD70D50101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677" b="61159"/>
          <a:stretch>
            <a:fillRect/>
          </a:stretch>
        </p:blipFill>
        <p:spPr>
          <a:xfrm>
            <a:off x="6798733" y="4816295"/>
            <a:ext cx="2683934" cy="743692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0986C0A5-56D4-1A0E-FC14-4E3DFBE7BC3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4448" r="57254"/>
          <a:stretch>
            <a:fillRect/>
          </a:stretch>
        </p:blipFill>
        <p:spPr>
          <a:xfrm>
            <a:off x="6853766" y="5580064"/>
            <a:ext cx="3486781" cy="606653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F6133646-FCE5-33B1-F936-C4A02C716B5B}"/>
              </a:ext>
            </a:extLst>
          </p:cNvPr>
          <p:cNvSpPr/>
          <p:nvPr/>
        </p:nvSpPr>
        <p:spPr>
          <a:xfrm>
            <a:off x="8465" y="1266129"/>
            <a:ext cx="6705601" cy="2349138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F4BACC4-2767-CB00-EC91-26002B24A8D5}"/>
              </a:ext>
            </a:extLst>
          </p:cNvPr>
          <p:cNvSpPr/>
          <p:nvPr/>
        </p:nvSpPr>
        <p:spPr>
          <a:xfrm>
            <a:off x="8466" y="3935738"/>
            <a:ext cx="6705600" cy="2412201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9E52F19-D1D5-D979-BF7E-24C2D234E775}"/>
              </a:ext>
            </a:extLst>
          </p:cNvPr>
          <p:cNvSpPr/>
          <p:nvPr/>
        </p:nvSpPr>
        <p:spPr>
          <a:xfrm>
            <a:off x="6853766" y="1266128"/>
            <a:ext cx="5228167" cy="2162871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E3A362D-9C11-6C48-630A-2C71CA43BF44}"/>
              </a:ext>
            </a:extLst>
          </p:cNvPr>
          <p:cNvSpPr/>
          <p:nvPr/>
        </p:nvSpPr>
        <p:spPr>
          <a:xfrm>
            <a:off x="6853766" y="3568079"/>
            <a:ext cx="5228167" cy="2618637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5F2275-211C-B233-E7A5-A1CC3B5876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529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29E1C-253B-CEDF-44F4-B47FD9F8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F8F9AF4F-C0FB-5C64-7D36-3FCD49C47113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3.1.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近场下旋转叶片雷达回波建模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E6765B-179C-4276-FF71-810450F80917}"/>
              </a:ext>
            </a:extLst>
          </p:cNvPr>
          <p:cNvSpPr txBox="1"/>
          <p:nvPr/>
        </p:nvSpPr>
        <p:spPr>
          <a:xfrm>
            <a:off x="0" y="1063417"/>
            <a:ext cx="514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3.2.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叶根分量：对应叶根与叶盘形成的槽口效应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8236C2-7ECF-BD97-9AAC-5A809F6E8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" y="1622465"/>
            <a:ext cx="5427134" cy="6453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01F45CA-B9A9-4383-F21B-386E108D0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2457495"/>
            <a:ext cx="3454400" cy="6772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E774D8-184D-41BB-8BDA-20A1F64AC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0183" y="3209407"/>
            <a:ext cx="6285618" cy="241061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BF894DB-333F-82A0-11FC-E3FE9511BD9A}"/>
              </a:ext>
            </a:extLst>
          </p:cNvPr>
          <p:cNvSpPr txBox="1"/>
          <p:nvPr/>
        </p:nvSpPr>
        <p:spPr>
          <a:xfrm>
            <a:off x="76199" y="3429000"/>
            <a:ext cx="5486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3.2.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叶片侧面分量：对应叶片侧面的镜面反射，回波随旋转“滑动”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2C3BFD4-7802-02F0-51FE-E58F7EB4782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6299" b="73552"/>
          <a:stretch>
            <a:fillRect/>
          </a:stretch>
        </p:blipFill>
        <p:spPr>
          <a:xfrm>
            <a:off x="6096000" y="1776194"/>
            <a:ext cx="3352800" cy="75031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C8FF72B-0262-BA66-C395-A501BE6D53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2866" r="50000"/>
          <a:stretch>
            <a:fillRect/>
          </a:stretch>
        </p:blipFill>
        <p:spPr>
          <a:xfrm>
            <a:off x="9448800" y="1702219"/>
            <a:ext cx="2588933" cy="109389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4D74CA5-E80B-184C-006E-D9777F17B3E5}"/>
              </a:ext>
            </a:extLst>
          </p:cNvPr>
          <p:cNvSpPr txBox="1"/>
          <p:nvPr/>
        </p:nvSpPr>
        <p:spPr>
          <a:xfrm>
            <a:off x="5994399" y="1063417"/>
            <a:ext cx="5486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3.4.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叶顶端面分布散射中心 ：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C71C868-DAE6-6297-E37B-75BA4203CCC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235" r="3958" b="55498"/>
          <a:stretch>
            <a:fillRect/>
          </a:stretch>
        </p:blipFill>
        <p:spPr>
          <a:xfrm>
            <a:off x="76199" y="4162927"/>
            <a:ext cx="5427134" cy="50357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3A5CAE2-FCE9-0ECC-596F-37956FCEC9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99" y="4754098"/>
            <a:ext cx="3941561" cy="503575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268A35AC-4501-80F3-7271-864E65D60DF3}"/>
              </a:ext>
            </a:extLst>
          </p:cNvPr>
          <p:cNvSpPr/>
          <p:nvPr/>
        </p:nvSpPr>
        <p:spPr>
          <a:xfrm>
            <a:off x="70292" y="1063417"/>
            <a:ext cx="5689600" cy="214599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51C282E-01D6-A8FC-C219-367D5AD6D73D}"/>
              </a:ext>
            </a:extLst>
          </p:cNvPr>
          <p:cNvSpPr/>
          <p:nvPr/>
        </p:nvSpPr>
        <p:spPr>
          <a:xfrm>
            <a:off x="70292" y="3399123"/>
            <a:ext cx="5689600" cy="214599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0AF64E-B705-CE53-F37A-DC511DB098AD}"/>
              </a:ext>
            </a:extLst>
          </p:cNvPr>
          <p:cNvSpPr/>
          <p:nvPr/>
        </p:nvSpPr>
        <p:spPr>
          <a:xfrm>
            <a:off x="5991841" y="1063417"/>
            <a:ext cx="6123959" cy="214599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1FA74F8-B3E4-8985-BEB1-5445234A4D32}"/>
              </a:ext>
            </a:extLst>
          </p:cNvPr>
          <p:cNvSpPr/>
          <p:nvPr/>
        </p:nvSpPr>
        <p:spPr>
          <a:xfrm>
            <a:off x="5991840" y="3283381"/>
            <a:ext cx="6123959" cy="2511201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BE7088-E79F-130C-C0D2-4468BC3206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202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2A40-22DC-8414-F2AE-56AB80C2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6A75C452-7EA0-C339-BBD5-5DB5FBEEFA03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3.1.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近场下旋转叶片雷达回波建模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6239566-F5F5-1244-9F09-46DE6D770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" y="2464901"/>
            <a:ext cx="6748561" cy="28596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433CD08-C0C9-1AFB-ED4D-7C766F0D42BC}"/>
                  </a:ext>
                </a:extLst>
              </p:cNvPr>
              <p:cNvSpPr txBox="1"/>
              <p:nvPr/>
            </p:nvSpPr>
            <p:spPr>
              <a:xfrm>
                <a:off x="190934" y="1257787"/>
                <a:ext cx="614573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4.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对于多叶片而言，其回波并非简单的单叶片线性叠加，因此必须引入步进函数 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来描述叶片间的相互遮挡。具体原理可以参考下图：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433CD08-C0C9-1AFB-ED4D-7C766F0D4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34" y="1257787"/>
                <a:ext cx="6145730" cy="923330"/>
              </a:xfrm>
              <a:prstGeom prst="rect">
                <a:avLst/>
              </a:prstGeom>
              <a:blipFill>
                <a:blip r:embed="rId5"/>
                <a:stretch>
                  <a:fillRect l="-794" t="-3289" r="-595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BB68EF3A-F0A1-6744-ECAE-019E5D5AAE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274" y="1250475"/>
            <a:ext cx="5547394" cy="19611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7E21726-CB69-6988-F658-A11035C6C7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877" y="3211575"/>
            <a:ext cx="5139462" cy="1107549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5A067C03-C01A-540A-6C50-E9F5F0A09634}"/>
              </a:ext>
            </a:extLst>
          </p:cNvPr>
          <p:cNvSpPr/>
          <p:nvPr/>
        </p:nvSpPr>
        <p:spPr>
          <a:xfrm>
            <a:off x="0" y="1157485"/>
            <a:ext cx="6648772" cy="1177537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A168CE-D210-48DD-09C6-75C60C7AD1ED}"/>
              </a:ext>
            </a:extLst>
          </p:cNvPr>
          <p:cNvSpPr/>
          <p:nvPr/>
        </p:nvSpPr>
        <p:spPr>
          <a:xfrm>
            <a:off x="-1" y="2594780"/>
            <a:ext cx="6648773" cy="2859627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1262B60-6236-2B00-96A9-A8AC2668AE91}"/>
              </a:ext>
            </a:extLst>
          </p:cNvPr>
          <p:cNvSpPr/>
          <p:nvPr/>
        </p:nvSpPr>
        <p:spPr>
          <a:xfrm>
            <a:off x="6648772" y="1157484"/>
            <a:ext cx="5464896" cy="4296923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E6BF1E-EB5D-DD28-E809-1E9719C12D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72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744C-BD5A-68CB-3A27-FF4C87CB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BC9ECC48-1CA6-9370-8C8B-BA822FD5FC2E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3.2.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雷达回波数据处理算法设计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9924DD8-52C0-513A-2823-AC7A94AFC5BB}"/>
              </a:ext>
            </a:extLst>
          </p:cNvPr>
          <p:cNvGrpSpPr/>
          <p:nvPr/>
        </p:nvGrpSpPr>
        <p:grpSpPr>
          <a:xfrm>
            <a:off x="53743" y="957425"/>
            <a:ext cx="12084514" cy="3950437"/>
            <a:chOff x="73103" y="1009464"/>
            <a:chExt cx="12084514" cy="3950437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5E4A530-C3A7-AEB0-9A00-ADF6CF43C296}"/>
                </a:ext>
              </a:extLst>
            </p:cNvPr>
            <p:cNvSpPr/>
            <p:nvPr/>
          </p:nvSpPr>
          <p:spPr>
            <a:xfrm>
              <a:off x="73103" y="1781634"/>
              <a:ext cx="1714500" cy="812800"/>
            </a:xfrm>
            <a:prstGeom prst="roundRect">
              <a:avLst/>
            </a:prstGeom>
            <a:solidFill>
              <a:srgbClr val="F8FAFD"/>
            </a:solidFill>
            <a:ln w="19050">
              <a:solidFill>
                <a:srgbClr val="7887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原始数据输入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16084ED-8BEF-842B-9DDD-68AB88829AE8}"/>
                </a:ext>
              </a:extLst>
            </p:cNvPr>
            <p:cNvSpPr/>
            <p:nvPr/>
          </p:nvSpPr>
          <p:spPr>
            <a:xfrm>
              <a:off x="2016203" y="1781634"/>
              <a:ext cx="1714500" cy="812800"/>
            </a:xfrm>
            <a:prstGeom prst="roundRect">
              <a:avLst/>
            </a:prstGeom>
            <a:solidFill>
              <a:srgbClr val="F8FAFD"/>
            </a:solidFill>
            <a:ln w="19050">
              <a:solidFill>
                <a:srgbClr val="7887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数据预处理</a:t>
              </a:r>
            </a:p>
            <a:p>
              <a:pPr algn="ctr"/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校准 </a:t>
              </a:r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/ </a:t>
              </a:r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去杂波 </a:t>
              </a:r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/ </a:t>
              </a:r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滤波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E2D2DB8-4DF9-9ED6-FB3C-706AC0451B78}"/>
                </a:ext>
              </a:extLst>
            </p:cNvPr>
            <p:cNvSpPr/>
            <p:nvPr/>
          </p:nvSpPr>
          <p:spPr>
            <a:xfrm>
              <a:off x="5963735" y="1009464"/>
              <a:ext cx="1968500" cy="812800"/>
            </a:xfrm>
            <a:prstGeom prst="roundRect">
              <a:avLst/>
            </a:prstGeom>
            <a:solidFill>
              <a:srgbClr val="F8FAFD"/>
            </a:solidFill>
            <a:ln w="19050">
              <a:solidFill>
                <a:srgbClr val="7887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频域分析</a:t>
              </a:r>
            </a:p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FFT + SCEP Algorithm</a:t>
              </a:r>
              <a:endParaRPr lang="zh-CN" altLang="en-US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BB732C4-0A65-D94C-36AF-D7E2369F0B67}"/>
                </a:ext>
              </a:extLst>
            </p:cNvPr>
            <p:cNvSpPr/>
            <p:nvPr/>
          </p:nvSpPr>
          <p:spPr>
            <a:xfrm>
              <a:off x="5995600" y="2555332"/>
              <a:ext cx="1968500" cy="812800"/>
            </a:xfrm>
            <a:prstGeom prst="roundRect">
              <a:avLst/>
            </a:prstGeom>
            <a:solidFill>
              <a:srgbClr val="F8FAFD"/>
            </a:solidFill>
            <a:ln w="19050">
              <a:solidFill>
                <a:srgbClr val="7887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时频分析</a:t>
              </a:r>
            </a:p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STFT / MUSIC</a:t>
              </a:r>
              <a:endParaRPr lang="zh-CN" altLang="en-US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7F3EBB4-D2BD-9F7A-D6CA-B697D030222F}"/>
                </a:ext>
              </a:extLst>
            </p:cNvPr>
            <p:cNvSpPr/>
            <p:nvPr/>
          </p:nvSpPr>
          <p:spPr>
            <a:xfrm>
              <a:off x="8192700" y="2555332"/>
              <a:ext cx="1714500" cy="812800"/>
            </a:xfrm>
            <a:prstGeom prst="roundRect">
              <a:avLst/>
            </a:prstGeom>
            <a:solidFill>
              <a:srgbClr val="F8FAFD"/>
            </a:solidFill>
            <a:ln w="19050">
              <a:solidFill>
                <a:srgbClr val="7887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经验模态分解</a:t>
              </a:r>
            </a:p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EMD</a:t>
              </a:r>
              <a:endParaRPr lang="zh-CN" altLang="en-US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97383DF3-A3D9-A25C-1018-D07A10284AAB}"/>
                </a:ext>
              </a:extLst>
            </p:cNvPr>
            <p:cNvSpPr/>
            <p:nvPr/>
          </p:nvSpPr>
          <p:spPr>
            <a:xfrm>
              <a:off x="5177110" y="4042898"/>
              <a:ext cx="1968499" cy="812800"/>
            </a:xfrm>
            <a:prstGeom prst="roundRect">
              <a:avLst/>
            </a:prstGeom>
            <a:solidFill>
              <a:srgbClr val="F8FAFD"/>
            </a:solidFill>
            <a:ln w="19050">
              <a:solidFill>
                <a:srgbClr val="7887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参数反演</a:t>
              </a:r>
            </a:p>
            <a:p>
              <a:pPr algn="ctr"/>
              <a:r>
                <a:rPr lang="zh-CN" altLang="en-US" sz="1500" b="1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转速 </a:t>
              </a:r>
              <a:r>
                <a:rPr lang="en-US" altLang="zh-CN" sz="1500" b="1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/ </a:t>
              </a:r>
              <a:r>
                <a:rPr lang="zh-CN" altLang="en-US" sz="1500" b="1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半径 </a:t>
              </a:r>
              <a:r>
                <a:rPr lang="en-US" altLang="zh-CN" sz="1500" b="1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/ </a:t>
              </a:r>
              <a:r>
                <a:rPr lang="zh-CN" altLang="en-US" sz="1500" b="1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距离</a:t>
              </a: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D49E54C-5356-55BA-4E4A-C2C08A1083C9}"/>
                </a:ext>
              </a:extLst>
            </p:cNvPr>
            <p:cNvCxnSpPr/>
            <p:nvPr/>
          </p:nvCxnSpPr>
          <p:spPr>
            <a:xfrm>
              <a:off x="1787603" y="2188034"/>
              <a:ext cx="228600" cy="0"/>
            </a:xfrm>
            <a:prstGeom prst="line">
              <a:avLst/>
            </a:prstGeom>
            <a:ln w="19050">
              <a:solidFill>
                <a:srgbClr val="8282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87EB391-E31A-2DB3-D21B-375A694EAB54}"/>
                </a:ext>
              </a:extLst>
            </p:cNvPr>
            <p:cNvCxnSpPr>
              <a:cxnSpLocks/>
            </p:cNvCxnSpPr>
            <p:nvPr/>
          </p:nvCxnSpPr>
          <p:spPr>
            <a:xfrm>
              <a:off x="3730703" y="2188034"/>
              <a:ext cx="1828800" cy="0"/>
            </a:xfrm>
            <a:prstGeom prst="line">
              <a:avLst/>
            </a:prstGeom>
            <a:ln w="38100">
              <a:solidFill>
                <a:srgbClr val="8282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4D9C625-C226-7DE7-A744-DE1335BF9995}"/>
                </a:ext>
              </a:extLst>
            </p:cNvPr>
            <p:cNvCxnSpPr/>
            <p:nvPr/>
          </p:nvCxnSpPr>
          <p:spPr>
            <a:xfrm>
              <a:off x="7964100" y="2992159"/>
              <a:ext cx="228600" cy="0"/>
            </a:xfrm>
            <a:prstGeom prst="line">
              <a:avLst/>
            </a:prstGeom>
            <a:ln w="19050">
              <a:solidFill>
                <a:srgbClr val="8282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D5D4FCBD-5DC2-3969-38B7-D9D7FDCB93AB}"/>
                </a:ext>
              </a:extLst>
            </p:cNvPr>
            <p:cNvSpPr/>
            <p:nvPr/>
          </p:nvSpPr>
          <p:spPr>
            <a:xfrm>
              <a:off x="100826" y="2775641"/>
              <a:ext cx="1659054" cy="2184260"/>
            </a:xfrm>
            <a:prstGeom prst="roundRect">
              <a:avLst/>
            </a:prstGeom>
            <a:solidFill>
              <a:srgbClr val="E6EDFA"/>
            </a:solidFill>
            <a:ln w="12700">
              <a:solidFill>
                <a:srgbClr val="B9BE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1.</a:t>
              </a:r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仿真数据</a:t>
              </a:r>
              <a:endParaRPr lang="en-US" altLang="zh-CN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  <a:p>
              <a:pPr algn="ctr"/>
              <a:endParaRPr lang="en-US" altLang="zh-CN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2.FMCW</a:t>
              </a:r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雷达板测量数据</a:t>
              </a:r>
              <a:endParaRPr lang="en-US" altLang="zh-CN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  <a:p>
              <a:pPr algn="ctr"/>
              <a:endParaRPr lang="en-US" altLang="zh-CN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3.CW</a:t>
              </a:r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雷达板测量数据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04BEBBE-315E-292E-B4CA-02BBDCA076B3}"/>
                </a:ext>
              </a:extLst>
            </p:cNvPr>
            <p:cNvSpPr/>
            <p:nvPr/>
          </p:nvSpPr>
          <p:spPr>
            <a:xfrm>
              <a:off x="1988480" y="2772428"/>
              <a:ext cx="1739900" cy="2184260"/>
            </a:xfrm>
            <a:prstGeom prst="roundRect">
              <a:avLst/>
            </a:prstGeom>
            <a:solidFill>
              <a:srgbClr val="E6F4EC"/>
            </a:solidFill>
            <a:ln w="12700">
              <a:solidFill>
                <a:srgbClr val="B9BE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1.</a:t>
              </a:r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直流偏置校准</a:t>
              </a:r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*</a:t>
              </a:r>
            </a:p>
            <a:p>
              <a:pPr algn="ctr"/>
              <a:endParaRPr lang="en-US" altLang="zh-CN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2.</a:t>
              </a:r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幅相不均衡校准</a:t>
              </a:r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*</a:t>
              </a:r>
            </a:p>
            <a:p>
              <a:pPr algn="ctr"/>
              <a:endParaRPr lang="en-US" altLang="zh-CN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3.</a:t>
              </a:r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滤波去除高频杂波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FDB17F2-9EC1-1BDF-BB91-A1303C90C63F}"/>
                </a:ext>
              </a:extLst>
            </p:cNvPr>
            <p:cNvSpPr txBox="1"/>
            <p:nvPr/>
          </p:nvSpPr>
          <p:spPr>
            <a:xfrm>
              <a:off x="1635203" y="1862894"/>
              <a:ext cx="609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2">
                      <a:lumMod val="50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统一输出：</a:t>
              </a:r>
              <a:r>
                <a:rPr lang="en-US" altLang="zh-CN" sz="1600" b="1" dirty="0">
                  <a:solidFill>
                    <a:schemeClr val="bg2">
                      <a:lumMod val="50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data</a:t>
              </a:r>
              <a:endParaRPr lang="zh-CN" altLang="en-US" sz="16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7" name="左大括号 16">
              <a:extLst>
                <a:ext uri="{FF2B5EF4-FFF2-40B4-BE49-F238E27FC236}">
                  <a16:creationId xmlns:a16="http://schemas.microsoft.com/office/drawing/2014/main" id="{639462EA-4199-2262-CAA6-A93962FE077B}"/>
                </a:ext>
              </a:extLst>
            </p:cNvPr>
            <p:cNvSpPr/>
            <p:nvPr/>
          </p:nvSpPr>
          <p:spPr>
            <a:xfrm>
              <a:off x="5628190" y="1415864"/>
              <a:ext cx="346308" cy="1576295"/>
            </a:xfrm>
            <a:prstGeom prst="leftBrac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ED3779C7-11D7-66D8-51CB-7AC7AE3F11B0}"/>
                </a:ext>
              </a:extLst>
            </p:cNvPr>
            <p:cNvSpPr/>
            <p:nvPr/>
          </p:nvSpPr>
          <p:spPr>
            <a:xfrm>
              <a:off x="10135799" y="2555332"/>
              <a:ext cx="1803439" cy="812800"/>
            </a:xfrm>
            <a:prstGeom prst="roundRect">
              <a:avLst/>
            </a:prstGeom>
            <a:solidFill>
              <a:srgbClr val="F8FAFD"/>
            </a:solidFill>
            <a:ln w="19050">
              <a:solidFill>
                <a:srgbClr val="7887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SST+</a:t>
              </a:r>
              <a:r>
                <a:rPr lang="zh-CN" altLang="en-US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脊线提取</a:t>
              </a:r>
            </a:p>
            <a:p>
              <a:pPr algn="ctr"/>
              <a:r>
                <a:rPr lang="en-US" altLang="zh-CN" sz="1500" b="1" dirty="0" err="1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SST+Ridge</a:t>
              </a:r>
              <a:r>
                <a:rPr lang="en-US" altLang="zh-CN" sz="1500" b="1" dirty="0">
                  <a:solidFill>
                    <a:srgbClr val="213766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Tracking</a:t>
              </a:r>
              <a:endParaRPr lang="zh-CN" altLang="en-US" sz="1500" b="1" dirty="0">
                <a:solidFill>
                  <a:srgbClr val="213766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3E513C6-A9FF-686E-AD07-A0AB0A443C13}"/>
                </a:ext>
              </a:extLst>
            </p:cNvPr>
            <p:cNvCxnSpPr/>
            <p:nvPr/>
          </p:nvCxnSpPr>
          <p:spPr>
            <a:xfrm>
              <a:off x="9907200" y="2992159"/>
              <a:ext cx="228600" cy="0"/>
            </a:xfrm>
            <a:prstGeom prst="line">
              <a:avLst/>
            </a:prstGeom>
            <a:ln w="19050">
              <a:solidFill>
                <a:srgbClr val="8282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A23EC5A-7966-667B-D29A-AF9EC82C045E}"/>
                </a:ext>
              </a:extLst>
            </p:cNvPr>
            <p:cNvCxnSpPr>
              <a:cxnSpLocks/>
            </p:cNvCxnSpPr>
            <p:nvPr/>
          </p:nvCxnSpPr>
          <p:spPr>
            <a:xfrm>
              <a:off x="7932235" y="1415864"/>
              <a:ext cx="4225382" cy="0"/>
            </a:xfrm>
            <a:prstGeom prst="line">
              <a:avLst/>
            </a:prstGeom>
            <a:ln w="19050">
              <a:solidFill>
                <a:srgbClr val="8282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BEB3E7C-13E2-9F43-C526-B16BC32BC520}"/>
                </a:ext>
              </a:extLst>
            </p:cNvPr>
            <p:cNvCxnSpPr/>
            <p:nvPr/>
          </p:nvCxnSpPr>
          <p:spPr>
            <a:xfrm>
              <a:off x="11929017" y="2977206"/>
              <a:ext cx="228600" cy="0"/>
            </a:xfrm>
            <a:prstGeom prst="line">
              <a:avLst/>
            </a:prstGeom>
            <a:ln w="19050">
              <a:solidFill>
                <a:srgbClr val="8282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CE28689-A673-D695-37D6-D36796B16E88}"/>
                </a:ext>
              </a:extLst>
            </p:cNvPr>
            <p:cNvCxnSpPr/>
            <p:nvPr/>
          </p:nvCxnSpPr>
          <p:spPr>
            <a:xfrm>
              <a:off x="12157617" y="1415864"/>
              <a:ext cx="0" cy="1576295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69ED465-60FA-A726-A0CB-DBBBB0D5EB81}"/>
                </a:ext>
              </a:extLst>
            </p:cNvPr>
            <p:cNvCxnSpPr/>
            <p:nvPr/>
          </p:nvCxnSpPr>
          <p:spPr>
            <a:xfrm>
              <a:off x="12157617" y="2977206"/>
              <a:ext cx="0" cy="1576295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D1A2C071-E223-1CDB-A0E4-3BA4C28DCF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5609" y="4553501"/>
              <a:ext cx="5012008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内容占位符 3">
            <a:extLst>
              <a:ext uri="{FF2B5EF4-FFF2-40B4-BE49-F238E27FC236}">
                <a16:creationId xmlns:a16="http://schemas.microsoft.com/office/drawing/2014/main" id="{E18BE82C-72FA-4CFD-747E-27DD1749E677}"/>
              </a:ext>
            </a:extLst>
          </p:cNvPr>
          <p:cNvSpPr txBox="1">
            <a:spLocks/>
          </p:cNvSpPr>
          <p:nvPr/>
        </p:nvSpPr>
        <p:spPr bwMode="auto">
          <a:xfrm>
            <a:off x="-246591" y="5157543"/>
            <a:ext cx="11918719" cy="194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2000" kern="0" dirty="0"/>
              <a:t>旋转机械：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旋转机械（如航空发动机叶片、风力发电机、直升机旋翼）在现代工业和军事领域无处不在。对其运行参数进行实时监测是预防疲劳损伤、保证系统安全的关键。</a:t>
            </a:r>
            <a:endParaRPr lang="en-US" altLang="zh-CN" sz="2000" kern="0" dirty="0">
              <a:solidFill>
                <a:srgbClr val="000000"/>
              </a:solidFill>
              <a:latin typeface="Times New Roman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r>
              <a:rPr lang="zh-CN" altLang="en-US" sz="2000" kern="0" dirty="0"/>
              <a:t>转速与半径测定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</a:rPr>
              <a:t>：当前大多数算法主要用时频分析进行建模分析或分类任务，很少进行系统的参数提取，本研究填补了这一块的空白。</a:t>
            </a:r>
            <a:endParaRPr lang="en-US" altLang="zh-CN" sz="2000" kern="0" dirty="0">
              <a:solidFill>
                <a:srgbClr val="000000"/>
              </a:solidFill>
              <a:latin typeface="Times New Roman"/>
            </a:endParaRPr>
          </a:p>
          <a:p>
            <a:pPr lvl="1">
              <a:buSzPct val="90000"/>
              <a:buFont typeface="Wingdings" panose="05000000000000000000" pitchFamily="2" charset="2"/>
              <a:buChar char="n"/>
            </a:pPr>
            <a:endParaRPr lang="en-US" altLang="zh-CN" sz="2000" kern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AA6514-80A5-2E2C-8615-0AE5706BD6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0ED510-44D7-291A-994F-BB86B0106A7F}"/>
              </a:ext>
            </a:extLst>
          </p:cNvPr>
          <p:cNvSpPr txBox="1"/>
          <p:nvPr/>
        </p:nvSpPr>
        <p:spPr>
          <a:xfrm>
            <a:off x="2918794" y="3812519"/>
            <a:ext cx="1482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（原理见第</a:t>
            </a:r>
            <a:r>
              <a:rPr lang="en-US" altLang="zh-CN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页）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74B585A-1AD4-D4A3-DD20-BE82F531F5FB}"/>
              </a:ext>
            </a:extLst>
          </p:cNvPr>
          <p:cNvSpPr txBox="1"/>
          <p:nvPr/>
        </p:nvSpPr>
        <p:spPr>
          <a:xfrm>
            <a:off x="7377917" y="1528908"/>
            <a:ext cx="1440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（原理见第</a:t>
            </a:r>
            <a:r>
              <a:rPr lang="en-US" altLang="zh-CN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18</a:t>
            </a:r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页）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065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9180-4920-46EF-4AFC-FFA38363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F0567140-E52A-5DE8-74D2-7DE40C0938CD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3.2.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雷达回波数据处理算法设计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2BD625-A5E9-94A2-3B62-D703AC5EE88D}"/>
              </a:ext>
            </a:extLst>
          </p:cNvPr>
          <p:cNvSpPr txBox="1"/>
          <p:nvPr/>
        </p:nvSpPr>
        <p:spPr>
          <a:xfrm>
            <a:off x="52808" y="998810"/>
            <a:ext cx="12139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原始数据信号校准算法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5E013C0-1745-5134-BA6F-AA74134C89E3}"/>
              </a:ext>
            </a:extLst>
          </p:cNvPr>
          <p:cNvGrpSpPr/>
          <p:nvPr/>
        </p:nvGrpSpPr>
        <p:grpSpPr>
          <a:xfrm>
            <a:off x="4930544" y="1642157"/>
            <a:ext cx="7261456" cy="3599754"/>
            <a:chOff x="1160120" y="1466782"/>
            <a:chExt cx="9291979" cy="4024190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4F9A5D31-57E7-1B25-E899-1AE5CDAEE074}"/>
                </a:ext>
              </a:extLst>
            </p:cNvPr>
            <p:cNvGrpSpPr/>
            <p:nvPr/>
          </p:nvGrpSpPr>
          <p:grpSpPr>
            <a:xfrm>
              <a:off x="1160120" y="1466782"/>
              <a:ext cx="9291979" cy="4024190"/>
              <a:chOff x="986865" y="427254"/>
              <a:chExt cx="9291979" cy="4024190"/>
            </a:xfrm>
          </p:grpSpPr>
          <p:sp>
            <p:nvSpPr>
              <p:cNvPr id="33" name="流程图: 文档 32">
                <a:extLst>
                  <a:ext uri="{FF2B5EF4-FFF2-40B4-BE49-F238E27FC236}">
                    <a16:creationId xmlns:a16="http://schemas.microsoft.com/office/drawing/2014/main" id="{E9E8F7DD-A9CF-0597-DA8A-F307B50E45AF}"/>
                  </a:ext>
                </a:extLst>
              </p:cNvPr>
              <p:cNvSpPr/>
              <p:nvPr/>
            </p:nvSpPr>
            <p:spPr>
              <a:xfrm>
                <a:off x="1270000" y="1270000"/>
                <a:ext cx="2286000" cy="762000"/>
              </a:xfrm>
              <a:prstGeom prst="flowChartDocument">
                <a:avLst/>
              </a:prstGeom>
              <a:solidFill>
                <a:srgbClr val="34495E"/>
              </a:solidFill>
              <a:ln w="19050">
                <a:solidFill>
                  <a:srgbClr val="2C3E50"/>
                </a:solidFill>
              </a:ln>
              <a:effectLst>
                <a:outerShdw blurRad="63500" sx="102000" sy="102000" algn="ctr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1. </a:t>
                </a:r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原始基带信号</a:t>
                </a:r>
              </a:p>
              <a:p>
                <a:pPr algn="ctr"/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I_hat(t), Q_hat(t)</a:t>
                </a:r>
                <a:endParaRPr lang="zh-CN" altLang="en-US" sz="1000">
                  <a:solidFill>
                    <a:srgbClr val="FFFF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B358D6C6-EAAF-9DCF-7CBC-5DFB6C75BBA5}"/>
                  </a:ext>
                </a:extLst>
              </p:cNvPr>
              <p:cNvSpPr/>
              <p:nvPr/>
            </p:nvSpPr>
            <p:spPr>
              <a:xfrm>
                <a:off x="4318000" y="1270000"/>
                <a:ext cx="2286000" cy="762000"/>
              </a:xfrm>
              <a:prstGeom prst="rect">
                <a:avLst/>
              </a:prstGeom>
              <a:solidFill>
                <a:srgbClr val="34495E"/>
              </a:solidFill>
              <a:ln w="19050">
                <a:solidFill>
                  <a:srgbClr val="2C3E50"/>
                </a:solidFill>
              </a:ln>
              <a:effectLst>
                <a:outerShdw blurRad="63500" sx="102000" sy="102000" algn="ctr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2. </a:t>
                </a:r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信号微分预处理</a:t>
                </a:r>
              </a:p>
              <a:p>
                <a:pPr algn="ctr"/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(</a:t>
                </a:r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隔离直流项以解耦</a:t>
                </a:r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)</a:t>
                </a:r>
                <a:endParaRPr lang="zh-CN" altLang="en-US" sz="1000">
                  <a:solidFill>
                    <a:srgbClr val="FFFF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788C48C-91C2-E216-4C7D-F8C323C5A3BD}"/>
                  </a:ext>
                </a:extLst>
              </p:cNvPr>
              <p:cNvSpPr/>
              <p:nvPr/>
            </p:nvSpPr>
            <p:spPr>
              <a:xfrm>
                <a:off x="7366000" y="1270000"/>
                <a:ext cx="2286000" cy="762000"/>
              </a:xfrm>
              <a:prstGeom prst="rect">
                <a:avLst/>
              </a:prstGeom>
              <a:solidFill>
                <a:srgbClr val="2980B9"/>
              </a:solidFill>
              <a:ln w="19050">
                <a:solidFill>
                  <a:srgbClr val="2C3E50"/>
                </a:solidFill>
              </a:ln>
              <a:effectLst>
                <a:outerShdw blurRad="63500" sx="102000" sy="102000" algn="ctr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3. DH-GSO </a:t>
                </a:r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算法</a:t>
                </a:r>
              </a:p>
              <a:p>
                <a:pPr algn="ctr"/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提取正交失衡 </a:t>
                </a:r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K, </a:t>
                </a:r>
                <a:r>
                  <a:rPr lang="el-GR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Δφ</a:t>
                </a:r>
                <a:endParaRPr lang="zh-CN" altLang="en-US" sz="1000">
                  <a:solidFill>
                    <a:srgbClr val="FFFF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C6382939-4303-AD0D-E18A-2DBA610A8E67}"/>
                  </a:ext>
                </a:extLst>
              </p:cNvPr>
              <p:cNvSpPr/>
              <p:nvPr/>
            </p:nvSpPr>
            <p:spPr>
              <a:xfrm>
                <a:off x="7366000" y="3048000"/>
                <a:ext cx="2286000" cy="762000"/>
              </a:xfrm>
              <a:prstGeom prst="rect">
                <a:avLst/>
              </a:prstGeom>
              <a:solidFill>
                <a:srgbClr val="2980B9"/>
              </a:solidFill>
              <a:ln w="19050">
                <a:solidFill>
                  <a:srgbClr val="2C3E50"/>
                </a:solidFill>
              </a:ln>
              <a:effectLst>
                <a:outerShdw blurRad="63500" sx="102000" sy="102000" algn="ctr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4. SCF </a:t>
                </a:r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圆拟合算法</a:t>
                </a:r>
              </a:p>
              <a:p>
                <a:pPr algn="ctr"/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精确估算真实 </a:t>
                </a:r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DC </a:t>
                </a:r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偏移</a:t>
                </a:r>
              </a:p>
            </p:txBody>
          </p:sp>
          <p:sp>
            <p:nvSpPr>
              <p:cNvPr id="37" name="流程图: 准备 36">
                <a:extLst>
                  <a:ext uri="{FF2B5EF4-FFF2-40B4-BE49-F238E27FC236}">
                    <a16:creationId xmlns:a16="http://schemas.microsoft.com/office/drawing/2014/main" id="{2F845E43-5D69-8447-22A4-CCA8F239D036}"/>
                  </a:ext>
                </a:extLst>
              </p:cNvPr>
              <p:cNvSpPr/>
              <p:nvPr/>
            </p:nvSpPr>
            <p:spPr>
              <a:xfrm>
                <a:off x="4318000" y="3048000"/>
                <a:ext cx="2286000" cy="762000"/>
              </a:xfrm>
              <a:prstGeom prst="flowChartPreparation">
                <a:avLst/>
              </a:prstGeom>
              <a:solidFill>
                <a:srgbClr val="34495E"/>
              </a:solidFill>
              <a:ln w="19050">
                <a:solidFill>
                  <a:srgbClr val="2C3E50"/>
                </a:solidFill>
              </a:ln>
              <a:effectLst>
                <a:outerShdw blurRad="63500" sx="102000" sy="102000" algn="ctr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5. 2x2 </a:t>
                </a:r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变换矩阵校正</a:t>
                </a:r>
              </a:p>
              <a:p>
                <a:pPr algn="ctr"/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执行参数补偿减法</a:t>
                </a:r>
              </a:p>
            </p:txBody>
          </p:sp>
          <p:sp>
            <p:nvSpPr>
              <p:cNvPr id="38" name="平行四边形 37">
                <a:extLst>
                  <a:ext uri="{FF2B5EF4-FFF2-40B4-BE49-F238E27FC236}">
                    <a16:creationId xmlns:a16="http://schemas.microsoft.com/office/drawing/2014/main" id="{8B069309-11F6-C9F9-127F-1127DAD31F72}"/>
                  </a:ext>
                </a:extLst>
              </p:cNvPr>
              <p:cNvSpPr/>
              <p:nvPr/>
            </p:nvSpPr>
            <p:spPr>
              <a:xfrm>
                <a:off x="1270000" y="3048000"/>
                <a:ext cx="2286000" cy="762000"/>
              </a:xfrm>
              <a:prstGeom prst="parallelogram">
                <a:avLst/>
              </a:prstGeom>
              <a:solidFill>
                <a:srgbClr val="E67E22"/>
              </a:solidFill>
              <a:ln w="19050">
                <a:solidFill>
                  <a:srgbClr val="2C3E50"/>
                </a:solidFill>
              </a:ln>
              <a:effectLst>
                <a:outerShdw blurRad="63500" sx="102000" sy="102000" algn="ctr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输出：纯净基带信号</a:t>
                </a:r>
              </a:p>
              <a:p>
                <a:pPr algn="ctr"/>
                <a:r>
                  <a:rPr lang="en-US" altLang="zh-CN" sz="100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Ic(t), Qc(t)</a:t>
                </a:r>
                <a:endParaRPr lang="zh-CN" altLang="en-US" sz="1000">
                  <a:solidFill>
                    <a:srgbClr val="FFFFFF"/>
                  </a:solidFill>
                  <a:latin typeface="微软雅黑" panose="020B0503020204020204" pitchFamily="34" charset="-122"/>
                </a:endParaRPr>
              </a:p>
            </p:txBody>
          </p: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CBB9D4B5-76CB-073F-4218-BA428B7CDEA6}"/>
                  </a:ext>
                </a:extLst>
              </p:cNvPr>
              <p:cNvCxnSpPr>
                <a:cxnSpLocks/>
                <a:stCxn id="33" idx="3"/>
                <a:endCxn id="34" idx="1"/>
              </p:cNvCxnSpPr>
              <p:nvPr/>
            </p:nvCxnSpPr>
            <p:spPr>
              <a:xfrm>
                <a:off x="3556000" y="1651000"/>
                <a:ext cx="762000" cy="0"/>
              </a:xfrm>
              <a:prstGeom prst="straightConnector1">
                <a:avLst/>
              </a:prstGeom>
              <a:ln w="25400">
                <a:solidFill>
                  <a:srgbClr val="2C3E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886D3F1D-4345-3EF6-DC2F-7AB41A9F99D2}"/>
                  </a:ext>
                </a:extLst>
              </p:cNvPr>
              <p:cNvCxnSpPr>
                <a:cxnSpLocks/>
                <a:stCxn id="34" idx="3"/>
                <a:endCxn id="35" idx="1"/>
              </p:cNvCxnSpPr>
              <p:nvPr/>
            </p:nvCxnSpPr>
            <p:spPr>
              <a:xfrm>
                <a:off x="6604000" y="1651000"/>
                <a:ext cx="762000" cy="0"/>
              </a:xfrm>
              <a:prstGeom prst="straightConnector1">
                <a:avLst/>
              </a:prstGeom>
              <a:ln w="25400">
                <a:solidFill>
                  <a:srgbClr val="2C3E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85044637-17B2-CA9C-17EE-BF348FEBF8C6}"/>
                  </a:ext>
                </a:extLst>
              </p:cNvPr>
              <p:cNvCxnSpPr>
                <a:cxnSpLocks/>
                <a:stCxn id="35" idx="2"/>
                <a:endCxn id="36" idx="0"/>
              </p:cNvCxnSpPr>
              <p:nvPr/>
            </p:nvCxnSpPr>
            <p:spPr>
              <a:xfrm>
                <a:off x="8509000" y="2032000"/>
                <a:ext cx="0" cy="1016000"/>
              </a:xfrm>
              <a:prstGeom prst="straightConnector1">
                <a:avLst/>
              </a:prstGeom>
              <a:ln w="25400">
                <a:solidFill>
                  <a:srgbClr val="2C3E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CF6316C6-2A5B-72FF-BCAC-F960CD3C0894}"/>
                  </a:ext>
                </a:extLst>
              </p:cNvPr>
              <p:cNvCxnSpPr>
                <a:cxnSpLocks/>
                <a:stCxn id="36" idx="1"/>
                <a:endCxn id="37" idx="3"/>
              </p:cNvCxnSpPr>
              <p:nvPr/>
            </p:nvCxnSpPr>
            <p:spPr>
              <a:xfrm flipH="1">
                <a:off x="6604000" y="3429000"/>
                <a:ext cx="762000" cy="0"/>
              </a:xfrm>
              <a:prstGeom prst="straightConnector1">
                <a:avLst/>
              </a:prstGeom>
              <a:ln w="25400">
                <a:solidFill>
                  <a:srgbClr val="2C3E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B0C93B6A-06FE-3525-7F68-D8B13EB83A08}"/>
                  </a:ext>
                </a:extLst>
              </p:cNvPr>
              <p:cNvCxnSpPr>
                <a:cxnSpLocks/>
                <a:stCxn id="37" idx="1"/>
                <a:endCxn id="38" idx="2"/>
              </p:cNvCxnSpPr>
              <p:nvPr/>
            </p:nvCxnSpPr>
            <p:spPr>
              <a:xfrm flipH="1">
                <a:off x="3460750" y="3429000"/>
                <a:ext cx="857250" cy="0"/>
              </a:xfrm>
              <a:prstGeom prst="straightConnector1">
                <a:avLst/>
              </a:prstGeom>
              <a:ln w="25400">
                <a:solidFill>
                  <a:srgbClr val="2C3E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A7847E3C-B2C0-BE78-3053-544A9F43D365}"/>
                  </a:ext>
                </a:extLst>
              </p:cNvPr>
              <p:cNvSpPr/>
              <p:nvPr/>
            </p:nvSpPr>
            <p:spPr>
              <a:xfrm>
                <a:off x="986865" y="427254"/>
                <a:ext cx="9291979" cy="4024190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28575">
                <a:solidFill>
                  <a:schemeClr val="accent2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76B0FE27-69F4-D9E5-D83D-03CDDB7D7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8576" r="3826" b="23231"/>
            <a:stretch>
              <a:fillRect/>
            </a:stretch>
          </p:blipFill>
          <p:spPr>
            <a:xfrm>
              <a:off x="4491255" y="1629653"/>
              <a:ext cx="2130926" cy="50494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46171F23-FA3B-17D1-D57D-488EDD3E9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55115" y="4893116"/>
              <a:ext cx="2854280" cy="597856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11F3295A-8784-7C10-CBDB-8BBEB3589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4589" b="20091"/>
            <a:stretch>
              <a:fillRect/>
            </a:stretch>
          </p:blipFill>
          <p:spPr>
            <a:xfrm>
              <a:off x="3849595" y="4795149"/>
              <a:ext cx="3405520" cy="695820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C93D2C74-805F-3D1E-C914-7544D5E67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8520" y="1660409"/>
              <a:ext cx="2367470" cy="627325"/>
            </a:xfrm>
            <a:prstGeom prst="rect">
              <a:avLst/>
            </a:prstGeom>
          </p:spPr>
        </p:pic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129F69F4-E7A7-4B7D-C4FF-FC861945F017}"/>
              </a:ext>
            </a:extLst>
          </p:cNvPr>
          <p:cNvGrpSpPr/>
          <p:nvPr/>
        </p:nvGrpSpPr>
        <p:grpSpPr>
          <a:xfrm>
            <a:off x="5039006" y="5348909"/>
            <a:ext cx="4473919" cy="1020561"/>
            <a:chOff x="206808" y="1524029"/>
            <a:chExt cx="4473919" cy="1020561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9DB4570-A4AB-1447-80FF-ADCCD70C6AF6}"/>
                </a:ext>
              </a:extLst>
            </p:cNvPr>
            <p:cNvGrpSpPr/>
            <p:nvPr/>
          </p:nvGrpSpPr>
          <p:grpSpPr>
            <a:xfrm rot="5400000">
              <a:off x="3394078" y="939835"/>
              <a:ext cx="553998" cy="2019300"/>
              <a:chOff x="1241660" y="1030596"/>
              <a:chExt cx="553998" cy="2019300"/>
            </a:xfrm>
          </p:grpSpPr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EA375993-AEC0-3C8F-46F9-3BE7491F5B98}"/>
                  </a:ext>
                </a:extLst>
              </p:cNvPr>
              <p:cNvSpPr/>
              <p:nvPr/>
            </p:nvSpPr>
            <p:spPr>
              <a:xfrm>
                <a:off x="1332055" y="1238250"/>
                <a:ext cx="444017" cy="15906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64D60E64-AC4B-F0EF-A308-7F6E63BED5CE}"/>
                  </a:ext>
                </a:extLst>
              </p:cNvPr>
              <p:cNvSpPr txBox="1"/>
              <p:nvPr/>
            </p:nvSpPr>
            <p:spPr>
              <a:xfrm rot="10800000">
                <a:off x="1241660" y="1030596"/>
                <a:ext cx="553998" cy="201930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DC offset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C74894E-4A1B-8358-46C2-8F4FD55560A7}"/>
                </a:ext>
              </a:extLst>
            </p:cNvPr>
            <p:cNvGrpSpPr/>
            <p:nvPr/>
          </p:nvGrpSpPr>
          <p:grpSpPr>
            <a:xfrm rot="5400000">
              <a:off x="1433801" y="297036"/>
              <a:ext cx="1020561" cy="3474548"/>
              <a:chOff x="5565397" y="2221124"/>
              <a:chExt cx="1020561" cy="3474548"/>
            </a:xfrm>
          </p:grpSpPr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FD5DED1-02C0-9AB2-AD67-472F7828B6FE}"/>
                  </a:ext>
                </a:extLst>
              </p:cNvPr>
              <p:cNvSpPr txBox="1"/>
              <p:nvPr/>
            </p:nvSpPr>
            <p:spPr>
              <a:xfrm rot="16200000">
                <a:off x="4692711" y="4334092"/>
                <a:ext cx="20531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Leaked RF Signals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3BA6295A-1843-DC81-16C3-F6B2DAFACF7B}"/>
                  </a:ext>
                </a:extLst>
              </p:cNvPr>
              <p:cNvSpPr txBox="1"/>
              <p:nvPr/>
            </p:nvSpPr>
            <p:spPr>
              <a:xfrm rot="16200000">
                <a:off x="4418758" y="3735751"/>
                <a:ext cx="329196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Transceiver coupling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24269D67-24FB-A0A0-92C5-8509A56EB1BE}"/>
                  </a:ext>
                </a:extLst>
              </p:cNvPr>
              <p:cNvSpPr txBox="1"/>
              <p:nvPr/>
            </p:nvSpPr>
            <p:spPr>
              <a:xfrm rot="16200000">
                <a:off x="4781715" y="3713219"/>
                <a:ext cx="329196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Spurious reflected signal</a:t>
                </a: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97" name="图片 96">
                <a:extLst>
                  <a:ext uri="{FF2B5EF4-FFF2-40B4-BE49-F238E27FC236}">
                    <a16:creationId xmlns:a16="http://schemas.microsoft.com/office/drawing/2014/main" id="{D89DA509-738E-F1F9-1FEC-8B18FE4FBA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4491" t="17952" r="13686" b="27844"/>
              <a:stretch/>
            </p:blipFill>
            <p:spPr>
              <a:xfrm rot="16200000">
                <a:off x="5619145" y="5448764"/>
                <a:ext cx="239731" cy="254086"/>
              </a:xfrm>
              <a:prstGeom prst="rect">
                <a:avLst/>
              </a:prstGeom>
            </p:spPr>
          </p:pic>
          <p:pic>
            <p:nvPicPr>
              <p:cNvPr id="98" name="图片 97">
                <a:extLst>
                  <a:ext uri="{FF2B5EF4-FFF2-40B4-BE49-F238E27FC236}">
                    <a16:creationId xmlns:a16="http://schemas.microsoft.com/office/drawing/2014/main" id="{CA23B1B8-E457-9869-3D76-27DAC3E240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l="10990" t="17260" r="16788" b="28051"/>
              <a:stretch/>
            </p:blipFill>
            <p:spPr>
              <a:xfrm rot="16200000">
                <a:off x="5971746" y="5432326"/>
                <a:ext cx="223271" cy="270500"/>
              </a:xfrm>
              <a:prstGeom prst="rect">
                <a:avLst/>
              </a:prstGeom>
            </p:spPr>
          </p:pic>
          <p:pic>
            <p:nvPicPr>
              <p:cNvPr id="99" name="图片 98">
                <a:extLst>
                  <a:ext uri="{FF2B5EF4-FFF2-40B4-BE49-F238E27FC236}">
                    <a16:creationId xmlns:a16="http://schemas.microsoft.com/office/drawing/2014/main" id="{E937B73A-E51A-C0BE-C810-211A8CED7C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11312" t="18479" r="16465" b="27318"/>
              <a:stretch/>
            </p:blipFill>
            <p:spPr>
              <a:xfrm rot="16200000">
                <a:off x="6338070" y="5431324"/>
                <a:ext cx="225275" cy="270501"/>
              </a:xfrm>
              <a:prstGeom prst="rect">
                <a:avLst/>
              </a:prstGeom>
            </p:spPr>
          </p:pic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06C3CE3-E555-3ACF-C433-EE1F32F31757}"/>
              </a:ext>
            </a:extLst>
          </p:cNvPr>
          <p:cNvGrpSpPr/>
          <p:nvPr/>
        </p:nvGrpSpPr>
        <p:grpSpPr>
          <a:xfrm rot="5400000">
            <a:off x="2204762" y="-394877"/>
            <a:ext cx="492443" cy="4249390"/>
            <a:chOff x="-4098362" y="9208497"/>
            <a:chExt cx="492443" cy="424939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1ED7376E-A25E-A03D-1859-8717802E054C}"/>
                </a:ext>
              </a:extLst>
            </p:cNvPr>
            <p:cNvSpPr/>
            <p:nvPr/>
          </p:nvSpPr>
          <p:spPr>
            <a:xfrm>
              <a:off x="-4055341" y="9435840"/>
              <a:ext cx="406401" cy="379470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26EC71AE-6E47-0E28-9C1A-534A2BAFA98D}"/>
                </a:ext>
              </a:extLst>
            </p:cNvPr>
            <p:cNvSpPr txBox="1"/>
            <p:nvPr/>
          </p:nvSpPr>
          <p:spPr>
            <a:xfrm rot="10800000">
              <a:off x="-4098362" y="9208497"/>
              <a:ext cx="492443" cy="424939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Amplitude and phase imbalance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C67352B-EBAF-2194-E186-C9DF9FF68A96}"/>
              </a:ext>
            </a:extLst>
          </p:cNvPr>
          <p:cNvGrpSpPr/>
          <p:nvPr/>
        </p:nvGrpSpPr>
        <p:grpSpPr>
          <a:xfrm>
            <a:off x="65464" y="2071211"/>
            <a:ext cx="4771038" cy="2473175"/>
            <a:chOff x="2400259" y="6238544"/>
            <a:chExt cx="5986062" cy="2955719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5AD7713-F035-A918-86DC-2ADD01960CFB}"/>
                </a:ext>
              </a:extLst>
            </p:cNvPr>
            <p:cNvSpPr/>
            <p:nvPr/>
          </p:nvSpPr>
          <p:spPr>
            <a:xfrm>
              <a:off x="2400259" y="6238544"/>
              <a:ext cx="5986062" cy="295571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6AE2B920-73EB-63E5-44BB-99625E4AC378}"/>
                </a:ext>
              </a:extLst>
            </p:cNvPr>
            <p:cNvGrpSpPr/>
            <p:nvPr/>
          </p:nvGrpSpPr>
          <p:grpSpPr>
            <a:xfrm>
              <a:off x="2544619" y="6384188"/>
              <a:ext cx="5749153" cy="2771789"/>
              <a:chOff x="2331088" y="9433215"/>
              <a:chExt cx="5749153" cy="2771789"/>
            </a:xfrm>
          </p:grpSpPr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0A9446D0-988C-846B-7942-1443523FF67C}"/>
                  </a:ext>
                </a:extLst>
              </p:cNvPr>
              <p:cNvGrpSpPr/>
              <p:nvPr/>
            </p:nvGrpSpPr>
            <p:grpSpPr>
              <a:xfrm>
                <a:off x="4377592" y="9433215"/>
                <a:ext cx="1887700" cy="503241"/>
                <a:chOff x="1827425" y="2692401"/>
                <a:chExt cx="4516874" cy="1041400"/>
              </a:xfrm>
            </p:grpSpPr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57F82141-F4ED-810A-9C7F-2FA4208C37D4}"/>
                    </a:ext>
                  </a:extLst>
                </p:cNvPr>
                <p:cNvSpPr/>
                <p:nvPr/>
              </p:nvSpPr>
              <p:spPr>
                <a:xfrm>
                  <a:off x="1930399" y="2692401"/>
                  <a:ext cx="4271383" cy="104140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09C5A3C-D370-95B0-FC60-A2CB784CA851}"/>
                    </a:ext>
                  </a:extLst>
                </p:cNvPr>
                <p:cNvSpPr txBox="1"/>
                <p:nvPr/>
              </p:nvSpPr>
              <p:spPr>
                <a:xfrm>
                  <a:off x="1827425" y="2790620"/>
                  <a:ext cx="4516874" cy="6850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90° Phase Shifter</a:t>
                  </a:r>
                  <a:endPara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1DB92425-AB84-75D5-E6A4-97536077AFA5}"/>
                  </a:ext>
                </a:extLst>
              </p:cNvPr>
              <p:cNvGrpSpPr/>
              <p:nvPr/>
            </p:nvGrpSpPr>
            <p:grpSpPr>
              <a:xfrm>
                <a:off x="3120807" y="10222673"/>
                <a:ext cx="519196" cy="503241"/>
                <a:chOff x="4526757" y="2677407"/>
                <a:chExt cx="600075" cy="615873"/>
              </a:xfrm>
            </p:grpSpPr>
            <p:sp>
              <p:nvSpPr>
                <p:cNvPr id="88" name="椭圆 87">
                  <a:extLst>
                    <a:ext uri="{FF2B5EF4-FFF2-40B4-BE49-F238E27FC236}">
                      <a16:creationId xmlns:a16="http://schemas.microsoft.com/office/drawing/2014/main" id="{A1ABC0B8-A0BA-30EC-1FDE-4B5CA4834A87}"/>
                    </a:ext>
                  </a:extLst>
                </p:cNvPr>
                <p:cNvSpPr/>
                <p:nvPr/>
              </p:nvSpPr>
              <p:spPr>
                <a:xfrm>
                  <a:off x="4526757" y="2677407"/>
                  <a:ext cx="600075" cy="615873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9" name="任意多边形: 形状 88">
                  <a:extLst>
                    <a:ext uri="{FF2B5EF4-FFF2-40B4-BE49-F238E27FC236}">
                      <a16:creationId xmlns:a16="http://schemas.microsoft.com/office/drawing/2014/main" id="{4349B0B6-2500-7D13-DC8F-BB1D7C950B43}"/>
                    </a:ext>
                  </a:extLst>
                </p:cNvPr>
                <p:cNvSpPr/>
                <p:nvPr/>
              </p:nvSpPr>
              <p:spPr>
                <a:xfrm>
                  <a:off x="4607719" y="2823931"/>
                  <a:ext cx="438150" cy="322823"/>
                </a:xfrm>
                <a:custGeom>
                  <a:avLst/>
                  <a:gdLst>
                    <a:gd name="connsiteX0" fmla="*/ 0 w 2984500"/>
                    <a:gd name="connsiteY0" fmla="*/ 730250 h 1457325"/>
                    <a:gd name="connsiteX1" fmla="*/ 749300 w 2984500"/>
                    <a:gd name="connsiteY1" fmla="*/ 0 h 1457325"/>
                    <a:gd name="connsiteX2" fmla="*/ 1492250 w 2984500"/>
                    <a:gd name="connsiteY2" fmla="*/ 730250 h 1457325"/>
                    <a:gd name="connsiteX3" fmla="*/ 2238375 w 2984500"/>
                    <a:gd name="connsiteY3" fmla="*/ 1457325 h 1457325"/>
                    <a:gd name="connsiteX4" fmla="*/ 2984500 w 2984500"/>
                    <a:gd name="connsiteY4" fmla="*/ 727075 h 1457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84500" h="1457325">
                      <a:moveTo>
                        <a:pt x="0" y="730250"/>
                      </a:moveTo>
                      <a:cubicBezTo>
                        <a:pt x="250296" y="365125"/>
                        <a:pt x="500592" y="0"/>
                        <a:pt x="749300" y="0"/>
                      </a:cubicBezTo>
                      <a:cubicBezTo>
                        <a:pt x="998008" y="0"/>
                        <a:pt x="1492250" y="730250"/>
                        <a:pt x="1492250" y="730250"/>
                      </a:cubicBezTo>
                      <a:cubicBezTo>
                        <a:pt x="1740429" y="973137"/>
                        <a:pt x="1989667" y="1457854"/>
                        <a:pt x="2238375" y="1457325"/>
                      </a:cubicBezTo>
                      <a:cubicBezTo>
                        <a:pt x="2487083" y="1456796"/>
                        <a:pt x="2797175" y="820738"/>
                        <a:pt x="2984500" y="727075"/>
                      </a:cubicBezTo>
                    </a:path>
                  </a:pathLst>
                </a:custGeom>
                <a:no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9A563A5-FD71-5D80-3FD8-EE3B9F5CE20A}"/>
                  </a:ext>
                </a:extLst>
              </p:cNvPr>
              <p:cNvSpPr txBox="1"/>
              <p:nvPr/>
            </p:nvSpPr>
            <p:spPr>
              <a:xfrm>
                <a:off x="2331088" y="10754980"/>
                <a:ext cx="1935388" cy="551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Local Oscillator Signal Generator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055CD244-6855-9AA8-96C4-64B7CA505ECA}"/>
                  </a:ext>
                </a:extLst>
              </p:cNvPr>
              <p:cNvSpPr/>
              <p:nvPr/>
            </p:nvSpPr>
            <p:spPr>
              <a:xfrm>
                <a:off x="4206165" y="10222909"/>
                <a:ext cx="519196" cy="50324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8CD30414-5594-E710-C8BD-2C282A7694E7}"/>
                  </a:ext>
                </a:extLst>
              </p:cNvPr>
              <p:cNvCxnSpPr>
                <a:cxnSpLocks/>
                <a:stCxn id="61" idx="5"/>
                <a:endCxn id="61" idx="1"/>
              </p:cNvCxnSpPr>
              <p:nvPr/>
            </p:nvCxnSpPr>
            <p:spPr>
              <a:xfrm flipH="1" flipV="1">
                <a:off x="4282199" y="10296607"/>
                <a:ext cx="367127" cy="35584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FF5E45EF-8577-F149-9AC6-2D84D33F4EC2}"/>
                  </a:ext>
                </a:extLst>
              </p:cNvPr>
              <p:cNvCxnSpPr>
                <a:cxnSpLocks/>
                <a:stCxn id="61" idx="7"/>
                <a:endCxn id="61" idx="3"/>
              </p:cNvCxnSpPr>
              <p:nvPr/>
            </p:nvCxnSpPr>
            <p:spPr>
              <a:xfrm flipH="1">
                <a:off x="4282199" y="10296607"/>
                <a:ext cx="367127" cy="35584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E1097B2-033F-6280-78EC-FBE994FC0BF2}"/>
                  </a:ext>
                </a:extLst>
              </p:cNvPr>
              <p:cNvSpPr txBox="1"/>
              <p:nvPr/>
            </p:nvSpPr>
            <p:spPr>
              <a:xfrm>
                <a:off x="4511410" y="10714731"/>
                <a:ext cx="815596" cy="331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Mixer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5" name="连接符: 肘形 64">
                <a:extLst>
                  <a:ext uri="{FF2B5EF4-FFF2-40B4-BE49-F238E27FC236}">
                    <a16:creationId xmlns:a16="http://schemas.microsoft.com/office/drawing/2014/main" id="{ACAE898B-A477-AD68-680B-CBDEAA51C5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95894" y="9662134"/>
                <a:ext cx="808162" cy="634475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07A10DF8-95E3-0E0C-C45D-41E5EE0CD02B}"/>
                  </a:ext>
                </a:extLst>
              </p:cNvPr>
              <p:cNvSpPr/>
              <p:nvPr/>
            </p:nvSpPr>
            <p:spPr>
              <a:xfrm>
                <a:off x="6145073" y="10244327"/>
                <a:ext cx="519196" cy="50324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8C28CCA6-EEA9-15A2-469A-7CC4E84AD9AE}"/>
                  </a:ext>
                </a:extLst>
              </p:cNvPr>
              <p:cNvCxnSpPr>
                <a:cxnSpLocks/>
                <a:stCxn id="66" idx="5"/>
                <a:endCxn id="66" idx="1"/>
              </p:cNvCxnSpPr>
              <p:nvPr/>
            </p:nvCxnSpPr>
            <p:spPr>
              <a:xfrm flipH="1" flipV="1">
                <a:off x="6221108" y="10318025"/>
                <a:ext cx="367127" cy="35584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8953BA27-7AA4-5D49-57D0-81320D5CC280}"/>
                  </a:ext>
                </a:extLst>
              </p:cNvPr>
              <p:cNvCxnSpPr>
                <a:cxnSpLocks/>
                <a:stCxn id="66" idx="7"/>
                <a:endCxn id="66" idx="3"/>
              </p:cNvCxnSpPr>
              <p:nvPr/>
            </p:nvCxnSpPr>
            <p:spPr>
              <a:xfrm flipH="1">
                <a:off x="6221108" y="10318025"/>
                <a:ext cx="367127" cy="35584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连接符: 肘形 68">
                <a:extLst>
                  <a:ext uri="{FF2B5EF4-FFF2-40B4-BE49-F238E27FC236}">
                    <a16:creationId xmlns:a16="http://schemas.microsoft.com/office/drawing/2014/main" id="{C0036556-DB30-5E67-F0A3-8D3152FED976}"/>
                  </a:ext>
                </a:extLst>
              </p:cNvPr>
              <p:cNvCxnSpPr>
                <a:cxnSpLocks/>
                <a:stCxn id="61" idx="2"/>
                <a:endCxn id="88" idx="6"/>
              </p:cNvCxnSpPr>
              <p:nvPr/>
            </p:nvCxnSpPr>
            <p:spPr>
              <a:xfrm rot="10800000">
                <a:off x="3640003" y="10474294"/>
                <a:ext cx="566161" cy="235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6D8BE4C3-FD81-08CB-BDE0-41641524AE81}"/>
                  </a:ext>
                </a:extLst>
              </p:cNvPr>
              <p:cNvGrpSpPr/>
              <p:nvPr/>
            </p:nvGrpSpPr>
            <p:grpSpPr>
              <a:xfrm>
                <a:off x="4122604" y="11110652"/>
                <a:ext cx="2579587" cy="421593"/>
                <a:chOff x="1919547" y="2675224"/>
                <a:chExt cx="4138966" cy="1041401"/>
              </a:xfrm>
            </p:grpSpPr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836374EF-9885-A52E-EF0C-E0811C1AF5D3}"/>
                    </a:ext>
                  </a:extLst>
                </p:cNvPr>
                <p:cNvSpPr/>
                <p:nvPr/>
              </p:nvSpPr>
              <p:spPr>
                <a:xfrm>
                  <a:off x="1973652" y="2675224"/>
                  <a:ext cx="4006120" cy="1041401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E76C4DF3-7FF0-6B81-3CBF-644E6EBC2A9D}"/>
                    </a:ext>
                  </a:extLst>
                </p:cNvPr>
                <p:cNvSpPr txBox="1"/>
                <p:nvPr/>
              </p:nvSpPr>
              <p:spPr>
                <a:xfrm>
                  <a:off x="1919547" y="2762518"/>
                  <a:ext cx="4138966" cy="817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Filter Amplifier Circuit</a:t>
                  </a:r>
                  <a:endPara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4024189-0524-5B97-6BF2-A600100DC694}"/>
                  </a:ext>
                </a:extLst>
              </p:cNvPr>
              <p:cNvSpPr txBox="1"/>
              <p:nvPr/>
            </p:nvSpPr>
            <p:spPr>
              <a:xfrm>
                <a:off x="4263001" y="11873959"/>
                <a:ext cx="465552" cy="331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I(t)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60834CE-04B3-79B3-EFD7-34209440CB78}"/>
                  </a:ext>
                </a:extLst>
              </p:cNvPr>
              <p:cNvSpPr txBox="1"/>
              <p:nvPr/>
            </p:nvSpPr>
            <p:spPr>
              <a:xfrm>
                <a:off x="5847723" y="11873959"/>
                <a:ext cx="628641" cy="331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Q(t)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AD12814A-3592-B630-B6F1-6A6C3847C67E}"/>
                  </a:ext>
                </a:extLst>
              </p:cNvPr>
              <p:cNvCxnSpPr>
                <a:cxnSpLocks/>
                <a:stCxn id="88" idx="7"/>
              </p:cNvCxnSpPr>
              <p:nvPr/>
            </p:nvCxnSpPr>
            <p:spPr>
              <a:xfrm>
                <a:off x="3563968" y="10296372"/>
                <a:ext cx="50666" cy="23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连接符: 肘形 73">
                <a:extLst>
                  <a:ext uri="{FF2B5EF4-FFF2-40B4-BE49-F238E27FC236}">
                    <a16:creationId xmlns:a16="http://schemas.microsoft.com/office/drawing/2014/main" id="{2E1E61AF-140C-D29C-3CFE-70857C851545}"/>
                  </a:ext>
                </a:extLst>
              </p:cNvPr>
              <p:cNvCxnSpPr>
                <a:cxnSpLocks/>
                <a:stCxn id="90" idx="3"/>
                <a:endCxn id="66" idx="0"/>
              </p:cNvCxnSpPr>
              <p:nvPr/>
            </p:nvCxnSpPr>
            <p:spPr>
              <a:xfrm>
                <a:off x="6205731" y="9684836"/>
                <a:ext cx="198940" cy="559491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CEB1FD5-5EAE-25A5-6AD9-E9E85B4706BE}"/>
                  </a:ext>
                </a:extLst>
              </p:cNvPr>
              <p:cNvSpPr txBox="1"/>
              <p:nvPr/>
            </p:nvSpPr>
            <p:spPr>
              <a:xfrm>
                <a:off x="5651873" y="10707003"/>
                <a:ext cx="824632" cy="331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Mixer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6" name="连接符: 肘形 75">
                <a:extLst>
                  <a:ext uri="{FF2B5EF4-FFF2-40B4-BE49-F238E27FC236}">
                    <a16:creationId xmlns:a16="http://schemas.microsoft.com/office/drawing/2014/main" id="{1DF2AA89-453C-D403-642C-3B04AD7F085F}"/>
                  </a:ext>
                </a:extLst>
              </p:cNvPr>
              <p:cNvCxnSpPr>
                <a:cxnSpLocks/>
                <a:endCxn id="61" idx="4"/>
              </p:cNvCxnSpPr>
              <p:nvPr/>
            </p:nvCxnSpPr>
            <p:spPr>
              <a:xfrm rot="5400000" flipH="1" flipV="1">
                <a:off x="4273512" y="10918401"/>
                <a:ext cx="384501" cy="1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连接符: 肘形 76">
                <a:extLst>
                  <a:ext uri="{FF2B5EF4-FFF2-40B4-BE49-F238E27FC236}">
                    <a16:creationId xmlns:a16="http://schemas.microsoft.com/office/drawing/2014/main" id="{14ADD8F4-569C-5784-111C-DED85F2C581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224632" y="10934754"/>
                <a:ext cx="384501" cy="1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连接符: 肘形 77">
                <a:extLst>
                  <a:ext uri="{FF2B5EF4-FFF2-40B4-BE49-F238E27FC236}">
                    <a16:creationId xmlns:a16="http://schemas.microsoft.com/office/drawing/2014/main" id="{20396779-2B19-7E04-B009-C89C68B66C6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4273512" y="11725832"/>
                <a:ext cx="384501" cy="1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连接符: 肘形 78">
                <a:extLst>
                  <a:ext uri="{FF2B5EF4-FFF2-40B4-BE49-F238E27FC236}">
                    <a16:creationId xmlns:a16="http://schemas.microsoft.com/office/drawing/2014/main" id="{008CF359-116E-8789-ACC1-A7282094128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5960516" y="11725831"/>
                <a:ext cx="384501" cy="1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E9E924DC-645F-9D2B-76FC-80D78A2B961B}"/>
                  </a:ext>
                </a:extLst>
              </p:cNvPr>
              <p:cNvGrpSpPr/>
              <p:nvPr/>
            </p:nvGrpSpPr>
            <p:grpSpPr>
              <a:xfrm>
                <a:off x="7157577" y="10242145"/>
                <a:ext cx="519196" cy="503241"/>
                <a:chOff x="4526757" y="2677407"/>
                <a:chExt cx="600075" cy="615873"/>
              </a:xfrm>
            </p:grpSpPr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9F5892AB-C20B-CAC7-8292-5ED7D061B4F4}"/>
                    </a:ext>
                  </a:extLst>
                </p:cNvPr>
                <p:cNvSpPr/>
                <p:nvPr/>
              </p:nvSpPr>
              <p:spPr>
                <a:xfrm>
                  <a:off x="4526757" y="2677407"/>
                  <a:ext cx="600075" cy="615873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5" name="任意多边形: 形状 84">
                  <a:extLst>
                    <a:ext uri="{FF2B5EF4-FFF2-40B4-BE49-F238E27FC236}">
                      <a16:creationId xmlns:a16="http://schemas.microsoft.com/office/drawing/2014/main" id="{9CFEA048-C265-947E-E3EF-E007B5842B37}"/>
                    </a:ext>
                  </a:extLst>
                </p:cNvPr>
                <p:cNvSpPr/>
                <p:nvPr/>
              </p:nvSpPr>
              <p:spPr>
                <a:xfrm>
                  <a:off x="4607719" y="2823931"/>
                  <a:ext cx="438150" cy="322823"/>
                </a:xfrm>
                <a:custGeom>
                  <a:avLst/>
                  <a:gdLst>
                    <a:gd name="connsiteX0" fmla="*/ 0 w 2984500"/>
                    <a:gd name="connsiteY0" fmla="*/ 730250 h 1457325"/>
                    <a:gd name="connsiteX1" fmla="*/ 749300 w 2984500"/>
                    <a:gd name="connsiteY1" fmla="*/ 0 h 1457325"/>
                    <a:gd name="connsiteX2" fmla="*/ 1492250 w 2984500"/>
                    <a:gd name="connsiteY2" fmla="*/ 730250 h 1457325"/>
                    <a:gd name="connsiteX3" fmla="*/ 2238375 w 2984500"/>
                    <a:gd name="connsiteY3" fmla="*/ 1457325 h 1457325"/>
                    <a:gd name="connsiteX4" fmla="*/ 2984500 w 2984500"/>
                    <a:gd name="connsiteY4" fmla="*/ 727075 h 1457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84500" h="1457325">
                      <a:moveTo>
                        <a:pt x="0" y="730250"/>
                      </a:moveTo>
                      <a:cubicBezTo>
                        <a:pt x="250296" y="365125"/>
                        <a:pt x="500592" y="0"/>
                        <a:pt x="749300" y="0"/>
                      </a:cubicBezTo>
                      <a:cubicBezTo>
                        <a:pt x="998008" y="0"/>
                        <a:pt x="1492250" y="730250"/>
                        <a:pt x="1492250" y="730250"/>
                      </a:cubicBezTo>
                      <a:cubicBezTo>
                        <a:pt x="1740429" y="973137"/>
                        <a:pt x="1989667" y="1457854"/>
                        <a:pt x="2238375" y="1457325"/>
                      </a:cubicBezTo>
                      <a:cubicBezTo>
                        <a:pt x="2487083" y="1456796"/>
                        <a:pt x="2797175" y="820738"/>
                        <a:pt x="2984500" y="727075"/>
                      </a:cubicBezTo>
                    </a:path>
                  </a:pathLst>
                </a:custGeom>
                <a:no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cxnSp>
            <p:nvCxnSpPr>
              <p:cNvPr id="81" name="连接符: 肘形 80">
                <a:extLst>
                  <a:ext uri="{FF2B5EF4-FFF2-40B4-BE49-F238E27FC236}">
                    <a16:creationId xmlns:a16="http://schemas.microsoft.com/office/drawing/2014/main" id="{BEDE943F-9238-4618-324F-771A6E016922}"/>
                  </a:ext>
                </a:extLst>
              </p:cNvPr>
              <p:cNvCxnSpPr>
                <a:cxnSpLocks/>
                <a:stCxn id="66" idx="6"/>
                <a:endCxn id="84" idx="2"/>
              </p:cNvCxnSpPr>
              <p:nvPr/>
            </p:nvCxnSpPr>
            <p:spPr>
              <a:xfrm flipV="1">
                <a:off x="6664269" y="10493766"/>
                <a:ext cx="493308" cy="2182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连接符: 肘形 81">
                <a:extLst>
                  <a:ext uri="{FF2B5EF4-FFF2-40B4-BE49-F238E27FC236}">
                    <a16:creationId xmlns:a16="http://schemas.microsoft.com/office/drawing/2014/main" id="{5AEDEDC8-E52D-73A6-0567-04B249DE030C}"/>
                  </a:ext>
                </a:extLst>
              </p:cNvPr>
              <p:cNvCxnSpPr>
                <a:cxnSpLocks/>
                <a:stCxn id="84" idx="0"/>
                <a:endCxn id="61" idx="0"/>
              </p:cNvCxnSpPr>
              <p:nvPr/>
            </p:nvCxnSpPr>
            <p:spPr>
              <a:xfrm rot="16200000" flipV="1">
                <a:off x="5931851" y="8756821"/>
                <a:ext cx="19236" cy="2951412"/>
              </a:xfrm>
              <a:prstGeom prst="bentConnector3">
                <a:avLst>
                  <a:gd name="adj1" fmla="val 1288397"/>
                </a:avLst>
              </a:prstGeom>
              <a:ln w="1905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9E6D087-2385-FD86-838A-EA7C5BB72C30}"/>
                  </a:ext>
                </a:extLst>
              </p:cNvPr>
              <p:cNvSpPr txBox="1"/>
              <p:nvPr/>
            </p:nvSpPr>
            <p:spPr>
              <a:xfrm>
                <a:off x="6837626" y="10754980"/>
                <a:ext cx="1242615" cy="551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Measuring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Signal</a:t>
                </a:r>
                <a:endPara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46E19AB-2D90-7CD9-E0E2-633EA02D92D6}"/>
              </a:ext>
            </a:extLst>
          </p:cNvPr>
          <p:cNvGrpSpPr/>
          <p:nvPr/>
        </p:nvGrpSpPr>
        <p:grpSpPr>
          <a:xfrm>
            <a:off x="69881" y="4652330"/>
            <a:ext cx="4788416" cy="1908805"/>
            <a:chOff x="2388702" y="3420899"/>
            <a:chExt cx="5997619" cy="2521000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69AEDF7-E6E2-964B-3C73-39630885CE20}"/>
                </a:ext>
              </a:extLst>
            </p:cNvPr>
            <p:cNvSpPr/>
            <p:nvPr/>
          </p:nvSpPr>
          <p:spPr>
            <a:xfrm>
              <a:off x="5324592" y="3428028"/>
              <a:ext cx="3050173" cy="251360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alpha val="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FA120A5-AFD9-C633-BD31-9C7FBE8D2A4C}"/>
                </a:ext>
              </a:extLst>
            </p:cNvPr>
            <p:cNvSpPr/>
            <p:nvPr/>
          </p:nvSpPr>
          <p:spPr>
            <a:xfrm>
              <a:off x="2400259" y="3420899"/>
              <a:ext cx="5986062" cy="251360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43D6BEBA-0429-9439-99C2-5AA4AD796C95}"/>
                </a:ext>
              </a:extLst>
            </p:cNvPr>
            <p:cNvSpPr/>
            <p:nvPr/>
          </p:nvSpPr>
          <p:spPr>
            <a:xfrm>
              <a:off x="2388702" y="3428295"/>
              <a:ext cx="2935889" cy="251360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6A8ECF5F-50E0-B5EA-281D-745FB758B7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70"/>
            <a:stretch/>
          </p:blipFill>
          <p:spPr>
            <a:xfrm>
              <a:off x="2481668" y="3530600"/>
              <a:ext cx="2816432" cy="2270589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18425364-8903-3180-B757-D54E762031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9" r="7288"/>
            <a:stretch/>
          </p:blipFill>
          <p:spPr>
            <a:xfrm>
              <a:off x="5476971" y="3537419"/>
              <a:ext cx="2679381" cy="2254520"/>
            </a:xfrm>
            <a:prstGeom prst="rect">
              <a:avLst/>
            </a:prstGeom>
          </p:spPr>
        </p:pic>
      </p:grpSp>
      <p:sp>
        <p:nvSpPr>
          <p:cNvPr id="104" name="灯片编号占位符 103">
            <a:extLst>
              <a:ext uri="{FF2B5EF4-FFF2-40B4-BE49-F238E27FC236}">
                <a16:creationId xmlns:a16="http://schemas.microsoft.com/office/drawing/2014/main" id="{17D166C8-4927-3FF2-D721-3E49D24079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132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FA1D1-B1DA-4D8F-14D0-B83AEA4B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BF62205E-F824-078C-49EF-93ECDEB7EC67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结果展示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66991E-E64A-8245-3005-0F4C11842D44}"/>
              </a:ext>
            </a:extLst>
          </p:cNvPr>
          <p:cNvSpPr txBox="1"/>
          <p:nvPr/>
        </p:nvSpPr>
        <p:spPr>
          <a:xfrm>
            <a:off x="135466" y="1107298"/>
            <a:ext cx="121391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数据选择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在两组雷达数据（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FMCW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雷达、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CW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雷达）中各自选择一组数据进行算法结果展示，这两组数据的参数如下表所示：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BED881-FF71-987B-7367-3F88980C8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708278"/>
              </p:ext>
            </p:extLst>
          </p:nvPr>
        </p:nvGraphicFramePr>
        <p:xfrm>
          <a:off x="1912318" y="2248068"/>
          <a:ext cx="8378556" cy="4144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852">
                  <a:extLst>
                    <a:ext uri="{9D8B030D-6E8A-4147-A177-3AD203B41FA5}">
                      <a16:colId xmlns:a16="http://schemas.microsoft.com/office/drawing/2014/main" val="665624027"/>
                    </a:ext>
                  </a:extLst>
                </a:gridCol>
                <a:gridCol w="2792852">
                  <a:extLst>
                    <a:ext uri="{9D8B030D-6E8A-4147-A177-3AD203B41FA5}">
                      <a16:colId xmlns:a16="http://schemas.microsoft.com/office/drawing/2014/main" val="2531099363"/>
                    </a:ext>
                  </a:extLst>
                </a:gridCol>
                <a:gridCol w="2792852">
                  <a:extLst>
                    <a:ext uri="{9D8B030D-6E8A-4147-A177-3AD203B41FA5}">
                      <a16:colId xmlns:a16="http://schemas.microsoft.com/office/drawing/2014/main" val="2609744360"/>
                    </a:ext>
                  </a:extLst>
                </a:gridCol>
              </a:tblGrid>
              <a:tr h="475014"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FMCW</a:t>
                      </a:r>
                      <a:r>
                        <a:rPr lang="zh-CN" altLang="en-US" dirty="0"/>
                        <a:t>雷达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CW</a:t>
                      </a:r>
                      <a:r>
                        <a:rPr lang="zh-CN" altLang="en-US" dirty="0"/>
                        <a:t>雷达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696266"/>
                  </a:ext>
                </a:extLst>
              </a:tr>
              <a:tr h="475014">
                <a:tc>
                  <a:txBody>
                    <a:bodyPr/>
                    <a:lstStyle/>
                    <a:p>
                      <a:r>
                        <a:rPr lang="zh-CN" altLang="en-US" dirty="0"/>
                        <a:t>雷达射频频率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77GHz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120GHz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814592"/>
                  </a:ext>
                </a:extLst>
              </a:tr>
              <a:tr h="475014">
                <a:tc>
                  <a:txBody>
                    <a:bodyPr/>
                    <a:lstStyle/>
                    <a:p>
                      <a:r>
                        <a:rPr lang="zh-CN" altLang="en-US" dirty="0"/>
                        <a:t>采样率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2kHz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100kHz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664637"/>
                  </a:ext>
                </a:extLst>
              </a:tr>
              <a:tr h="475014">
                <a:tc>
                  <a:txBody>
                    <a:bodyPr/>
                    <a:lstStyle/>
                    <a:p>
                      <a:r>
                        <a:rPr lang="zh-CN" altLang="en-US" dirty="0"/>
                        <a:t>圆盘半径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28mm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696184"/>
                  </a:ext>
                </a:extLst>
              </a:tr>
              <a:tr h="475014">
                <a:tc>
                  <a:txBody>
                    <a:bodyPr/>
                    <a:lstStyle/>
                    <a:p>
                      <a:r>
                        <a:rPr lang="zh-CN" altLang="en-US" dirty="0"/>
                        <a:t>叶尖半径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120mm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89.15mm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066500"/>
                  </a:ext>
                </a:extLst>
              </a:tr>
              <a:tr h="475014">
                <a:tc>
                  <a:txBody>
                    <a:bodyPr/>
                    <a:lstStyle/>
                    <a:p>
                      <a:r>
                        <a:rPr lang="zh-CN" altLang="en-US" dirty="0"/>
                        <a:t>叶尖与传感器的距离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2.5mm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044835"/>
                  </a:ext>
                </a:extLst>
              </a:tr>
              <a:tr h="475014">
                <a:tc>
                  <a:txBody>
                    <a:bodyPr/>
                    <a:lstStyle/>
                    <a:p>
                      <a:r>
                        <a:rPr lang="zh-CN" altLang="en-US" dirty="0"/>
                        <a:t>转速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100rpm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1000rpm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513504"/>
                  </a:ext>
                </a:extLst>
              </a:tr>
              <a:tr h="819887">
                <a:tc>
                  <a:txBody>
                    <a:bodyPr/>
                    <a:lstStyle/>
                    <a:p>
                      <a:r>
                        <a:rPr lang="zh-CN" altLang="en-US" dirty="0"/>
                        <a:t>理论最大多普勒频率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叶尖）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645.05Hz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7468Hz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32338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00E232-E7E4-B5EE-C8F0-ED153D356C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26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022C-6D4E-F34E-4A72-BF906E0B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256D928E-FB0D-B9E8-9368-64A4FA0B9B48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结果展示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865D41-14FF-C4B0-5E30-D107F1105F69}"/>
              </a:ext>
            </a:extLst>
          </p:cNvPr>
          <p:cNvSpPr txBox="1"/>
          <p:nvPr/>
        </p:nvSpPr>
        <p:spPr>
          <a:xfrm>
            <a:off x="135466" y="1107298"/>
            <a:ext cx="645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频域分析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参数提取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CB07F37-E64B-4455-619A-F3D5C0328884}"/>
              </a:ext>
            </a:extLst>
          </p:cNvPr>
          <p:cNvGrpSpPr/>
          <p:nvPr/>
        </p:nvGrpSpPr>
        <p:grpSpPr>
          <a:xfrm>
            <a:off x="5641383" y="1406324"/>
            <a:ext cx="6354305" cy="2367513"/>
            <a:chOff x="508000" y="1168400"/>
            <a:chExt cx="12319000" cy="3784600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5BEB3217-82E8-8B3E-5A4A-3E38EA4F17C4}"/>
                </a:ext>
              </a:extLst>
            </p:cNvPr>
            <p:cNvSpPr/>
            <p:nvPr/>
          </p:nvSpPr>
          <p:spPr>
            <a:xfrm>
              <a:off x="508000" y="2794000"/>
              <a:ext cx="1524000" cy="533400"/>
            </a:xfrm>
            <a:prstGeom prst="roundRect">
              <a:avLst/>
            </a:prstGeom>
            <a:solidFill>
              <a:srgbClr val="EBF3FC"/>
            </a:solidFill>
            <a:ln w="22860">
              <a:solidFill>
                <a:srgbClr val="4A78B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预处理后的复回波</a:t>
              </a: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C4EF47D0-2CE9-7398-B523-E254C5D80EE2}"/>
                </a:ext>
              </a:extLst>
            </p:cNvPr>
            <p:cNvSpPr/>
            <p:nvPr/>
          </p:nvSpPr>
          <p:spPr>
            <a:xfrm>
              <a:off x="2540000" y="2794000"/>
              <a:ext cx="1524000" cy="533400"/>
            </a:xfrm>
            <a:prstGeom prst="roundRect">
              <a:avLst/>
            </a:prstGeom>
            <a:solidFill>
              <a:srgbClr val="EBF3FC"/>
            </a:solidFill>
            <a:ln w="22860">
              <a:solidFill>
                <a:srgbClr val="4A78B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FFT</a:t>
              </a:r>
              <a:r>
                <a:rPr lang="zh-CN" altLang="en-US" sz="110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频谱分析</a:t>
              </a: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A855DD47-4382-EB0C-C3C5-B60BA5071510}"/>
                </a:ext>
              </a:extLst>
            </p:cNvPr>
            <p:cNvSpPr/>
            <p:nvPr/>
          </p:nvSpPr>
          <p:spPr>
            <a:xfrm>
              <a:off x="4826000" y="1524000"/>
              <a:ext cx="1524000" cy="533400"/>
            </a:xfrm>
            <a:prstGeom prst="roundRect">
              <a:avLst/>
            </a:prstGeom>
            <a:solidFill>
              <a:srgbClr val="EAF5EA"/>
            </a:solidFill>
            <a:ln w="22860">
              <a:solidFill>
                <a:srgbClr val="4C965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谐波增强</a:t>
              </a: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C60E7D55-2E5D-1B87-D6B5-D8403B505BA4}"/>
                </a:ext>
              </a:extLst>
            </p:cNvPr>
            <p:cNvSpPr/>
            <p:nvPr/>
          </p:nvSpPr>
          <p:spPr>
            <a:xfrm>
              <a:off x="6858000" y="1524000"/>
              <a:ext cx="1524000" cy="533400"/>
            </a:xfrm>
            <a:prstGeom prst="roundRect">
              <a:avLst/>
            </a:prstGeom>
            <a:solidFill>
              <a:srgbClr val="EAF5EA"/>
            </a:solidFill>
            <a:ln w="22860">
              <a:solidFill>
                <a:srgbClr val="4C965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转频估计</a:t>
              </a: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AE1053E6-6AEA-6245-FA01-020463C568E6}"/>
                </a:ext>
              </a:extLst>
            </p:cNvPr>
            <p:cNvSpPr/>
            <p:nvPr/>
          </p:nvSpPr>
          <p:spPr>
            <a:xfrm>
              <a:off x="4826000" y="4064000"/>
              <a:ext cx="1524000" cy="533400"/>
            </a:xfrm>
            <a:prstGeom prst="roundRect">
              <a:avLst/>
            </a:prstGeom>
            <a:solidFill>
              <a:srgbClr val="FCF1E4"/>
            </a:solidFill>
            <a:ln w="22860">
              <a:solidFill>
                <a:srgbClr val="D282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提取谐波包络</a:t>
              </a: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872E5F8F-F6F5-248F-6A3C-A7F9F5B7E32C}"/>
                </a:ext>
              </a:extLst>
            </p:cNvPr>
            <p:cNvSpPr/>
            <p:nvPr/>
          </p:nvSpPr>
          <p:spPr>
            <a:xfrm>
              <a:off x="6858000" y="4064000"/>
              <a:ext cx="1524000" cy="533400"/>
            </a:xfrm>
            <a:prstGeom prst="roundRect">
              <a:avLst/>
            </a:prstGeom>
            <a:solidFill>
              <a:srgbClr val="FCF1E4"/>
            </a:solidFill>
            <a:ln w="22860">
              <a:solidFill>
                <a:srgbClr val="D282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衰减筛选</a:t>
              </a: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5457BB5E-5797-027A-F6D7-9C36DCBD5123}"/>
                </a:ext>
              </a:extLst>
            </p:cNvPr>
            <p:cNvSpPr/>
            <p:nvPr/>
          </p:nvSpPr>
          <p:spPr>
            <a:xfrm>
              <a:off x="9144000" y="3708400"/>
              <a:ext cx="1651000" cy="533400"/>
            </a:xfrm>
            <a:prstGeom prst="roundRect">
              <a:avLst/>
            </a:prstGeom>
            <a:solidFill>
              <a:srgbClr val="FCF1E4"/>
            </a:solidFill>
            <a:ln w="22860">
              <a:solidFill>
                <a:srgbClr val="D282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剩余能量占比</a:t>
              </a: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2BE40A03-A2A6-FC0F-47CF-BAC127D65933}"/>
                </a:ext>
              </a:extLst>
            </p:cNvPr>
            <p:cNvSpPr/>
            <p:nvPr/>
          </p:nvSpPr>
          <p:spPr>
            <a:xfrm>
              <a:off x="9144000" y="4419600"/>
              <a:ext cx="1651000" cy="533400"/>
            </a:xfrm>
            <a:prstGeom prst="roundRect">
              <a:avLst/>
            </a:prstGeom>
            <a:solidFill>
              <a:srgbClr val="FCF1E4"/>
            </a:solidFill>
            <a:ln w="22860">
              <a:solidFill>
                <a:srgbClr val="D282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尾部平均能量比</a:t>
              </a: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3D3B4E63-4B8F-AC77-C1EC-95F99071BE31}"/>
                </a:ext>
              </a:extLst>
            </p:cNvPr>
            <p:cNvSpPr/>
            <p:nvPr/>
          </p:nvSpPr>
          <p:spPr>
            <a:xfrm>
              <a:off x="9207500" y="2527300"/>
              <a:ext cx="1524000" cy="533400"/>
            </a:xfrm>
            <a:prstGeom prst="roundRect">
              <a:avLst/>
            </a:prstGeom>
            <a:solidFill>
              <a:srgbClr val="F2ECF9"/>
            </a:solidFill>
            <a:ln w="22860">
              <a:solidFill>
                <a:srgbClr val="9164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半径估计</a:t>
              </a: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32EF6A42-F05E-EF00-7F69-604EA0EB7AFC}"/>
                </a:ext>
              </a:extLst>
            </p:cNvPr>
            <p:cNvSpPr/>
            <p:nvPr/>
          </p:nvSpPr>
          <p:spPr>
            <a:xfrm>
              <a:off x="11303000" y="4064000"/>
              <a:ext cx="1524000" cy="533400"/>
            </a:xfrm>
            <a:prstGeom prst="roundRect">
              <a:avLst/>
            </a:prstGeom>
            <a:solidFill>
              <a:srgbClr val="F2ECF9"/>
            </a:solidFill>
            <a:ln w="22860">
              <a:solidFill>
                <a:srgbClr val="9164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28282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临界频率判定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F665AAD1-5C33-B652-5B41-A0C1DB3BFB8E}"/>
                </a:ext>
              </a:extLst>
            </p:cNvPr>
            <p:cNvSpPr txBox="1"/>
            <p:nvPr/>
          </p:nvSpPr>
          <p:spPr>
            <a:xfrm>
              <a:off x="4826000" y="1168400"/>
              <a:ext cx="1651000" cy="41819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1100" b="1" dirty="0">
                  <a:solidFill>
                    <a:srgbClr val="3C824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转频提取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74147EDB-4F0E-B518-6318-4C59466293E9}"/>
                </a:ext>
              </a:extLst>
            </p:cNvPr>
            <p:cNvSpPr txBox="1"/>
            <p:nvPr/>
          </p:nvSpPr>
          <p:spPr>
            <a:xfrm>
              <a:off x="4825998" y="3708400"/>
              <a:ext cx="2260595" cy="41819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1100" b="1" dirty="0">
                  <a:solidFill>
                    <a:srgbClr val="BE6E23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临界频率提取</a:t>
              </a: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6D39C009-C1B0-44A4-BD53-0EFD584BD990}"/>
                </a:ext>
              </a:extLst>
            </p:cNvPr>
            <p:cNvCxnSpPr/>
            <p:nvPr/>
          </p:nvCxnSpPr>
          <p:spPr>
            <a:xfrm>
              <a:off x="2032000" y="3060700"/>
              <a:ext cx="508000" cy="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D57EB3F5-D544-DFD4-E746-C5B98F66A42A}"/>
                </a:ext>
              </a:extLst>
            </p:cNvPr>
            <p:cNvCxnSpPr/>
            <p:nvPr/>
          </p:nvCxnSpPr>
          <p:spPr>
            <a:xfrm>
              <a:off x="4064000" y="3060700"/>
              <a:ext cx="254000" cy="0"/>
            </a:xfrm>
            <a:prstGeom prst="line">
              <a:avLst/>
            </a:prstGeom>
            <a:ln w="19050"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E64FA81-583D-1173-27CA-1140EE962C5C}"/>
                </a:ext>
              </a:extLst>
            </p:cNvPr>
            <p:cNvCxnSpPr/>
            <p:nvPr/>
          </p:nvCxnSpPr>
          <p:spPr>
            <a:xfrm flipV="1">
              <a:off x="4318000" y="1790700"/>
              <a:ext cx="0" cy="1270000"/>
            </a:xfrm>
            <a:prstGeom prst="line">
              <a:avLst/>
            </a:prstGeom>
            <a:ln w="19050"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7EA2ADE-F88C-F821-C3EB-635E6D0415EE}"/>
                </a:ext>
              </a:extLst>
            </p:cNvPr>
            <p:cNvCxnSpPr/>
            <p:nvPr/>
          </p:nvCxnSpPr>
          <p:spPr>
            <a:xfrm>
              <a:off x="4318000" y="1790700"/>
              <a:ext cx="508000" cy="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46441CCA-9A0F-F92C-6AD1-DACECB84DFE8}"/>
                </a:ext>
              </a:extLst>
            </p:cNvPr>
            <p:cNvCxnSpPr/>
            <p:nvPr/>
          </p:nvCxnSpPr>
          <p:spPr>
            <a:xfrm>
              <a:off x="4064000" y="3060700"/>
              <a:ext cx="254000" cy="0"/>
            </a:xfrm>
            <a:prstGeom prst="line">
              <a:avLst/>
            </a:prstGeom>
            <a:ln w="19050"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DBE6E434-1E48-CFC0-C652-B98AD9A5052C}"/>
                </a:ext>
              </a:extLst>
            </p:cNvPr>
            <p:cNvCxnSpPr/>
            <p:nvPr/>
          </p:nvCxnSpPr>
          <p:spPr>
            <a:xfrm>
              <a:off x="4318000" y="3060700"/>
              <a:ext cx="0" cy="1270000"/>
            </a:xfrm>
            <a:prstGeom prst="line">
              <a:avLst/>
            </a:prstGeom>
            <a:ln w="19050"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A55537B5-5A17-A7BA-2C0A-D4BB94B22B2F}"/>
                </a:ext>
              </a:extLst>
            </p:cNvPr>
            <p:cNvCxnSpPr/>
            <p:nvPr/>
          </p:nvCxnSpPr>
          <p:spPr>
            <a:xfrm>
              <a:off x="4318000" y="4330700"/>
              <a:ext cx="508000" cy="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47D4234F-D9B6-CE59-6DED-B3FE822489F7}"/>
                </a:ext>
              </a:extLst>
            </p:cNvPr>
            <p:cNvCxnSpPr/>
            <p:nvPr/>
          </p:nvCxnSpPr>
          <p:spPr>
            <a:xfrm>
              <a:off x="6350000" y="1790700"/>
              <a:ext cx="508000" cy="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E7309769-3819-685A-59AD-34FD77066FE4}"/>
                </a:ext>
              </a:extLst>
            </p:cNvPr>
            <p:cNvCxnSpPr/>
            <p:nvPr/>
          </p:nvCxnSpPr>
          <p:spPr>
            <a:xfrm>
              <a:off x="6350000" y="4330700"/>
              <a:ext cx="508000" cy="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FFD3212C-7595-75B0-1D62-B29924E1D645}"/>
                </a:ext>
              </a:extLst>
            </p:cNvPr>
            <p:cNvCxnSpPr/>
            <p:nvPr/>
          </p:nvCxnSpPr>
          <p:spPr>
            <a:xfrm>
              <a:off x="8382000" y="4330700"/>
              <a:ext cx="228600" cy="0"/>
            </a:xfrm>
            <a:prstGeom prst="line">
              <a:avLst/>
            </a:prstGeom>
            <a:ln w="19050"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85E968DD-D8FA-1AE9-7BFD-50F111A4FF84}"/>
                </a:ext>
              </a:extLst>
            </p:cNvPr>
            <p:cNvCxnSpPr/>
            <p:nvPr/>
          </p:nvCxnSpPr>
          <p:spPr>
            <a:xfrm flipV="1">
              <a:off x="8610600" y="3975100"/>
              <a:ext cx="0" cy="355600"/>
            </a:xfrm>
            <a:prstGeom prst="line">
              <a:avLst/>
            </a:prstGeom>
            <a:ln w="19050"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C3F1A9AE-2A13-C7A5-F774-D6E004D2DEC7}"/>
                </a:ext>
              </a:extLst>
            </p:cNvPr>
            <p:cNvCxnSpPr/>
            <p:nvPr/>
          </p:nvCxnSpPr>
          <p:spPr>
            <a:xfrm>
              <a:off x="8610600" y="3975100"/>
              <a:ext cx="533400" cy="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56A1C667-68DB-6B08-A626-88EE2DE9C0BD}"/>
                </a:ext>
              </a:extLst>
            </p:cNvPr>
            <p:cNvCxnSpPr/>
            <p:nvPr/>
          </p:nvCxnSpPr>
          <p:spPr>
            <a:xfrm>
              <a:off x="8382000" y="4330700"/>
              <a:ext cx="228600" cy="0"/>
            </a:xfrm>
            <a:prstGeom prst="line">
              <a:avLst/>
            </a:prstGeom>
            <a:ln w="19050"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D11FA88D-CC6A-0CA4-5563-D3B08FF688BC}"/>
                </a:ext>
              </a:extLst>
            </p:cNvPr>
            <p:cNvCxnSpPr/>
            <p:nvPr/>
          </p:nvCxnSpPr>
          <p:spPr>
            <a:xfrm>
              <a:off x="8610600" y="4330700"/>
              <a:ext cx="0" cy="355600"/>
            </a:xfrm>
            <a:prstGeom prst="line">
              <a:avLst/>
            </a:prstGeom>
            <a:ln w="19050"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5CA9513-1ED6-BF56-1B71-37F23807DCFE}"/>
                </a:ext>
              </a:extLst>
            </p:cNvPr>
            <p:cNvCxnSpPr/>
            <p:nvPr/>
          </p:nvCxnSpPr>
          <p:spPr>
            <a:xfrm>
              <a:off x="8610600" y="4686300"/>
              <a:ext cx="533400" cy="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1F00AE9E-5685-87D7-58A3-326B700DF2ED}"/>
                </a:ext>
              </a:extLst>
            </p:cNvPr>
            <p:cNvCxnSpPr/>
            <p:nvPr/>
          </p:nvCxnSpPr>
          <p:spPr>
            <a:xfrm>
              <a:off x="10795000" y="3975100"/>
              <a:ext cx="508000" cy="35560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9F298B92-B8C1-C2E8-DD74-AE274C011316}"/>
                </a:ext>
              </a:extLst>
            </p:cNvPr>
            <p:cNvCxnSpPr/>
            <p:nvPr/>
          </p:nvCxnSpPr>
          <p:spPr>
            <a:xfrm flipV="1">
              <a:off x="10795000" y="4330700"/>
              <a:ext cx="508000" cy="35560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8CF11932-CB9F-3EFA-BCBC-B061795D08A7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0" y="2794391"/>
              <a:ext cx="0" cy="1180709"/>
            </a:xfrm>
            <a:prstGeom prst="line">
              <a:avLst/>
            </a:prstGeom>
            <a:ln w="19050">
              <a:solidFill>
                <a:srgbClr val="6E6E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E10ADF1F-5986-310E-1356-5F728FEFC456}"/>
                </a:ext>
              </a:extLst>
            </p:cNvPr>
            <p:cNvCxnSpPr/>
            <p:nvPr/>
          </p:nvCxnSpPr>
          <p:spPr>
            <a:xfrm flipH="1">
              <a:off x="10795000" y="2794000"/>
              <a:ext cx="1397000" cy="0"/>
            </a:xfrm>
            <a:prstGeom prst="line">
              <a:avLst/>
            </a:prstGeom>
            <a:ln w="19050">
              <a:solidFill>
                <a:srgbClr val="6E6E6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729E5111-E90A-B398-4A2C-D3A3F3DA1779}"/>
              </a:ext>
            </a:extLst>
          </p:cNvPr>
          <p:cNvSpPr txBox="1"/>
          <p:nvPr/>
        </p:nvSpPr>
        <p:spPr>
          <a:xfrm>
            <a:off x="152524" y="1607458"/>
            <a:ext cx="645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近场基带信号可以展开为：</a:t>
            </a: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9C31F47F-3435-7250-B256-E9F6CA485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25" y="2083390"/>
            <a:ext cx="3947914" cy="849682"/>
          </a:xfrm>
          <a:prstGeom prst="rect">
            <a:avLst/>
          </a:prstGeom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B890077E-B537-4B45-7EF5-9528A6F61F87}"/>
              </a:ext>
            </a:extLst>
          </p:cNvPr>
          <p:cNvSpPr txBox="1"/>
          <p:nvPr/>
        </p:nvSpPr>
        <p:spPr>
          <a:xfrm>
            <a:off x="214357" y="2999757"/>
            <a:ext cx="60156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说明：只有当谐波阶次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的整数倍时，多个叶片的相位叠加结果才不为零；其余阶次由于相位在复平面上均匀分布，相互抵消。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因此，频谱中保留下来的主谱线只会出现在：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8571CC17-81EB-7B19-EE43-0F351724F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8639" y="3885398"/>
            <a:ext cx="1378428" cy="525874"/>
          </a:xfrm>
          <a:prstGeom prst="rect">
            <a:avLst/>
          </a:prstGeom>
        </p:spPr>
      </p:pic>
      <p:sp>
        <p:nvSpPr>
          <p:cNvPr id="85" name="文本框 84">
            <a:extLst>
              <a:ext uri="{FF2B5EF4-FFF2-40B4-BE49-F238E27FC236}">
                <a16:creationId xmlns:a16="http://schemas.microsoft.com/office/drawing/2014/main" id="{0D1986A7-71C4-89E9-3975-FB34BF2F6560}"/>
              </a:ext>
            </a:extLst>
          </p:cNvPr>
          <p:cNvSpPr txBox="1"/>
          <p:nvPr/>
        </p:nvSpPr>
        <p:spPr>
          <a:xfrm>
            <a:off x="214357" y="4358141"/>
            <a:ext cx="5483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因此谱线间隔为：</a:t>
            </a: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8E04D6F7-A34B-9AB6-B9EE-310DC624E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7063" y="4323989"/>
            <a:ext cx="1378429" cy="484091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051B9E42-6A1F-FA9D-57B3-1B83ECAD0A71}"/>
              </a:ext>
            </a:extLst>
          </p:cNvPr>
          <p:cNvSpPr txBox="1"/>
          <p:nvPr/>
        </p:nvSpPr>
        <p:spPr>
          <a:xfrm>
            <a:off x="214357" y="4870569"/>
            <a:ext cx="119724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近场信号展开后的谱线系数由贝塞尔函数决定，当谐波阶次超过某一范围后，系数迅速衰减，因此频谱会出现临界频率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fc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。该临界频率满足：</a:t>
            </a: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7D2638A2-D994-CA09-6D6B-619F02AD06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6496" y="5250542"/>
            <a:ext cx="1566332" cy="57739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11C9D6A8-30E1-A0ED-57FF-300304BBF6FC}"/>
              </a:ext>
            </a:extLst>
          </p:cNvPr>
          <p:cNvSpPr txBox="1"/>
          <p:nvPr/>
        </p:nvSpPr>
        <p:spPr>
          <a:xfrm>
            <a:off x="237025" y="5690773"/>
            <a:ext cx="10309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而叶尖最大径向速度对应的最大多普勒频率同样满足这一表达式，因此：</a:t>
            </a:r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269B30CC-0EC2-08B9-2E29-2648F898D6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1400" y="5523093"/>
            <a:ext cx="1314633" cy="609685"/>
          </a:xfrm>
          <a:prstGeom prst="rect">
            <a:avLst/>
          </a:prstGeom>
        </p:spPr>
      </p:pic>
      <p:sp>
        <p:nvSpPr>
          <p:cNvPr id="98" name="文本框 97">
            <a:extLst>
              <a:ext uri="{FF2B5EF4-FFF2-40B4-BE49-F238E27FC236}">
                <a16:creationId xmlns:a16="http://schemas.microsoft.com/office/drawing/2014/main" id="{019BEED1-4167-8474-8298-313FBB494464}"/>
              </a:ext>
            </a:extLst>
          </p:cNvPr>
          <p:cNvSpPr txBox="1"/>
          <p:nvPr/>
        </p:nvSpPr>
        <p:spPr>
          <a:xfrm>
            <a:off x="252708" y="6071649"/>
            <a:ext cx="11309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即临界频率本质上就是叶尖最大多普勒频率，可进一步用于叶尖半径反演。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BE1F76-48EE-787C-3151-FCF32E42BE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953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981F-0D9C-6A28-8F7A-15F4B0B8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65D3DB95-C2DD-0397-0779-35D23065E174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结果展示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C2A5F5-EF3D-6240-B2F2-7AEDE7A23C20}"/>
              </a:ext>
            </a:extLst>
          </p:cNvPr>
          <p:cNvSpPr txBox="1"/>
          <p:nvPr/>
        </p:nvSpPr>
        <p:spPr>
          <a:xfrm>
            <a:off x="135466" y="1107298"/>
            <a:ext cx="645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频域分析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参数提取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D589C6-DD0D-ED93-7FD0-401FD3353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61" y="1741005"/>
            <a:ext cx="5789139" cy="3143141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58F82D50-02C8-760D-E7C7-E3253E8DCC31}"/>
              </a:ext>
            </a:extLst>
          </p:cNvPr>
          <p:cNvGrpSpPr/>
          <p:nvPr/>
        </p:nvGrpSpPr>
        <p:grpSpPr>
          <a:xfrm>
            <a:off x="1861820" y="3429000"/>
            <a:ext cx="1725139" cy="261610"/>
            <a:chOff x="1849120" y="3937000"/>
            <a:chExt cx="1725139" cy="26161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57121D94-B28A-04DD-6040-E9709BFFD689}"/>
                </a:ext>
              </a:extLst>
            </p:cNvPr>
            <p:cNvSpPr/>
            <p:nvPr/>
          </p:nvSpPr>
          <p:spPr>
            <a:xfrm>
              <a:off x="1849120" y="3937000"/>
              <a:ext cx="182880" cy="16256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38267D7-01DF-E588-F154-2C12A38322A1}"/>
                </a:ext>
              </a:extLst>
            </p:cNvPr>
            <p:cNvSpPr txBox="1"/>
            <p:nvPr/>
          </p:nvSpPr>
          <p:spPr>
            <a:xfrm>
              <a:off x="1993109" y="3937000"/>
              <a:ext cx="1581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133Hz</a:t>
              </a:r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左右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190FDFF1-FA0D-76C9-8CD7-A6DCCBD68E51}"/>
              </a:ext>
            </a:extLst>
          </p:cNvPr>
          <p:cNvSpPr txBox="1"/>
          <p:nvPr/>
        </p:nvSpPr>
        <p:spPr>
          <a:xfrm>
            <a:off x="219533" y="5024662"/>
            <a:ext cx="5876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经计算发现：信号基频为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133Hz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，即：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K*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fr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=133Hz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。带入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K=8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并换算出转速为：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997.3rpm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。与理论值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1000rpm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的相对误差为：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2.7‰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47A108-274E-9145-CB6B-89CC1868F6B1}"/>
              </a:ext>
            </a:extLst>
          </p:cNvPr>
          <p:cNvSpPr txBox="1"/>
          <p:nvPr/>
        </p:nvSpPr>
        <p:spPr>
          <a:xfrm>
            <a:off x="6587067" y="5024662"/>
            <a:ext cx="56049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半径估计：共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组数据，刨除异常数据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组，有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组误差较大，剩余的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组测量误差均可以保证在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10%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以内。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F0DAD1-24C8-AF77-DB6B-12F538306D17}"/>
              </a:ext>
            </a:extLst>
          </p:cNvPr>
          <p:cNvSpPr txBox="1"/>
          <p:nvPr/>
        </p:nvSpPr>
        <p:spPr>
          <a:xfrm>
            <a:off x="198338" y="6096381"/>
            <a:ext cx="87665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纯频域法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舍弃了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的信息，误差较大，以下介绍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时频法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的结果：</a:t>
            </a: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C538A82A-EF1D-5B3E-59FE-4ECA2C8E24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8252259"/>
              </p:ext>
            </p:extLst>
          </p:nvPr>
        </p:nvGraphicFramePr>
        <p:xfrm>
          <a:off x="6173759" y="1741005"/>
          <a:ext cx="5876467" cy="2992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64A1AED5-07CA-0DA2-9F1E-0B675854ED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19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79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EBA14-D76A-9764-E98D-B309CE27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AD495A3-AF28-3527-4215-A720D394D80A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结果展示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D679B1-AF1C-632C-2C6B-EA50BBFF0C99}"/>
              </a:ext>
            </a:extLst>
          </p:cNvPr>
          <p:cNvSpPr txBox="1"/>
          <p:nvPr/>
        </p:nvSpPr>
        <p:spPr>
          <a:xfrm>
            <a:off x="135466" y="1107298"/>
            <a:ext cx="645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时频分析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参数提取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61BCD6-40A6-D6D8-8741-9D1DAD3494B5}"/>
              </a:ext>
            </a:extLst>
          </p:cNvPr>
          <p:cNvSpPr txBox="1"/>
          <p:nvPr/>
        </p:nvSpPr>
        <p:spPr>
          <a:xfrm>
            <a:off x="135466" y="1543730"/>
            <a:ext cx="645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3.1.CW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数据处理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3.1.1.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短时傅里叶变换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+ EMD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分解获取第一分量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F61BADE-C270-C2D6-1B70-E80FF1254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3" y="2226383"/>
            <a:ext cx="5303967" cy="28800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E725291-FAF1-125D-40B8-902FD9E0F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242" y="2226383"/>
            <a:ext cx="5398246" cy="288008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495E2B6-9A9C-D3AE-7FFD-025ADDC43993}"/>
              </a:ext>
            </a:extLst>
          </p:cNvPr>
          <p:cNvSpPr txBox="1"/>
          <p:nvPr/>
        </p:nvSpPr>
        <p:spPr>
          <a:xfrm>
            <a:off x="135463" y="5269547"/>
            <a:ext cx="5303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可以发现：该图中频谱杂乱，包含叶侧面反射波、叶根反射波、叶尖反射波、叶盘反射波。我们利用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EMD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可以提出叶盘侧面反射波。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85C954-F11C-F1FA-50EC-C9AD52348255}"/>
              </a:ext>
            </a:extLst>
          </p:cNvPr>
          <p:cNvSpPr txBox="1"/>
          <p:nvPr/>
        </p:nvSpPr>
        <p:spPr>
          <a:xfrm>
            <a:off x="5927363" y="5267378"/>
            <a:ext cx="56700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经过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EMD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之后可以发现为林立的条状闪烁，其对应叶片侧面的反射波雷达数据；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通过极值提取发现：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19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个闪烁间隔对应时间为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0.1422s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经计算：转速约为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1002rpm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；与真实值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1000rpm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相对无处为：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22931DB-6202-B008-2F4C-9F31ADC01A0A}"/>
              </a:ext>
            </a:extLst>
          </p:cNvPr>
          <p:cNvCxnSpPr/>
          <p:nvPr/>
        </p:nvCxnSpPr>
        <p:spPr>
          <a:xfrm flipV="1">
            <a:off x="6436360" y="3220720"/>
            <a:ext cx="0" cy="56896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959F997-31FC-85A8-FC8D-CA5C4A124CC8}"/>
              </a:ext>
            </a:extLst>
          </p:cNvPr>
          <p:cNvCxnSpPr>
            <a:cxnSpLocks/>
          </p:cNvCxnSpPr>
          <p:nvPr/>
        </p:nvCxnSpPr>
        <p:spPr>
          <a:xfrm flipH="1">
            <a:off x="6436360" y="3220720"/>
            <a:ext cx="475996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8047F7B-F734-58CD-1305-2A2A0320AAF9}"/>
              </a:ext>
            </a:extLst>
          </p:cNvPr>
          <p:cNvCxnSpPr/>
          <p:nvPr/>
        </p:nvCxnSpPr>
        <p:spPr>
          <a:xfrm flipV="1">
            <a:off x="11196320" y="3220720"/>
            <a:ext cx="0" cy="56896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C938E1A0-C4E8-DCB5-BAC7-7F4BABD7420A}"/>
              </a:ext>
            </a:extLst>
          </p:cNvPr>
          <p:cNvSpPr txBox="1"/>
          <p:nvPr/>
        </p:nvSpPr>
        <p:spPr>
          <a:xfrm>
            <a:off x="8275320" y="2861232"/>
            <a:ext cx="125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0.1422s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CC1E943-918B-73BD-23D1-F44BC20A54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46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E5C6-4090-A80A-F305-5D71EDE1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0421778-954F-0570-5E47-6FB1D9E0533B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结果展示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9F5D0E-D456-8456-9B11-87E43A091B0C}"/>
              </a:ext>
            </a:extLst>
          </p:cNvPr>
          <p:cNvSpPr txBox="1"/>
          <p:nvPr/>
        </p:nvSpPr>
        <p:spPr>
          <a:xfrm>
            <a:off x="135466" y="1107298"/>
            <a:ext cx="645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时频分析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参数提取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A6B66D-83F8-D29E-6237-E375EC0CF522}"/>
              </a:ext>
            </a:extLst>
          </p:cNvPr>
          <p:cNvSpPr txBox="1"/>
          <p:nvPr/>
        </p:nvSpPr>
        <p:spPr>
          <a:xfrm>
            <a:off x="135465" y="1507408"/>
            <a:ext cx="645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3.1.CW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数据处理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3.1.2.MUSIC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算法时频分析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+SST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脊线提取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2D0A344-A6B3-0DD9-3C9A-23AEF8BAE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3739"/>
            <a:ext cx="5212286" cy="288008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875588A-675C-A279-D4D6-04E5239A8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952" y="2153739"/>
            <a:ext cx="5410535" cy="288008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D89F4DB-57C3-0B2B-F9FB-4C7EC2DCF96A}"/>
              </a:ext>
            </a:extLst>
          </p:cNvPr>
          <p:cNvSpPr txBox="1"/>
          <p:nvPr/>
        </p:nvSpPr>
        <p:spPr>
          <a:xfrm>
            <a:off x="0" y="5218489"/>
            <a:ext cx="5303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利用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MUSIC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算法对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EMD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后的第一分量进行分解，可以看出在正频率段出现较好的正弦条纹，且最高能量点几乎分布在同一条线段上。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58F0E8-0C3B-60F5-063F-2BA8BE9AB9F5}"/>
              </a:ext>
            </a:extLst>
          </p:cNvPr>
          <p:cNvSpPr txBox="1"/>
          <p:nvPr/>
        </p:nvSpPr>
        <p:spPr>
          <a:xfrm>
            <a:off x="5864235" y="5218489"/>
            <a:ext cx="5303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利用高阶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SST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算法得到四阶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SST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分量，并对正负频段的信号进行脊线提取。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之后根据此图进行参数估计。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E221EA-6E09-A6D0-D25B-C157F87C01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31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F7CF-0AC7-6EE2-897A-D83E8921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EA49F61-E44A-9F1C-3E3A-B587EA7F3411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结果展示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8B290C-DD97-791F-FB52-5125703585BC}"/>
              </a:ext>
            </a:extLst>
          </p:cNvPr>
          <p:cNvSpPr txBox="1"/>
          <p:nvPr/>
        </p:nvSpPr>
        <p:spPr>
          <a:xfrm>
            <a:off x="135466" y="1107298"/>
            <a:ext cx="645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时频分析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参数提取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7C4838-7B24-FB8F-66F4-A09446EA8437}"/>
              </a:ext>
            </a:extLst>
          </p:cNvPr>
          <p:cNvSpPr txBox="1"/>
          <p:nvPr/>
        </p:nvSpPr>
        <p:spPr>
          <a:xfrm>
            <a:off x="135465" y="1507408"/>
            <a:ext cx="645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3.1.CW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数据处理</a:t>
            </a: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3.1.3.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根据脊线进行参数估计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97C86C-30F6-6D18-9AE0-7992E8AE8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3" y="2153738"/>
            <a:ext cx="6406953" cy="343853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0686C98-5C56-3D30-109E-1AC7075A3056}"/>
              </a:ext>
            </a:extLst>
          </p:cNvPr>
          <p:cNvSpPr txBox="1"/>
          <p:nvPr/>
        </p:nvSpPr>
        <p:spPr>
          <a:xfrm>
            <a:off x="135463" y="5750702"/>
            <a:ext cx="70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算法设计：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9DB2C23-A455-5736-CE5A-7D034BD9283D}"/>
              </a:ext>
            </a:extLst>
          </p:cNvPr>
          <p:cNvGrpSpPr/>
          <p:nvPr/>
        </p:nvGrpSpPr>
        <p:grpSpPr>
          <a:xfrm>
            <a:off x="1280159" y="5811056"/>
            <a:ext cx="1886553" cy="525622"/>
            <a:chOff x="1280159" y="5811056"/>
            <a:chExt cx="1886553" cy="525622"/>
          </a:xfrm>
        </p:grpSpPr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074548E2-367A-F9BE-2EE8-21E9C7130C88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9E88542-3961-BEC9-4A43-F4277FDD91BA}"/>
                </a:ext>
              </a:extLst>
            </p:cNvPr>
            <p:cNvSpPr txBox="1"/>
            <p:nvPr/>
          </p:nvSpPr>
          <p:spPr>
            <a:xfrm>
              <a:off x="1597793" y="5889201"/>
              <a:ext cx="1251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正负平均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1C5B582-BCED-B572-0F8E-B36B52221EB1}"/>
              </a:ext>
            </a:extLst>
          </p:cNvPr>
          <p:cNvGrpSpPr/>
          <p:nvPr/>
        </p:nvGrpSpPr>
        <p:grpSpPr>
          <a:xfrm>
            <a:off x="3149509" y="5811056"/>
            <a:ext cx="1886553" cy="525622"/>
            <a:chOff x="1280159" y="5811056"/>
            <a:chExt cx="1886553" cy="525622"/>
          </a:xfrm>
        </p:grpSpPr>
        <p:sp>
          <p:nvSpPr>
            <p:cNvPr id="13" name="箭头: V 形 12">
              <a:extLst>
                <a:ext uri="{FF2B5EF4-FFF2-40B4-BE49-F238E27FC236}">
                  <a16:creationId xmlns:a16="http://schemas.microsoft.com/office/drawing/2014/main" id="{61705D31-541A-3726-3FD1-E0B53508C0FD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668C07E-254E-D3DC-E328-6463DC440F6A}"/>
                </a:ext>
              </a:extLst>
            </p:cNvPr>
            <p:cNvSpPr txBox="1"/>
            <p:nvPr/>
          </p:nvSpPr>
          <p:spPr>
            <a:xfrm>
              <a:off x="1597793" y="5889201"/>
              <a:ext cx="1251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SG</a:t>
              </a:r>
              <a:r>
                <a:rPr lang="zh-CN" altLang="en-US" dirty="0"/>
                <a:t>滤波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790F1F1-2ABD-89D3-3A34-5AE0611C13C2}"/>
              </a:ext>
            </a:extLst>
          </p:cNvPr>
          <p:cNvGrpSpPr/>
          <p:nvPr/>
        </p:nvGrpSpPr>
        <p:grpSpPr>
          <a:xfrm>
            <a:off x="5036062" y="5811056"/>
            <a:ext cx="3106911" cy="525622"/>
            <a:chOff x="1280159" y="5811056"/>
            <a:chExt cx="1939595" cy="525622"/>
          </a:xfrm>
        </p:grpSpPr>
        <p:sp>
          <p:nvSpPr>
            <p:cNvPr id="18" name="箭头: V 形 17">
              <a:extLst>
                <a:ext uri="{FF2B5EF4-FFF2-40B4-BE49-F238E27FC236}">
                  <a16:creationId xmlns:a16="http://schemas.microsoft.com/office/drawing/2014/main" id="{5FCCC031-BDED-C5A0-A1AC-CE22ECEC44BE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0473BB1-F115-D42F-E9D2-F07B109E3DBD}"/>
                </a:ext>
              </a:extLst>
            </p:cNvPr>
            <p:cNvSpPr txBox="1"/>
            <p:nvPr/>
          </p:nvSpPr>
          <p:spPr>
            <a:xfrm>
              <a:off x="1597793" y="5889201"/>
              <a:ext cx="1621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提取每个周期的</a:t>
              </a:r>
              <a:r>
                <a:rPr lang="en-US" altLang="zh-CN" dirty="0"/>
                <a:t>fmax</a:t>
              </a:r>
              <a:endParaRPr lang="zh-CN" altLang="en-US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686A742-08F7-4A71-0B02-932FDB249417}"/>
              </a:ext>
            </a:extLst>
          </p:cNvPr>
          <p:cNvGrpSpPr/>
          <p:nvPr/>
        </p:nvGrpSpPr>
        <p:grpSpPr>
          <a:xfrm>
            <a:off x="8040805" y="5811056"/>
            <a:ext cx="2248601" cy="525622"/>
            <a:chOff x="1280159" y="5811056"/>
            <a:chExt cx="1886553" cy="525622"/>
          </a:xfrm>
        </p:grpSpPr>
        <p:sp>
          <p:nvSpPr>
            <p:cNvPr id="22" name="箭头: V 形 21">
              <a:extLst>
                <a:ext uri="{FF2B5EF4-FFF2-40B4-BE49-F238E27FC236}">
                  <a16:creationId xmlns:a16="http://schemas.microsoft.com/office/drawing/2014/main" id="{303458BD-E345-9BC1-703E-CCF2AA9D0973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CF05CA3-971A-86A6-576D-1855EAEDC290}"/>
                </a:ext>
              </a:extLst>
            </p:cNvPr>
            <p:cNvSpPr txBox="1"/>
            <p:nvPr/>
          </p:nvSpPr>
          <p:spPr>
            <a:xfrm>
              <a:off x="1597793" y="5889201"/>
              <a:ext cx="1397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获得平均</a:t>
              </a:r>
              <a:r>
                <a:rPr lang="en-US" altLang="zh-CN" dirty="0"/>
                <a:t>fmax</a:t>
              </a:r>
              <a:endParaRPr lang="zh-CN" altLang="en-US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814C90E-635E-BA45-D190-DB84A6EA66F6}"/>
              </a:ext>
            </a:extLst>
          </p:cNvPr>
          <p:cNvGrpSpPr/>
          <p:nvPr/>
        </p:nvGrpSpPr>
        <p:grpSpPr>
          <a:xfrm>
            <a:off x="10289406" y="5811056"/>
            <a:ext cx="1886553" cy="525622"/>
            <a:chOff x="1280159" y="5811056"/>
            <a:chExt cx="1886553" cy="525622"/>
          </a:xfrm>
        </p:grpSpPr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4E1DF888-B908-BDE0-B3FD-B8F34B9CDD70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DE77667-24B0-FA9B-B62E-523FB0AEE322}"/>
                </a:ext>
              </a:extLst>
            </p:cNvPr>
            <p:cNvSpPr txBox="1"/>
            <p:nvPr/>
          </p:nvSpPr>
          <p:spPr>
            <a:xfrm>
              <a:off x="1597793" y="5889201"/>
              <a:ext cx="1251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参数反演</a:t>
              </a:r>
            </a:p>
          </p:txBody>
        </p:sp>
      </p:grp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B6E9E555-9F37-2192-1CF9-8C463A705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320032"/>
              </p:ext>
            </p:extLst>
          </p:nvPr>
        </p:nvGraphicFramePr>
        <p:xfrm>
          <a:off x="6900779" y="1480795"/>
          <a:ext cx="5155755" cy="3061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585">
                  <a:extLst>
                    <a:ext uri="{9D8B030D-6E8A-4147-A177-3AD203B41FA5}">
                      <a16:colId xmlns:a16="http://schemas.microsoft.com/office/drawing/2014/main" val="665624027"/>
                    </a:ext>
                  </a:extLst>
                </a:gridCol>
                <a:gridCol w="1322699">
                  <a:extLst>
                    <a:ext uri="{9D8B030D-6E8A-4147-A177-3AD203B41FA5}">
                      <a16:colId xmlns:a16="http://schemas.microsoft.com/office/drawing/2014/main" val="2531099363"/>
                    </a:ext>
                  </a:extLst>
                </a:gridCol>
                <a:gridCol w="2114471">
                  <a:extLst>
                    <a:ext uri="{9D8B030D-6E8A-4147-A177-3AD203B41FA5}">
                      <a16:colId xmlns:a16="http://schemas.microsoft.com/office/drawing/2014/main" val="2609744360"/>
                    </a:ext>
                  </a:extLst>
                </a:gridCol>
              </a:tblGrid>
              <a:tr h="396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测量值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理论值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696266"/>
                  </a:ext>
                </a:extLst>
              </a:tr>
              <a:tr h="396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闪烁峰个数</a:t>
                      </a:r>
                      <a:endParaRPr lang="en-US" alt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814592"/>
                  </a:ext>
                </a:extLst>
              </a:tr>
              <a:tr h="396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闪烁周期（</a:t>
                      </a:r>
                      <a:r>
                        <a:rPr lang="en-US" altLang="zh-CN" dirty="0"/>
                        <a:t>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0.007427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0.0075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664637"/>
                  </a:ext>
                </a:extLst>
              </a:tr>
              <a:tr h="396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转频（</a:t>
                      </a:r>
                      <a:r>
                        <a:rPr lang="en-US" altLang="zh-CN" dirty="0"/>
                        <a:t>Hz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16.83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16.67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696184"/>
                  </a:ext>
                </a:extLst>
              </a:tr>
              <a:tr h="396242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转频（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rpm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1009</a:t>
                      </a:r>
                      <a:endParaRPr lang="zh-CN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CN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066500"/>
                  </a:ext>
                </a:extLst>
              </a:tr>
              <a:tr h="396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半径（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mm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87.92</a:t>
                      </a:r>
                      <a:endParaRPr lang="zh-CN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89.01</a:t>
                      </a:r>
                      <a:endParaRPr lang="zh-CN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513504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理论最大多普勒频率（</a:t>
                      </a:r>
                      <a:r>
                        <a:rPr lang="en-US" altLang="zh-CN" dirty="0"/>
                        <a:t>Hz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7376Hz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7468Hz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32338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DC2BD0-9F3B-BD15-3C1D-48BB6FCEBE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099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D8626-2675-60EA-2A6E-92FB55D5C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3CA05CFC-2CE3-87F8-1F17-BD1BF3BFDD37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结果展示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AC87D9-BD48-D9D5-EB88-13B1B52BE586}"/>
              </a:ext>
            </a:extLst>
          </p:cNvPr>
          <p:cNvSpPr txBox="1"/>
          <p:nvPr/>
        </p:nvSpPr>
        <p:spPr>
          <a:xfrm>
            <a:off x="135466" y="1107298"/>
            <a:ext cx="645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时频分析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参数提取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F03D65-3D73-9015-6009-68B49FB0F4A4}"/>
              </a:ext>
            </a:extLst>
          </p:cNvPr>
          <p:cNvSpPr txBox="1"/>
          <p:nvPr/>
        </p:nvSpPr>
        <p:spPr>
          <a:xfrm>
            <a:off x="135465" y="1507408"/>
            <a:ext cx="12056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3.2.FMCW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数据处理</a:t>
            </a: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按照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3.1.CW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数据处理同样的逻辑，可以得到下面：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FMCW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数据时频图、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FMCW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数据第一分量时频图、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FMCW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数据经过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MUSIC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算法后的时频图、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SST+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脊线提取的时频图与参数提取：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158DCF-58EF-7AE4-4154-1F4E36898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5" y="3300237"/>
            <a:ext cx="3854341" cy="20766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B080BF-FC00-D716-2365-8269475E1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3277" y="3300238"/>
            <a:ext cx="3854593" cy="20766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F3DF7BF-5286-5A71-019E-24AEB6FC7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232" y="3300238"/>
            <a:ext cx="3854594" cy="20503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60E95F2-A870-FA33-8BC8-5D253ACCB414}"/>
              </a:ext>
            </a:extLst>
          </p:cNvPr>
          <p:cNvSpPr txBox="1"/>
          <p:nvPr/>
        </p:nvSpPr>
        <p:spPr>
          <a:xfrm>
            <a:off x="387031" y="5600082"/>
            <a:ext cx="1205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FMCW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数据时频图                 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FMCW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数据第一分量时频图     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FMCW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数据经过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MUSIC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算法后的时频图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B9EFD75-7810-6496-D4CE-CEB08E4B9B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530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328C-B8B1-6DFE-7688-0BA1A872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47EE46C-DE6C-746D-36FB-8B3AFC94F155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结果展示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487D07-F88C-6076-39A5-86950B3FB72D}"/>
              </a:ext>
            </a:extLst>
          </p:cNvPr>
          <p:cNvSpPr txBox="1"/>
          <p:nvPr/>
        </p:nvSpPr>
        <p:spPr>
          <a:xfrm>
            <a:off x="135466" y="1107298"/>
            <a:ext cx="645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时频分析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参数提取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845757-27D5-20DE-AD3E-EF4A64D4B31F}"/>
              </a:ext>
            </a:extLst>
          </p:cNvPr>
          <p:cNvSpPr txBox="1"/>
          <p:nvPr/>
        </p:nvSpPr>
        <p:spPr>
          <a:xfrm>
            <a:off x="135465" y="1507408"/>
            <a:ext cx="645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3.2.FMCW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数据处理</a:t>
            </a: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根据脊线进行参数估计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4C5E51-8E89-F463-5CAF-FF2D730D7744}"/>
              </a:ext>
            </a:extLst>
          </p:cNvPr>
          <p:cNvSpPr txBox="1"/>
          <p:nvPr/>
        </p:nvSpPr>
        <p:spPr>
          <a:xfrm>
            <a:off x="135463" y="5750702"/>
            <a:ext cx="70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算法设计：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C3415A4-5ABE-7592-69A3-FD25BAECC221}"/>
              </a:ext>
            </a:extLst>
          </p:cNvPr>
          <p:cNvGrpSpPr/>
          <p:nvPr/>
        </p:nvGrpSpPr>
        <p:grpSpPr>
          <a:xfrm>
            <a:off x="1280159" y="5811056"/>
            <a:ext cx="1886553" cy="525622"/>
            <a:chOff x="1280159" y="5811056"/>
            <a:chExt cx="1886553" cy="525622"/>
          </a:xfrm>
        </p:grpSpPr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250498B4-0323-DD94-C756-CD4B5750D70E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D1466E1-57C1-F4CE-E067-6590F393E284}"/>
                </a:ext>
              </a:extLst>
            </p:cNvPr>
            <p:cNvSpPr txBox="1"/>
            <p:nvPr/>
          </p:nvSpPr>
          <p:spPr>
            <a:xfrm>
              <a:off x="1597793" y="5889201"/>
              <a:ext cx="1251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正负平均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D2500DF-379D-D36D-1E8C-1910BE84CDC4}"/>
              </a:ext>
            </a:extLst>
          </p:cNvPr>
          <p:cNvGrpSpPr/>
          <p:nvPr/>
        </p:nvGrpSpPr>
        <p:grpSpPr>
          <a:xfrm>
            <a:off x="3149509" y="5811056"/>
            <a:ext cx="1886553" cy="525622"/>
            <a:chOff x="1280159" y="5811056"/>
            <a:chExt cx="1886553" cy="525622"/>
          </a:xfrm>
        </p:grpSpPr>
        <p:sp>
          <p:nvSpPr>
            <p:cNvPr id="13" name="箭头: V 形 12">
              <a:extLst>
                <a:ext uri="{FF2B5EF4-FFF2-40B4-BE49-F238E27FC236}">
                  <a16:creationId xmlns:a16="http://schemas.microsoft.com/office/drawing/2014/main" id="{1FE8795E-CF76-0E0E-1C73-5416699A71DB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6B948EE-BD66-934F-B67D-93CAFC82878F}"/>
                </a:ext>
              </a:extLst>
            </p:cNvPr>
            <p:cNvSpPr txBox="1"/>
            <p:nvPr/>
          </p:nvSpPr>
          <p:spPr>
            <a:xfrm>
              <a:off x="1597793" y="5889201"/>
              <a:ext cx="1251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SG</a:t>
              </a:r>
              <a:r>
                <a:rPr lang="zh-CN" altLang="en-US" dirty="0"/>
                <a:t>滤波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C0D0C20-EC04-2281-33CD-6C2B4E73B382}"/>
              </a:ext>
            </a:extLst>
          </p:cNvPr>
          <p:cNvGrpSpPr/>
          <p:nvPr/>
        </p:nvGrpSpPr>
        <p:grpSpPr>
          <a:xfrm>
            <a:off x="5036062" y="5811056"/>
            <a:ext cx="3106911" cy="525622"/>
            <a:chOff x="1280159" y="5811056"/>
            <a:chExt cx="1939595" cy="525622"/>
          </a:xfrm>
        </p:grpSpPr>
        <p:sp>
          <p:nvSpPr>
            <p:cNvPr id="18" name="箭头: V 形 17">
              <a:extLst>
                <a:ext uri="{FF2B5EF4-FFF2-40B4-BE49-F238E27FC236}">
                  <a16:creationId xmlns:a16="http://schemas.microsoft.com/office/drawing/2014/main" id="{1CC6C312-6F0E-AE6B-00C7-3344313BB511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C97720C-23A3-69FF-288C-FB971E1AC18D}"/>
                </a:ext>
              </a:extLst>
            </p:cNvPr>
            <p:cNvSpPr txBox="1"/>
            <p:nvPr/>
          </p:nvSpPr>
          <p:spPr>
            <a:xfrm>
              <a:off x="1597793" y="5889201"/>
              <a:ext cx="1621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提取每个周期的</a:t>
              </a:r>
              <a:r>
                <a:rPr lang="en-US" altLang="zh-CN" dirty="0"/>
                <a:t>fmax</a:t>
              </a:r>
              <a:endParaRPr lang="zh-CN" altLang="en-US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00CA228-129A-7120-DF41-D2CC15240765}"/>
              </a:ext>
            </a:extLst>
          </p:cNvPr>
          <p:cNvGrpSpPr/>
          <p:nvPr/>
        </p:nvGrpSpPr>
        <p:grpSpPr>
          <a:xfrm>
            <a:off x="8040805" y="5811056"/>
            <a:ext cx="2248601" cy="525622"/>
            <a:chOff x="1280159" y="5811056"/>
            <a:chExt cx="1886553" cy="525622"/>
          </a:xfrm>
        </p:grpSpPr>
        <p:sp>
          <p:nvSpPr>
            <p:cNvPr id="22" name="箭头: V 形 21">
              <a:extLst>
                <a:ext uri="{FF2B5EF4-FFF2-40B4-BE49-F238E27FC236}">
                  <a16:creationId xmlns:a16="http://schemas.microsoft.com/office/drawing/2014/main" id="{45055C3F-5854-906E-E205-B0BDB6C2D793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7D04A8C-0980-B30D-F5FB-21CAC05D33EA}"/>
                </a:ext>
              </a:extLst>
            </p:cNvPr>
            <p:cNvSpPr txBox="1"/>
            <p:nvPr/>
          </p:nvSpPr>
          <p:spPr>
            <a:xfrm>
              <a:off x="1597793" y="5889201"/>
              <a:ext cx="1397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获得平均</a:t>
              </a:r>
              <a:r>
                <a:rPr lang="en-US" altLang="zh-CN" dirty="0"/>
                <a:t>fmax</a:t>
              </a:r>
              <a:endParaRPr lang="zh-CN" altLang="en-US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1CB0621-914D-9B37-1B91-388B12B33D13}"/>
              </a:ext>
            </a:extLst>
          </p:cNvPr>
          <p:cNvGrpSpPr/>
          <p:nvPr/>
        </p:nvGrpSpPr>
        <p:grpSpPr>
          <a:xfrm>
            <a:off x="10289406" y="5811056"/>
            <a:ext cx="1886553" cy="525622"/>
            <a:chOff x="1280159" y="5811056"/>
            <a:chExt cx="1886553" cy="525622"/>
          </a:xfrm>
        </p:grpSpPr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2A482DCB-8523-1B6D-32A6-EDF87AB98363}"/>
                </a:ext>
              </a:extLst>
            </p:cNvPr>
            <p:cNvSpPr/>
            <p:nvPr/>
          </p:nvSpPr>
          <p:spPr>
            <a:xfrm>
              <a:off x="1280159" y="5811056"/>
              <a:ext cx="1886553" cy="525622"/>
            </a:xfrm>
            <a:prstGeom prst="chevr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D2FE0AB-D7D6-1FAE-9E07-7BB7688B79D0}"/>
                </a:ext>
              </a:extLst>
            </p:cNvPr>
            <p:cNvSpPr txBox="1"/>
            <p:nvPr/>
          </p:nvSpPr>
          <p:spPr>
            <a:xfrm>
              <a:off x="1597793" y="5889201"/>
              <a:ext cx="1251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参数反演</a:t>
              </a:r>
            </a:p>
          </p:txBody>
        </p:sp>
      </p:grp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F1EA7FF-6ACC-9BC3-3A92-34A62E2C4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991337"/>
              </p:ext>
            </p:extLst>
          </p:nvPr>
        </p:nvGraphicFramePr>
        <p:xfrm>
          <a:off x="6919829" y="2181597"/>
          <a:ext cx="5155755" cy="264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585">
                  <a:extLst>
                    <a:ext uri="{9D8B030D-6E8A-4147-A177-3AD203B41FA5}">
                      <a16:colId xmlns:a16="http://schemas.microsoft.com/office/drawing/2014/main" val="665624027"/>
                    </a:ext>
                  </a:extLst>
                </a:gridCol>
                <a:gridCol w="1322699">
                  <a:extLst>
                    <a:ext uri="{9D8B030D-6E8A-4147-A177-3AD203B41FA5}">
                      <a16:colId xmlns:a16="http://schemas.microsoft.com/office/drawing/2014/main" val="2531099363"/>
                    </a:ext>
                  </a:extLst>
                </a:gridCol>
                <a:gridCol w="2114471">
                  <a:extLst>
                    <a:ext uri="{9D8B030D-6E8A-4147-A177-3AD203B41FA5}">
                      <a16:colId xmlns:a16="http://schemas.microsoft.com/office/drawing/2014/main" val="2609744360"/>
                    </a:ext>
                  </a:extLst>
                </a:gridCol>
              </a:tblGrid>
              <a:tr h="396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测量值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理论值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696266"/>
                  </a:ext>
                </a:extLst>
              </a:tr>
              <a:tr h="396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闪烁峰个数</a:t>
                      </a:r>
                      <a:endParaRPr lang="en-US" alt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814592"/>
                  </a:ext>
                </a:extLst>
              </a:tr>
              <a:tr h="396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闪烁周期（</a:t>
                      </a:r>
                      <a:r>
                        <a:rPr lang="en-US" altLang="zh-CN" dirty="0"/>
                        <a:t>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0.6345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664637"/>
                  </a:ext>
                </a:extLst>
              </a:tr>
              <a:tr h="396242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转频（</a:t>
                      </a:r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rpm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94.56</a:t>
                      </a:r>
                      <a:endParaRPr lang="zh-CN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CN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066500"/>
                  </a:ext>
                </a:extLst>
              </a:tr>
              <a:tr h="66178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最大多普勒频率（</a:t>
                      </a:r>
                      <a:r>
                        <a:rPr lang="en-US" altLang="zh-CN" dirty="0"/>
                        <a:t>Hz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613.773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645.05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1044835"/>
                  </a:ext>
                </a:extLst>
              </a:tr>
              <a:tr h="39624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半径（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mm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114</a:t>
                      </a:r>
                      <a:endParaRPr lang="zh-CN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  <a:endParaRPr lang="zh-CN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513504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B343F1DB-B3CE-2001-6597-FE2B61914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58" y="2153739"/>
            <a:ext cx="6240083" cy="3292897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AD6886-B431-79C5-2020-FD6DBDA6E1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089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7A60-CE1B-855B-7E6F-AA9CAB21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0F8EF84C-34D6-BA93-29B6-2372C543DF88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3.3.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结果展示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449D5D-FA03-27E2-647B-CF689E912AFC}"/>
              </a:ext>
            </a:extLst>
          </p:cNvPr>
          <p:cNvSpPr txBox="1"/>
          <p:nvPr/>
        </p:nvSpPr>
        <p:spPr>
          <a:xfrm>
            <a:off x="135464" y="948404"/>
            <a:ext cx="645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时频分析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参数提取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21CF1F-AF43-95ED-48C3-E9C0D0D0103F}"/>
              </a:ext>
            </a:extLst>
          </p:cNvPr>
          <p:cNvSpPr txBox="1"/>
          <p:nvPr/>
        </p:nvSpPr>
        <p:spPr>
          <a:xfrm>
            <a:off x="135463" y="1348514"/>
            <a:ext cx="645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3.3.CW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数据仿真数据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4EB4C7-D591-24F2-ADCD-8C70BAD15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6" y="1748624"/>
            <a:ext cx="4244030" cy="22966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B81AE3-5098-F778-422B-E0BB7C0DD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69" y="1748624"/>
            <a:ext cx="4269903" cy="22966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F0F065B-E683-CC5D-2FB9-CDCEC8052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66" y="4130613"/>
            <a:ext cx="4244030" cy="232232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718BFB96-524C-5147-6EFA-78682C0BE7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369" y="4155371"/>
            <a:ext cx="4244030" cy="22728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448348D-97D4-BEC6-AB3C-13851C06E0EF}"/>
              </a:ext>
            </a:extLst>
          </p:cNvPr>
          <p:cNvSpPr txBox="1"/>
          <p:nvPr/>
        </p:nvSpPr>
        <p:spPr>
          <a:xfrm>
            <a:off x="9573934" y="1871882"/>
            <a:ext cx="20497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左图分别是对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仿真数据进行时频分析、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EMD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处理、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MUSIC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时频分析、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SST+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脊线提取后的理想结果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4FC0D9-2E0B-CE7E-F869-646699C2FE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919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31CB-230A-025C-7A19-C05BD16A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3">
            <a:extLst>
              <a:ext uri="{FF2B5EF4-FFF2-40B4-BE49-F238E27FC236}">
                <a16:creationId xmlns:a16="http://schemas.microsoft.com/office/drawing/2014/main" id="{B6A39876-CA8F-CF87-44D0-D51781F51875}"/>
              </a:ext>
            </a:extLst>
          </p:cNvPr>
          <p:cNvSpPr txBox="1">
            <a:spLocks/>
          </p:cNvSpPr>
          <p:nvPr/>
        </p:nvSpPr>
        <p:spPr bwMode="auto">
          <a:xfrm>
            <a:off x="1587190" y="2624363"/>
            <a:ext cx="9017619" cy="101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 marL="0" indent="0" algn="ctr">
              <a:buSzPct val="90000"/>
              <a:buNone/>
            </a:pPr>
            <a:r>
              <a:rPr lang="zh-CN" altLang="en-US" sz="4800" kern="0" dirty="0">
                <a:solidFill>
                  <a:srgbClr val="3333CC"/>
                </a:solidFill>
                <a:latin typeface="Times New Roman"/>
                <a:ea typeface="宋体"/>
              </a:rPr>
              <a:t>四、项目进展与未来研究计划</a:t>
            </a:r>
            <a:endParaRPr lang="en-US" altLang="zh-CN" sz="4800" kern="0" dirty="0">
              <a:solidFill>
                <a:srgbClr val="3333CC"/>
              </a:solidFill>
              <a:latin typeface="Times New Roman"/>
              <a:ea typeface="宋体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4BA00B2-8226-C2CC-F689-8F798428DD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053553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55505-ABB3-C115-FDB8-3835D0BA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9A0E021-D0E7-BDE7-6CE7-8B5F530F9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943087"/>
              </p:ext>
            </p:extLst>
          </p:nvPr>
        </p:nvGraphicFramePr>
        <p:xfrm>
          <a:off x="125709" y="2747073"/>
          <a:ext cx="5259952" cy="2654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4889">
                  <a:extLst>
                    <a:ext uri="{9D8B030D-6E8A-4147-A177-3AD203B41FA5}">
                      <a16:colId xmlns:a16="http://schemas.microsoft.com/office/drawing/2014/main" val="889939443"/>
                    </a:ext>
                  </a:extLst>
                </a:gridCol>
                <a:gridCol w="1415063">
                  <a:extLst>
                    <a:ext uri="{9D8B030D-6E8A-4147-A177-3AD203B41FA5}">
                      <a16:colId xmlns:a16="http://schemas.microsoft.com/office/drawing/2014/main" val="1992062178"/>
                    </a:ext>
                  </a:extLst>
                </a:gridCol>
              </a:tblGrid>
              <a:tr h="437286">
                <a:tc>
                  <a:txBody>
                    <a:bodyPr/>
                    <a:lstStyle/>
                    <a:p>
                      <a:r>
                        <a:rPr lang="zh-CN" altLang="en-US" dirty="0"/>
                        <a:t>项目内容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完成进展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2900"/>
                  </a:ext>
                </a:extLst>
              </a:tr>
              <a:tr h="443360">
                <a:tc>
                  <a:txBody>
                    <a:bodyPr/>
                    <a:lstStyle/>
                    <a:p>
                      <a:r>
                        <a:rPr lang="en-US" altLang="zh-CN" dirty="0"/>
                        <a:t>1.</a:t>
                      </a:r>
                      <a:r>
                        <a:rPr lang="zh-CN" altLang="en-US" dirty="0"/>
                        <a:t>文献查阅与调研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044700"/>
                  </a:ext>
                </a:extLst>
              </a:tr>
              <a:tr h="443360">
                <a:tc>
                  <a:txBody>
                    <a:bodyPr/>
                    <a:lstStyle/>
                    <a:p>
                      <a:r>
                        <a:rPr lang="en-US" altLang="zh-CN" dirty="0"/>
                        <a:t>2.</a:t>
                      </a:r>
                      <a:r>
                        <a:rPr lang="zh-CN" altLang="en-US" dirty="0"/>
                        <a:t>实验平台搭建与硬件选型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709333"/>
                  </a:ext>
                </a:extLst>
              </a:tr>
              <a:tr h="443360">
                <a:tc>
                  <a:txBody>
                    <a:bodyPr/>
                    <a:lstStyle/>
                    <a:p>
                      <a:r>
                        <a:rPr lang="en-US" altLang="zh-CN" dirty="0"/>
                        <a:t>3.</a:t>
                      </a:r>
                      <a:r>
                        <a:rPr lang="zh-CN" altLang="en-US" dirty="0"/>
                        <a:t>理论推导与数学建模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0028"/>
                  </a:ext>
                </a:extLst>
              </a:tr>
              <a:tr h="443360">
                <a:tc>
                  <a:txBody>
                    <a:bodyPr/>
                    <a:lstStyle/>
                    <a:p>
                      <a:r>
                        <a:rPr lang="en-US" altLang="zh-CN" dirty="0"/>
                        <a:t>4.</a:t>
                      </a:r>
                      <a:r>
                        <a:rPr lang="zh-CN" altLang="en-US" dirty="0"/>
                        <a:t>信号采集、数据分析、参数提取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111207"/>
                  </a:ext>
                </a:extLst>
              </a:tr>
              <a:tr h="443360">
                <a:tc>
                  <a:txBody>
                    <a:bodyPr/>
                    <a:lstStyle/>
                    <a:p>
                      <a:r>
                        <a:rPr lang="en-US" altLang="zh-CN" dirty="0"/>
                        <a:t>5.</a:t>
                      </a:r>
                      <a:r>
                        <a:rPr lang="zh-CN" altLang="en-US" dirty="0"/>
                        <a:t>毕业论文撰写（</a:t>
                      </a:r>
                      <a:r>
                        <a:rPr lang="en-US" altLang="zh-CN" dirty="0"/>
                        <a:t>2026.6</a:t>
                      </a:r>
                      <a:r>
                        <a:rPr lang="zh-CN" altLang="en-US" dirty="0"/>
                        <a:t>完成）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40653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48B21171-0048-3EF9-0783-21469B724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887694" cy="24487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4570EE0-A4FE-AED6-9A31-A23061B9B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653" y="0"/>
            <a:ext cx="1827320" cy="24487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D7D54C6-D4BE-8167-B5F7-679692582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931" y="0"/>
            <a:ext cx="1887695" cy="24472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D8A738A-5E29-0EA2-0D11-565CBAD9A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584" y="1"/>
            <a:ext cx="1726777" cy="244724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0C97885-E52C-B8E0-2BBA-5CAE18F39880}"/>
              </a:ext>
            </a:extLst>
          </p:cNvPr>
          <p:cNvSpPr/>
          <p:nvPr/>
        </p:nvSpPr>
        <p:spPr>
          <a:xfrm>
            <a:off x="37326" y="0"/>
            <a:ext cx="1887694" cy="244724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26BD58-3022-6432-AEC6-F11E89820704}"/>
              </a:ext>
            </a:extLst>
          </p:cNvPr>
          <p:cNvSpPr/>
          <p:nvPr/>
        </p:nvSpPr>
        <p:spPr>
          <a:xfrm>
            <a:off x="1914173" y="0"/>
            <a:ext cx="1887694" cy="244724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4CB127-0B65-3DA3-0C64-0FD6524B672A}"/>
              </a:ext>
            </a:extLst>
          </p:cNvPr>
          <p:cNvSpPr/>
          <p:nvPr/>
        </p:nvSpPr>
        <p:spPr>
          <a:xfrm>
            <a:off x="3825972" y="0"/>
            <a:ext cx="1998653" cy="244724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471167-E954-FACE-483A-0EF18C5932B0}"/>
              </a:ext>
            </a:extLst>
          </p:cNvPr>
          <p:cNvSpPr/>
          <p:nvPr/>
        </p:nvSpPr>
        <p:spPr>
          <a:xfrm>
            <a:off x="5855125" y="0"/>
            <a:ext cx="1887694" cy="244724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6C4D25-6669-A8A5-51BD-E0C19CA42E11}"/>
              </a:ext>
            </a:extLst>
          </p:cNvPr>
          <p:cNvSpPr/>
          <p:nvPr/>
        </p:nvSpPr>
        <p:spPr>
          <a:xfrm>
            <a:off x="7742819" y="0"/>
            <a:ext cx="719256" cy="244724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F0F3E3-F1C4-B413-2A4F-B7291CE30FA5}"/>
              </a:ext>
            </a:extLst>
          </p:cNvPr>
          <p:cNvSpPr txBox="1"/>
          <p:nvPr/>
        </p:nvSpPr>
        <p:spPr>
          <a:xfrm>
            <a:off x="7716855" y="1023565"/>
            <a:ext cx="771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EC02556-A882-856F-676C-58BB4516310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126" y="2747073"/>
            <a:ext cx="3318590" cy="186570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95AC47C-B575-C01B-EFED-3AE254F088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5286" y="2524731"/>
            <a:ext cx="2941005" cy="216553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46FBDCC-F8FC-9B31-19BC-C410A34950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1126" y="4782487"/>
            <a:ext cx="4441060" cy="1703202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B518F79-12BD-1670-91C5-62DAA17266F6}"/>
              </a:ext>
            </a:extLst>
          </p:cNvPr>
          <p:cNvSpPr txBox="1"/>
          <p:nvPr/>
        </p:nvSpPr>
        <p:spPr>
          <a:xfrm>
            <a:off x="291454" y="5804118"/>
            <a:ext cx="492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u="sng" dirty="0">
                <a:latin typeface="楷体" panose="02010609060101010101" pitchFamily="49" charset="-122"/>
                <a:ea typeface="楷体" panose="02010609060101010101" pitchFamily="49" charset="-122"/>
              </a:rPr>
              <a:t>完善</a:t>
            </a:r>
            <a:r>
              <a:rPr lang="zh-CN" altLang="en-US" u="sng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参数拟合与重构</a:t>
            </a:r>
            <a:r>
              <a:rPr lang="zh-CN" altLang="en-US" u="sng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u="sng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距离提取</a:t>
            </a:r>
            <a:r>
              <a:rPr lang="zh-CN" altLang="en-US" u="sng" dirty="0">
                <a:latin typeface="楷体" panose="02010609060101010101" pitchFamily="49" charset="-122"/>
                <a:ea typeface="楷体" panose="02010609060101010101" pitchFamily="49" charset="-122"/>
              </a:rPr>
              <a:t>部分算法</a:t>
            </a:r>
          </a:p>
        </p:txBody>
      </p:sp>
      <p:sp>
        <p:nvSpPr>
          <p:cNvPr id="28" name="箭头: 圆角右 27">
            <a:extLst>
              <a:ext uri="{FF2B5EF4-FFF2-40B4-BE49-F238E27FC236}">
                <a16:creationId xmlns:a16="http://schemas.microsoft.com/office/drawing/2014/main" id="{C35B7914-A544-6533-71BF-5B1F85376540}"/>
              </a:ext>
            </a:extLst>
          </p:cNvPr>
          <p:cNvSpPr/>
          <p:nvPr/>
        </p:nvSpPr>
        <p:spPr>
          <a:xfrm rot="10800000">
            <a:off x="4825298" y="4874935"/>
            <a:ext cx="281394" cy="123914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27028A-9612-7F30-B200-B491D6CFF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242901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BC685-464C-0699-8057-97C9FF4B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3">
            <a:extLst>
              <a:ext uri="{FF2B5EF4-FFF2-40B4-BE49-F238E27FC236}">
                <a16:creationId xmlns:a16="http://schemas.microsoft.com/office/drawing/2014/main" id="{E2A8A1D5-2D0E-9AA5-C5F5-71F30076D7D2}"/>
              </a:ext>
            </a:extLst>
          </p:cNvPr>
          <p:cNvSpPr txBox="1">
            <a:spLocks/>
          </p:cNvSpPr>
          <p:nvPr/>
        </p:nvSpPr>
        <p:spPr bwMode="auto">
          <a:xfrm>
            <a:off x="1587190" y="2624363"/>
            <a:ext cx="9017619" cy="101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447675" indent="-1793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30000"/>
              <a:buFont typeface="Wingdings" panose="05000000000000000000" pitchFamily="2" charset="2"/>
              <a:buChar char="§"/>
              <a:defRPr sz="2400" b="1">
                <a:solidFill>
                  <a:srgbClr val="3333CC"/>
                </a:solidFill>
                <a:latin typeface="+mn-ea"/>
                <a:ea typeface="+mn-ea"/>
              </a:defRPr>
            </a:lvl2pPr>
            <a:lvl3pPr marL="717550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l"/>
              <a:defRPr sz="2000" b="1">
                <a:solidFill>
                  <a:srgbClr val="5F5F5F"/>
                </a:solidFill>
                <a:latin typeface="+mn-ea"/>
                <a:ea typeface="+mn-ea"/>
              </a:defRPr>
            </a:lvl3pPr>
            <a:lvl4pPr marL="985838" indent="-88900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4pPr>
            <a:lvl5pPr marL="1255713" indent="-90488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5pPr>
            <a:lvl6pPr marL="17132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6pPr>
            <a:lvl7pPr marL="21704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7pPr>
            <a:lvl8pPr marL="26276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8pPr>
            <a:lvl9pPr marL="3084830" indent="-90805" algn="just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b="1">
                <a:solidFill>
                  <a:schemeClr val="tx1"/>
                </a:solidFill>
                <a:latin typeface="+mn-lt"/>
                <a:ea typeface="幼圆" panose="02010509060101010101" pitchFamily="49" charset="-122"/>
              </a:defRPr>
            </a:lvl9pPr>
          </a:lstStyle>
          <a:p>
            <a:pPr marL="0" indent="0" algn="ctr">
              <a:buSzPct val="90000"/>
              <a:buNone/>
            </a:pPr>
            <a:r>
              <a:rPr lang="zh-CN" altLang="en-US" sz="4800" kern="0" dirty="0">
                <a:solidFill>
                  <a:srgbClr val="3333CC"/>
                </a:solidFill>
                <a:latin typeface="Times New Roman"/>
                <a:ea typeface="宋体"/>
              </a:rPr>
              <a:t>五、附录</a:t>
            </a:r>
            <a:endParaRPr lang="en-US" altLang="zh-CN" sz="4800" kern="0" dirty="0">
              <a:solidFill>
                <a:srgbClr val="3333CC"/>
              </a:solidFill>
              <a:latin typeface="Times New Roman"/>
              <a:ea typeface="宋体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625A536-DEAE-6F91-AE28-7E71DD01D3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112554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E60C-1ADF-386C-4D6E-45A2969E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18985754-B6B7-CF26-D612-41F145FD9224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5.1.A0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图纸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1A601E-8C7B-F3C7-DB03-E32CF3219A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36" y="873701"/>
            <a:ext cx="7876020" cy="5571641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CDB33FE-EC90-7016-4F8C-2ABF801403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29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585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1E41-6E34-3593-F00E-333169B0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CC98327-0370-FC5D-C512-149C0EE77BF7}"/>
              </a:ext>
            </a:extLst>
          </p:cNvPr>
          <p:cNvSpPr txBox="1"/>
          <p:nvPr/>
        </p:nvSpPr>
        <p:spPr>
          <a:xfrm>
            <a:off x="938531" y="288926"/>
            <a:ext cx="7707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5.2.</a:t>
            </a:r>
            <a:r>
              <a:rPr lang="zh-CN" altLang="en-US" sz="3200" dirty="0">
                <a:solidFill>
                  <a:srgbClr val="0F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文献翻译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1DC5AC-B68C-E93D-75C4-7117CA931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15" y="1247614"/>
            <a:ext cx="3306017" cy="46994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F34CCD9-8DCD-4BFA-DC18-7CFCA756D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4411" y="1247614"/>
            <a:ext cx="3345737" cy="46994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92BE501-D4D1-25A9-D5F6-ECF57919B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4227" y="1247614"/>
            <a:ext cx="3635175" cy="514291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D97388-FA1C-2FBF-C70E-4C5D40E5C6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B435FF-4BF3-4182-9AAD-F79BDD77E5CF}" type="slidenum">
              <a:rPr lang="zh-CN" altLang="en-US" smtClean="0"/>
              <a:t>30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590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431542;#431542;#431542;#431542;#431542;#379141;"/>
</p:tagLst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黄绿色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自定义 1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4276AA"/>
      </a:accent1>
      <a:accent2>
        <a:srgbClr val="1689A0"/>
      </a:accent2>
      <a:accent3>
        <a:srgbClr val="3FA692"/>
      </a:accent3>
      <a:accent4>
        <a:srgbClr val="333399"/>
      </a:accent4>
      <a:accent5>
        <a:srgbClr val="5E5CA2"/>
      </a:accent5>
      <a:accent6>
        <a:srgbClr val="768395"/>
      </a:accent6>
      <a:hlink>
        <a:srgbClr val="4276AA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11772</TotalTime>
  <Words>3297</Words>
  <Application>Microsoft Office PowerPoint</Application>
  <PresentationFormat>宽屏</PresentationFormat>
  <Paragraphs>448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Inter</vt:lpstr>
      <vt:lpstr>PingFang SC</vt:lpstr>
      <vt:lpstr>等线</vt:lpstr>
      <vt:lpstr>黑体</vt:lpstr>
      <vt:lpstr>楷体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Office 主题​​</vt:lpstr>
      <vt:lpstr>1_自定义设计方案</vt:lpstr>
      <vt:lpstr>自定义设计方案</vt:lpstr>
      <vt:lpstr>1_Office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xjtuoa.test0</dc:creator>
  <cp:lastModifiedBy>艺博 赵</cp:lastModifiedBy>
  <cp:revision>680</cp:revision>
  <dcterms:created xsi:type="dcterms:W3CDTF">2017-01-13T08:10:00Z</dcterms:created>
  <dcterms:modified xsi:type="dcterms:W3CDTF">2026-04-18T14:42:37Z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AC45E5DA3C1344B6BC11821370EEFB4A</vt:lpwstr>
  </property>
  <property fmtid="{D5CDD505-2E9C-101B-9397-08002B2CF9AE}" pid="3" name="KSOProductBuildVer">
    <vt:lpwstr>2052-11.1.0.10938</vt:lpwstr>
  </property>
</Properties>
</file>